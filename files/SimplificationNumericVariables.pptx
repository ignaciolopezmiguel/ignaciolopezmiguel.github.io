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9" r:id="rId2"/>
    <p:sldId id="306" r:id="rId3"/>
    <p:sldId id="318" r:id="rId4"/>
    <p:sldId id="523" r:id="rId5"/>
    <p:sldId id="522" r:id="rId6"/>
    <p:sldId id="311" r:id="rId7"/>
    <p:sldId id="326" r:id="rId8"/>
    <p:sldId id="319" r:id="rId9"/>
    <p:sldId id="327" r:id="rId10"/>
    <p:sldId id="542" r:id="rId11"/>
    <p:sldId id="333" r:id="rId12"/>
    <p:sldId id="332" r:id="rId13"/>
    <p:sldId id="524" r:id="rId14"/>
    <p:sldId id="544" r:id="rId15"/>
    <p:sldId id="539" r:id="rId16"/>
    <p:sldId id="303" r:id="rId17"/>
    <p:sldId id="308" r:id="rId18"/>
    <p:sldId id="322" r:id="rId19"/>
    <p:sldId id="32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 Godinho" initials="AG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F2F"/>
    <a:srgbClr val="A7A7A7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6517" autoAdjust="0"/>
  </p:normalViewPr>
  <p:slideViewPr>
    <p:cSldViewPr snapToObjects="1">
      <p:cViewPr varScale="1">
        <p:scale>
          <a:sx n="115" d="100"/>
          <a:sy n="115" d="100"/>
        </p:scale>
        <p:origin x="198" y="102"/>
      </p:cViewPr>
      <p:guideLst/>
    </p:cSldViewPr>
  </p:slideViewPr>
  <p:outlineViewPr>
    <p:cViewPr>
      <p:scale>
        <a:sx n="33" d="100"/>
        <a:sy n="33" d="100"/>
      </p:scale>
      <p:origin x="0" y="-37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88" d="100"/>
          <a:sy n="88" d="100"/>
        </p:scale>
        <p:origin x="37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E1D450-27A2-4C4A-82E2-7DAC6CF15D5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4633D60-20FC-485A-8A2C-444A7D256F14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000" dirty="0"/>
            <a:t>CFA structural patterns analysis</a:t>
          </a:r>
          <a:endParaRPr lang="es-ES" sz="2000" dirty="0"/>
        </a:p>
      </dgm:t>
    </dgm:pt>
    <dgm:pt modelId="{AAF7146A-1B5E-4FA8-B0DC-5C3ACF023352}" type="parTrans" cxnId="{CE861A82-82FC-40DE-A55A-CB9C697D6B79}">
      <dgm:prSet/>
      <dgm:spPr/>
      <dgm:t>
        <a:bodyPr/>
        <a:lstStyle/>
        <a:p>
          <a:endParaRPr lang="es-ES"/>
        </a:p>
      </dgm:t>
    </dgm:pt>
    <dgm:pt modelId="{66222645-CA55-4215-AFE0-5843F083B6E9}" type="sibTrans" cxnId="{CE861A82-82FC-40DE-A55A-CB9C697D6B79}">
      <dgm:prSet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 rtlCol="0" anchor="ctr"/>
        <a:lstStyle/>
        <a:p>
          <a:pPr marL="0" algn="ctr" defTabSz="914400" rtl="0" eaLnBrk="1" latinLnBrk="0" hangingPunct="1"/>
          <a:endParaRPr lang="es-ES" sz="1800" kern="1200">
            <a:solidFill>
              <a:schemeClr val="lt1"/>
            </a:solidFill>
            <a:latin typeface="+mn-lt"/>
            <a:ea typeface="+mn-ea"/>
            <a:cs typeface="+mn-cs"/>
          </a:endParaRPr>
        </a:p>
      </dgm:t>
    </dgm:pt>
    <dgm:pt modelId="{0E2B3728-6299-4354-B732-EFE18AD0C3BC}">
      <dgm:prSet phldrT="[Text]" custT="1"/>
      <dgm:spPr>
        <a:solidFill>
          <a:schemeClr val="accent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/>
              <a:ea typeface="+mn-ea"/>
              <a:cs typeface="+mn-cs"/>
            </a:rPr>
            <a:t>Variable discretization</a:t>
          </a:r>
          <a:endParaRPr lang="es-ES" sz="20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A80E61A1-F9C7-456A-961A-4431C19F0035}" type="parTrans" cxnId="{A8ACE2A2-5984-44E6-8180-8D7706033180}">
      <dgm:prSet/>
      <dgm:spPr/>
      <dgm:t>
        <a:bodyPr/>
        <a:lstStyle/>
        <a:p>
          <a:endParaRPr lang="es-ES"/>
        </a:p>
      </dgm:t>
    </dgm:pt>
    <dgm:pt modelId="{39A80BCC-00C2-476E-B012-71D822C6ACF9}" type="sibTrans" cxnId="{A8ACE2A2-5984-44E6-8180-8D7706033180}">
      <dgm:prSet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0" tIns="0" rIns="0" bIns="0" numCol="1" spcCol="1270" rtlCol="0" anchor="ctr" anchorCtr="0"/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599D917B-FECB-494E-A1A4-C6A337BD76A8}">
      <dgm:prSet phldrT="[Text]" custT="1"/>
      <dgm:spPr>
        <a:solidFill>
          <a:schemeClr val="accent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/>
              <a:ea typeface="+mn-ea"/>
              <a:cs typeface="+mn-cs"/>
            </a:rPr>
            <a:t>CFA transformation</a:t>
          </a:r>
          <a:endParaRPr lang="es-ES" sz="20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2C98A719-58F4-4811-A9FD-68DB0B018505}" type="parTrans" cxnId="{ED12898D-1D0C-42AD-BA26-DC2AA1371FED}">
      <dgm:prSet/>
      <dgm:spPr/>
      <dgm:t>
        <a:bodyPr/>
        <a:lstStyle/>
        <a:p>
          <a:endParaRPr lang="es-ES"/>
        </a:p>
      </dgm:t>
    </dgm:pt>
    <dgm:pt modelId="{FCC83B9B-A066-4B43-BEE8-E0EB3EBC4F5C}" type="sibTrans" cxnId="{ED12898D-1D0C-42AD-BA26-DC2AA1371FED}">
      <dgm:prSet/>
      <dgm:spPr/>
      <dgm:t>
        <a:bodyPr/>
        <a:lstStyle/>
        <a:p>
          <a:endParaRPr lang="es-ES"/>
        </a:p>
      </dgm:t>
    </dgm:pt>
    <dgm:pt modelId="{E45B11D7-BEC9-45BE-80E0-0E01590D6675}" type="pres">
      <dgm:prSet presAssocID="{A7E1D450-27A2-4C4A-82E2-7DAC6CF15D57}" presName="Name0" presStyleCnt="0">
        <dgm:presLayoutVars>
          <dgm:dir/>
          <dgm:resizeHandles val="exact"/>
        </dgm:presLayoutVars>
      </dgm:prSet>
      <dgm:spPr/>
    </dgm:pt>
    <dgm:pt modelId="{7E22302B-25AC-42AE-8CE5-DD31DC28C06C}" type="pres">
      <dgm:prSet presAssocID="{94633D60-20FC-485A-8A2C-444A7D256F14}" presName="node" presStyleLbl="node1" presStyleIdx="0" presStyleCnt="3">
        <dgm:presLayoutVars>
          <dgm:bulletEnabled val="1"/>
        </dgm:presLayoutVars>
      </dgm:prSet>
      <dgm:spPr/>
    </dgm:pt>
    <dgm:pt modelId="{F006487A-C88E-4EA6-85DB-881DD906F741}" type="pres">
      <dgm:prSet presAssocID="{66222645-CA55-4215-AFE0-5843F083B6E9}" presName="sibTrans" presStyleLbl="sibTrans2D1" presStyleIdx="0" presStyleCnt="2" custScaleY="69623" custLinFactNeighborX="-4428" custLinFactNeighborY="-2626"/>
      <dgm:spPr>
        <a:xfrm>
          <a:off x="2335806" y="840951"/>
          <a:ext cx="452659" cy="529526"/>
        </a:xfrm>
        <a:prstGeom prst="rightArrow">
          <a:avLst>
            <a:gd name="adj1" fmla="val 60000"/>
            <a:gd name="adj2" fmla="val 50000"/>
          </a:avLst>
        </a:prstGeom>
      </dgm:spPr>
    </dgm:pt>
    <dgm:pt modelId="{F83D7909-643D-4FD5-BFAB-36B52D2A808B}" type="pres">
      <dgm:prSet presAssocID="{66222645-CA55-4215-AFE0-5843F083B6E9}" presName="connectorText" presStyleLbl="sibTrans2D1" presStyleIdx="0" presStyleCnt="2"/>
      <dgm:spPr/>
    </dgm:pt>
    <dgm:pt modelId="{72375403-1DE5-4AD1-9176-AF23B4AB2DE8}" type="pres">
      <dgm:prSet presAssocID="{0E2B3728-6299-4354-B732-EFE18AD0C3BC}" presName="node" presStyleLbl="node1" presStyleIdx="1" presStyleCnt="3">
        <dgm:presLayoutVars>
          <dgm:bulletEnabled val="1"/>
        </dgm:presLayoutVars>
      </dgm:prSet>
      <dgm:spPr>
        <a:xfrm>
          <a:off x="2996406" y="97307"/>
          <a:ext cx="2135187" cy="1281112"/>
        </a:xfrm>
        <a:prstGeom prst="roundRect">
          <a:avLst>
            <a:gd name="adj" fmla="val 10000"/>
          </a:avLst>
        </a:prstGeom>
      </dgm:spPr>
    </dgm:pt>
    <dgm:pt modelId="{D443AB68-C45D-4661-9182-95EBEDEAA400}" type="pres">
      <dgm:prSet presAssocID="{39A80BCC-00C2-476E-B012-71D822C6ACF9}" presName="sibTrans" presStyleLbl="sibTrans2D1" presStyleIdx="1" presStyleCnt="2" custScaleY="74874"/>
      <dgm:spPr>
        <a:xfrm>
          <a:off x="5345112" y="473100"/>
          <a:ext cx="452659" cy="529526"/>
        </a:xfrm>
        <a:prstGeom prst="rightArrow">
          <a:avLst>
            <a:gd name="adj1" fmla="val 60000"/>
            <a:gd name="adj2" fmla="val 50000"/>
          </a:avLst>
        </a:prstGeom>
      </dgm:spPr>
    </dgm:pt>
    <dgm:pt modelId="{5DD4C6FF-0756-4B6A-BECD-62C574CFC469}" type="pres">
      <dgm:prSet presAssocID="{39A80BCC-00C2-476E-B012-71D822C6ACF9}" presName="connectorText" presStyleLbl="sibTrans2D1" presStyleIdx="1" presStyleCnt="2"/>
      <dgm:spPr/>
    </dgm:pt>
    <dgm:pt modelId="{4AA2374E-94AB-4625-A2D3-0233AA7144F4}" type="pres">
      <dgm:prSet presAssocID="{599D917B-FECB-494E-A1A4-C6A337BD76A8}" presName="node" presStyleLbl="node1" presStyleIdx="2" presStyleCnt="3">
        <dgm:presLayoutVars>
          <dgm:bulletEnabled val="1"/>
        </dgm:presLayoutVars>
      </dgm:prSet>
      <dgm:spPr>
        <a:xfrm>
          <a:off x="5985668" y="97307"/>
          <a:ext cx="2135187" cy="1281112"/>
        </a:xfrm>
        <a:prstGeom prst="roundRect">
          <a:avLst>
            <a:gd name="adj" fmla="val 10000"/>
          </a:avLst>
        </a:prstGeom>
      </dgm:spPr>
    </dgm:pt>
  </dgm:ptLst>
  <dgm:cxnLst>
    <dgm:cxn modelId="{9A9D4B24-504A-4E1D-94D3-7272F631D892}" type="presOf" srcId="{94633D60-20FC-485A-8A2C-444A7D256F14}" destId="{7E22302B-25AC-42AE-8CE5-DD31DC28C06C}" srcOrd="0" destOrd="0" presId="urn:microsoft.com/office/officeart/2005/8/layout/process1"/>
    <dgm:cxn modelId="{54E65E6B-B86F-4870-8751-0714930742B3}" type="presOf" srcId="{39A80BCC-00C2-476E-B012-71D822C6ACF9}" destId="{D443AB68-C45D-4661-9182-95EBEDEAA400}" srcOrd="0" destOrd="0" presId="urn:microsoft.com/office/officeart/2005/8/layout/process1"/>
    <dgm:cxn modelId="{1D9C9D56-995A-47B5-999F-8D290870B585}" type="presOf" srcId="{66222645-CA55-4215-AFE0-5843F083B6E9}" destId="{F006487A-C88E-4EA6-85DB-881DD906F741}" srcOrd="0" destOrd="0" presId="urn:microsoft.com/office/officeart/2005/8/layout/process1"/>
    <dgm:cxn modelId="{CE861A82-82FC-40DE-A55A-CB9C697D6B79}" srcId="{A7E1D450-27A2-4C4A-82E2-7DAC6CF15D57}" destId="{94633D60-20FC-485A-8A2C-444A7D256F14}" srcOrd="0" destOrd="0" parTransId="{AAF7146A-1B5E-4FA8-B0DC-5C3ACF023352}" sibTransId="{66222645-CA55-4215-AFE0-5843F083B6E9}"/>
    <dgm:cxn modelId="{401A3C84-F009-4AE7-8CE3-0F0A031D86F0}" type="presOf" srcId="{39A80BCC-00C2-476E-B012-71D822C6ACF9}" destId="{5DD4C6FF-0756-4B6A-BECD-62C574CFC469}" srcOrd="1" destOrd="0" presId="urn:microsoft.com/office/officeart/2005/8/layout/process1"/>
    <dgm:cxn modelId="{ED12898D-1D0C-42AD-BA26-DC2AA1371FED}" srcId="{A7E1D450-27A2-4C4A-82E2-7DAC6CF15D57}" destId="{599D917B-FECB-494E-A1A4-C6A337BD76A8}" srcOrd="2" destOrd="0" parTransId="{2C98A719-58F4-4811-A9FD-68DB0B018505}" sibTransId="{FCC83B9B-A066-4B43-BEE8-E0EB3EBC4F5C}"/>
    <dgm:cxn modelId="{891461A0-1AD8-4D18-94B2-4D3E57295D2F}" type="presOf" srcId="{599D917B-FECB-494E-A1A4-C6A337BD76A8}" destId="{4AA2374E-94AB-4625-A2D3-0233AA7144F4}" srcOrd="0" destOrd="0" presId="urn:microsoft.com/office/officeart/2005/8/layout/process1"/>
    <dgm:cxn modelId="{A8ACE2A2-5984-44E6-8180-8D7706033180}" srcId="{A7E1D450-27A2-4C4A-82E2-7DAC6CF15D57}" destId="{0E2B3728-6299-4354-B732-EFE18AD0C3BC}" srcOrd="1" destOrd="0" parTransId="{A80E61A1-F9C7-456A-961A-4431C19F0035}" sibTransId="{39A80BCC-00C2-476E-B012-71D822C6ACF9}"/>
    <dgm:cxn modelId="{22FA7EE7-CC01-4A4E-AD10-A6618698197C}" type="presOf" srcId="{0E2B3728-6299-4354-B732-EFE18AD0C3BC}" destId="{72375403-1DE5-4AD1-9176-AF23B4AB2DE8}" srcOrd="0" destOrd="0" presId="urn:microsoft.com/office/officeart/2005/8/layout/process1"/>
    <dgm:cxn modelId="{83429BF2-8AC7-4D8F-8A29-272A080805AD}" type="presOf" srcId="{A7E1D450-27A2-4C4A-82E2-7DAC6CF15D57}" destId="{E45B11D7-BEC9-45BE-80E0-0E01590D6675}" srcOrd="0" destOrd="0" presId="urn:microsoft.com/office/officeart/2005/8/layout/process1"/>
    <dgm:cxn modelId="{626EBDF9-2068-4AEC-A851-3EAED2E751F4}" type="presOf" srcId="{66222645-CA55-4215-AFE0-5843F083B6E9}" destId="{F83D7909-643D-4FD5-BFAB-36B52D2A808B}" srcOrd="1" destOrd="0" presId="urn:microsoft.com/office/officeart/2005/8/layout/process1"/>
    <dgm:cxn modelId="{A87E2071-4441-4A12-8DE6-74F17418EB3A}" type="presParOf" srcId="{E45B11D7-BEC9-45BE-80E0-0E01590D6675}" destId="{7E22302B-25AC-42AE-8CE5-DD31DC28C06C}" srcOrd="0" destOrd="0" presId="urn:microsoft.com/office/officeart/2005/8/layout/process1"/>
    <dgm:cxn modelId="{21F692AA-BBA8-4419-ADCB-8944B6DDBB0E}" type="presParOf" srcId="{E45B11D7-BEC9-45BE-80E0-0E01590D6675}" destId="{F006487A-C88E-4EA6-85DB-881DD906F741}" srcOrd="1" destOrd="0" presId="urn:microsoft.com/office/officeart/2005/8/layout/process1"/>
    <dgm:cxn modelId="{CC485976-43CD-4CD5-9DD3-EA467DA5BDAF}" type="presParOf" srcId="{F006487A-C88E-4EA6-85DB-881DD906F741}" destId="{F83D7909-643D-4FD5-BFAB-36B52D2A808B}" srcOrd="0" destOrd="0" presId="urn:microsoft.com/office/officeart/2005/8/layout/process1"/>
    <dgm:cxn modelId="{0CA731F5-E7E0-4C8D-B2B7-85367D49BF94}" type="presParOf" srcId="{E45B11D7-BEC9-45BE-80E0-0E01590D6675}" destId="{72375403-1DE5-4AD1-9176-AF23B4AB2DE8}" srcOrd="2" destOrd="0" presId="urn:microsoft.com/office/officeart/2005/8/layout/process1"/>
    <dgm:cxn modelId="{81BD1F70-8D45-4A6B-BB32-3547A7927FE1}" type="presParOf" srcId="{E45B11D7-BEC9-45BE-80E0-0E01590D6675}" destId="{D443AB68-C45D-4661-9182-95EBEDEAA400}" srcOrd="3" destOrd="0" presId="urn:microsoft.com/office/officeart/2005/8/layout/process1"/>
    <dgm:cxn modelId="{EC83C08E-4C5A-48FA-90CE-4E5F81FEA3E2}" type="presParOf" srcId="{D443AB68-C45D-4661-9182-95EBEDEAA400}" destId="{5DD4C6FF-0756-4B6A-BECD-62C574CFC469}" srcOrd="0" destOrd="0" presId="urn:microsoft.com/office/officeart/2005/8/layout/process1"/>
    <dgm:cxn modelId="{6336C13A-056B-4C21-89FE-ADF283F47D37}" type="presParOf" srcId="{E45B11D7-BEC9-45BE-80E0-0E01590D6675}" destId="{4AA2374E-94AB-4625-A2D3-0233AA7144F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C9B50F-ABA6-41C7-B96D-059C4A1B8AC2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606547C5-5316-4015-819D-8A7F4AE8A9F9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dirty="0"/>
            <a:t>Family of transformations</a:t>
          </a:r>
          <a:endParaRPr lang="es-ES" sz="2400" dirty="0"/>
        </a:p>
      </dgm:t>
    </dgm:pt>
    <dgm:pt modelId="{F9C47AB1-7FA5-451C-82D2-43F277577CE8}" type="parTrans" cxnId="{0AD8E3DE-146A-411C-8372-E3319B75A0ED}">
      <dgm:prSet/>
      <dgm:spPr/>
      <dgm:t>
        <a:bodyPr/>
        <a:lstStyle/>
        <a:p>
          <a:endParaRPr lang="es-ES"/>
        </a:p>
      </dgm:t>
    </dgm:pt>
    <dgm:pt modelId="{7C4602B5-39E7-4B9C-82D3-C9322481C962}" type="sibTrans" cxnId="{0AD8E3DE-146A-411C-8372-E3319B75A0ED}">
      <dgm:prSet/>
      <dgm:spPr/>
      <dgm:t>
        <a:bodyPr/>
        <a:lstStyle/>
        <a:p>
          <a:endParaRPr lang="es-ES"/>
        </a:p>
      </dgm:t>
    </dgm:pt>
    <dgm:pt modelId="{45A45EEC-B6B9-427A-B752-77732161CEA3}">
      <dgm:prSet phldrT="[Text]" custT="1"/>
      <dgm:spPr>
        <a:noFill/>
        <a:ln>
          <a:solidFill>
            <a:schemeClr val="accent1"/>
          </a:solidFill>
        </a:ln>
      </dgm:spPr>
      <dgm:t>
        <a:bodyPr/>
        <a:lstStyle/>
        <a:p>
          <a:r>
            <a:rPr lang="en-US" sz="2000" dirty="0">
              <a:solidFill>
                <a:srgbClr val="2F2F2F"/>
              </a:solidFill>
            </a:rPr>
            <a:t>Agnostic to the model checker</a:t>
          </a:r>
          <a:endParaRPr lang="es-ES" sz="2000" dirty="0">
            <a:solidFill>
              <a:srgbClr val="2F2F2F"/>
            </a:solidFill>
          </a:endParaRPr>
        </a:p>
      </dgm:t>
    </dgm:pt>
    <dgm:pt modelId="{28C92E1F-2001-414D-BAB0-957E45EF3086}" type="parTrans" cxnId="{26DFFE47-F97D-411F-8182-E03944935D94}">
      <dgm:prSet/>
      <dgm:spPr/>
      <dgm:t>
        <a:bodyPr/>
        <a:lstStyle/>
        <a:p>
          <a:endParaRPr lang="es-ES"/>
        </a:p>
      </dgm:t>
    </dgm:pt>
    <dgm:pt modelId="{ABEFC1F6-B466-4E11-965F-DAD5240671E3}" type="sibTrans" cxnId="{26DFFE47-F97D-411F-8182-E03944935D94}">
      <dgm:prSet/>
      <dgm:spPr/>
      <dgm:t>
        <a:bodyPr/>
        <a:lstStyle/>
        <a:p>
          <a:endParaRPr lang="es-ES"/>
        </a:p>
      </dgm:t>
    </dgm:pt>
    <dgm:pt modelId="{2BC7C5B2-9D7D-43AA-94A7-B31D1D81BB9D}">
      <dgm:prSet phldrT="[Text]" custT="1"/>
      <dgm:spPr>
        <a:noFill/>
        <a:ln w="12700" cap="flat" cmpd="sng" algn="ctr">
          <a:solidFill>
            <a:srgbClr val="0033A0"/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  <a:latin typeface="Arial"/>
              <a:ea typeface="+mn-ea"/>
              <a:cs typeface="+mn-cs"/>
            </a:rPr>
            <a:t>No refinement needed</a:t>
          </a:r>
          <a:endParaRPr lang="es-ES" sz="2000" kern="1200" dirty="0">
            <a:solidFill>
              <a:srgbClr val="2F2F2F"/>
            </a:solidFill>
            <a:latin typeface="Arial"/>
            <a:ea typeface="+mn-ea"/>
            <a:cs typeface="+mn-cs"/>
          </a:endParaRPr>
        </a:p>
      </dgm:t>
    </dgm:pt>
    <dgm:pt modelId="{5B5A1462-F86D-41A5-AD21-88B83C51A44F}" type="parTrans" cxnId="{C67BAFF5-A8F1-4339-BAB9-88FD321AC4F6}">
      <dgm:prSet/>
      <dgm:spPr/>
      <dgm:t>
        <a:bodyPr/>
        <a:lstStyle/>
        <a:p>
          <a:endParaRPr lang="es-ES"/>
        </a:p>
      </dgm:t>
    </dgm:pt>
    <dgm:pt modelId="{5F5EAC99-DC34-4D54-A9AC-147064EBDED6}" type="sibTrans" cxnId="{C67BAFF5-A8F1-4339-BAB9-88FD321AC4F6}">
      <dgm:prSet/>
      <dgm:spPr/>
      <dgm:t>
        <a:bodyPr/>
        <a:lstStyle/>
        <a:p>
          <a:endParaRPr lang="es-ES"/>
        </a:p>
      </dgm:t>
    </dgm:pt>
    <dgm:pt modelId="{6E3A7D0C-9000-49D8-9449-2848EF178292}">
      <dgm:prSet phldrT="[Text]" custT="1"/>
      <dgm:spPr>
        <a:noFill/>
        <a:ln w="12700" cap="flat" cmpd="sng" algn="ctr">
          <a:solidFill>
            <a:srgbClr val="0033A0"/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  <a:latin typeface="Arial"/>
              <a:ea typeface="+mn-ea"/>
              <a:cs typeface="+mn-cs"/>
            </a:rPr>
            <a:t>Richer counterexamples</a:t>
          </a:r>
          <a:endParaRPr lang="es-ES" sz="2000" kern="1200" dirty="0">
            <a:solidFill>
              <a:srgbClr val="2F2F2F"/>
            </a:solidFill>
            <a:latin typeface="Arial"/>
            <a:ea typeface="+mn-ea"/>
            <a:cs typeface="+mn-cs"/>
          </a:endParaRPr>
        </a:p>
      </dgm:t>
    </dgm:pt>
    <dgm:pt modelId="{D568D35F-19D0-4F67-BA39-4D3C25748A5B}" type="parTrans" cxnId="{73DF562F-3872-434F-B37F-FB0C2586582D}">
      <dgm:prSet/>
      <dgm:spPr/>
      <dgm:t>
        <a:bodyPr/>
        <a:lstStyle/>
        <a:p>
          <a:endParaRPr lang="es-ES"/>
        </a:p>
      </dgm:t>
    </dgm:pt>
    <dgm:pt modelId="{9AE0D4ED-C40F-4468-BB50-614DE701A1E8}" type="sibTrans" cxnId="{73DF562F-3872-434F-B37F-FB0C2586582D}">
      <dgm:prSet/>
      <dgm:spPr/>
      <dgm:t>
        <a:bodyPr/>
        <a:lstStyle/>
        <a:p>
          <a:endParaRPr lang="es-ES"/>
        </a:p>
      </dgm:t>
    </dgm:pt>
    <dgm:pt modelId="{CF2D7E37-F5EF-47D1-A462-53E2638CECDC}">
      <dgm:prSet phldrT="[Text]" custT="1"/>
      <dgm:spPr>
        <a:noFill/>
        <a:ln w="12700" cap="flat" cmpd="sng" algn="ctr">
          <a:solidFill>
            <a:srgbClr val="0033A0"/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  <a:latin typeface="Arial"/>
              <a:ea typeface="+mn-ea"/>
              <a:cs typeface="+mn-cs"/>
            </a:rPr>
            <a:t>Experimental results</a:t>
          </a:r>
          <a:endParaRPr lang="es-ES" sz="2000" kern="1200" dirty="0">
            <a:solidFill>
              <a:srgbClr val="2F2F2F"/>
            </a:solidFill>
            <a:latin typeface="Arial"/>
            <a:ea typeface="+mn-ea"/>
            <a:cs typeface="+mn-cs"/>
          </a:endParaRPr>
        </a:p>
      </dgm:t>
    </dgm:pt>
    <dgm:pt modelId="{E99C4076-88C9-4F8E-8161-90847B9D9335}" type="parTrans" cxnId="{0D24896A-FA8C-4B46-8E0C-8FEECDA0C42F}">
      <dgm:prSet/>
      <dgm:spPr/>
      <dgm:t>
        <a:bodyPr/>
        <a:lstStyle/>
        <a:p>
          <a:endParaRPr lang="es-ES"/>
        </a:p>
      </dgm:t>
    </dgm:pt>
    <dgm:pt modelId="{39BDC43C-5591-4457-9542-2460A6D4589F}" type="sibTrans" cxnId="{0D24896A-FA8C-4B46-8E0C-8FEECDA0C42F}">
      <dgm:prSet/>
      <dgm:spPr/>
      <dgm:t>
        <a:bodyPr/>
        <a:lstStyle/>
        <a:p>
          <a:endParaRPr lang="es-ES"/>
        </a:p>
      </dgm:t>
    </dgm:pt>
    <dgm:pt modelId="{024A0C34-64BB-4BAD-84AE-ADD31E9BC51B}" type="pres">
      <dgm:prSet presAssocID="{6BC9B50F-ABA6-41C7-B96D-059C4A1B8AC2}" presName="composite" presStyleCnt="0">
        <dgm:presLayoutVars>
          <dgm:chMax val="1"/>
          <dgm:dir/>
          <dgm:resizeHandles val="exact"/>
        </dgm:presLayoutVars>
      </dgm:prSet>
      <dgm:spPr/>
    </dgm:pt>
    <dgm:pt modelId="{ED522505-DAA2-41D5-990B-E8F3F0807AFA}" type="pres">
      <dgm:prSet presAssocID="{606547C5-5316-4015-819D-8A7F4AE8A9F9}" presName="roof" presStyleLbl="dkBgShp" presStyleIdx="0" presStyleCnt="2" custLinFactNeighborX="-644"/>
      <dgm:spPr/>
    </dgm:pt>
    <dgm:pt modelId="{21F52C79-6CCE-4EAB-BAD7-E5A9D5C7FD71}" type="pres">
      <dgm:prSet presAssocID="{606547C5-5316-4015-819D-8A7F4AE8A9F9}" presName="pillars" presStyleCnt="0"/>
      <dgm:spPr/>
    </dgm:pt>
    <dgm:pt modelId="{4C7D4ED3-AD92-4695-BBA0-8D010514552C}" type="pres">
      <dgm:prSet presAssocID="{606547C5-5316-4015-819D-8A7F4AE8A9F9}" presName="pillar1" presStyleLbl="node1" presStyleIdx="0" presStyleCnt="4">
        <dgm:presLayoutVars>
          <dgm:bulletEnabled val="1"/>
        </dgm:presLayoutVars>
      </dgm:prSet>
      <dgm:spPr/>
    </dgm:pt>
    <dgm:pt modelId="{9F755966-1914-4DB2-8D21-9441D7557B3A}" type="pres">
      <dgm:prSet presAssocID="{2BC7C5B2-9D7D-43AA-94A7-B31D1D81BB9D}" presName="pillarX" presStyleLbl="node1" presStyleIdx="1" presStyleCnt="4">
        <dgm:presLayoutVars>
          <dgm:bulletEnabled val="1"/>
        </dgm:presLayoutVars>
      </dgm:prSet>
      <dgm:spPr>
        <a:xfrm>
          <a:off x="2182186" y="703277"/>
          <a:ext cx="2182185" cy="1476883"/>
        </a:xfrm>
        <a:prstGeom prst="rect">
          <a:avLst/>
        </a:prstGeom>
      </dgm:spPr>
    </dgm:pt>
    <dgm:pt modelId="{A409E9F4-2CE7-4CF2-99D1-B4BD4F1E6059}" type="pres">
      <dgm:prSet presAssocID="{6E3A7D0C-9000-49D8-9449-2848EF178292}" presName="pillarX" presStyleLbl="node1" presStyleIdx="2" presStyleCnt="4">
        <dgm:presLayoutVars>
          <dgm:bulletEnabled val="1"/>
        </dgm:presLayoutVars>
      </dgm:prSet>
      <dgm:spPr>
        <a:xfrm>
          <a:off x="4364372" y="703277"/>
          <a:ext cx="2182185" cy="1476883"/>
        </a:xfrm>
        <a:prstGeom prst="rect">
          <a:avLst/>
        </a:prstGeom>
      </dgm:spPr>
    </dgm:pt>
    <dgm:pt modelId="{FF20DD57-406E-4E21-BB47-5C204AF51161}" type="pres">
      <dgm:prSet presAssocID="{CF2D7E37-F5EF-47D1-A462-53E2638CECDC}" presName="pillarX" presStyleLbl="node1" presStyleIdx="3" presStyleCnt="4">
        <dgm:presLayoutVars>
          <dgm:bulletEnabled val="1"/>
        </dgm:presLayoutVars>
      </dgm:prSet>
      <dgm:spPr>
        <a:xfrm>
          <a:off x="6546557" y="703277"/>
          <a:ext cx="2182185" cy="1476883"/>
        </a:xfrm>
        <a:prstGeom prst="rect">
          <a:avLst/>
        </a:prstGeom>
      </dgm:spPr>
    </dgm:pt>
    <dgm:pt modelId="{CB0232C2-D12B-448E-9869-B8BBCF3DE12D}" type="pres">
      <dgm:prSet presAssocID="{606547C5-5316-4015-819D-8A7F4AE8A9F9}" presName="base" presStyleLbl="dkBgShp" presStyleIdx="1" presStyleCnt="2"/>
      <dgm:spPr/>
    </dgm:pt>
  </dgm:ptLst>
  <dgm:cxnLst>
    <dgm:cxn modelId="{73DF562F-3872-434F-B37F-FB0C2586582D}" srcId="{606547C5-5316-4015-819D-8A7F4AE8A9F9}" destId="{6E3A7D0C-9000-49D8-9449-2848EF178292}" srcOrd="2" destOrd="0" parTransId="{D568D35F-19D0-4F67-BA39-4D3C25748A5B}" sibTransId="{9AE0D4ED-C40F-4468-BB50-614DE701A1E8}"/>
    <dgm:cxn modelId="{26DFFE47-F97D-411F-8182-E03944935D94}" srcId="{606547C5-5316-4015-819D-8A7F4AE8A9F9}" destId="{45A45EEC-B6B9-427A-B752-77732161CEA3}" srcOrd="0" destOrd="0" parTransId="{28C92E1F-2001-414D-BAB0-957E45EF3086}" sibTransId="{ABEFC1F6-B466-4E11-965F-DAD5240671E3}"/>
    <dgm:cxn modelId="{0D24896A-FA8C-4B46-8E0C-8FEECDA0C42F}" srcId="{606547C5-5316-4015-819D-8A7F4AE8A9F9}" destId="{CF2D7E37-F5EF-47D1-A462-53E2638CECDC}" srcOrd="3" destOrd="0" parTransId="{E99C4076-88C9-4F8E-8161-90847B9D9335}" sibTransId="{39BDC43C-5591-4457-9542-2460A6D4589F}"/>
    <dgm:cxn modelId="{4F83044B-CE44-4B9F-87C4-78A7F8DBCC2F}" type="presOf" srcId="{2BC7C5B2-9D7D-43AA-94A7-B31D1D81BB9D}" destId="{9F755966-1914-4DB2-8D21-9441D7557B3A}" srcOrd="0" destOrd="0" presId="urn:microsoft.com/office/officeart/2005/8/layout/hList3"/>
    <dgm:cxn modelId="{157FDA78-73F9-4809-B4D6-0B828ED36F19}" type="presOf" srcId="{CF2D7E37-F5EF-47D1-A462-53E2638CECDC}" destId="{FF20DD57-406E-4E21-BB47-5C204AF51161}" srcOrd="0" destOrd="0" presId="urn:microsoft.com/office/officeart/2005/8/layout/hList3"/>
    <dgm:cxn modelId="{EC34E682-305E-4134-9B1F-5FF55BA5378F}" type="presOf" srcId="{606547C5-5316-4015-819D-8A7F4AE8A9F9}" destId="{ED522505-DAA2-41D5-990B-E8F3F0807AFA}" srcOrd="0" destOrd="0" presId="urn:microsoft.com/office/officeart/2005/8/layout/hList3"/>
    <dgm:cxn modelId="{D5020194-D2DD-4523-9F00-4D8FBBE7BB08}" type="presOf" srcId="{6BC9B50F-ABA6-41C7-B96D-059C4A1B8AC2}" destId="{024A0C34-64BB-4BAD-84AE-ADD31E9BC51B}" srcOrd="0" destOrd="0" presId="urn:microsoft.com/office/officeart/2005/8/layout/hList3"/>
    <dgm:cxn modelId="{49386699-BC46-4A45-979C-E5B0543A5CE1}" type="presOf" srcId="{45A45EEC-B6B9-427A-B752-77732161CEA3}" destId="{4C7D4ED3-AD92-4695-BBA0-8D010514552C}" srcOrd="0" destOrd="0" presId="urn:microsoft.com/office/officeart/2005/8/layout/hList3"/>
    <dgm:cxn modelId="{06EEB8BF-B81D-4AA2-BF67-BE1B4C23532C}" type="presOf" srcId="{6E3A7D0C-9000-49D8-9449-2848EF178292}" destId="{A409E9F4-2CE7-4CF2-99D1-B4BD4F1E6059}" srcOrd="0" destOrd="0" presId="urn:microsoft.com/office/officeart/2005/8/layout/hList3"/>
    <dgm:cxn modelId="{0AD8E3DE-146A-411C-8372-E3319B75A0ED}" srcId="{6BC9B50F-ABA6-41C7-B96D-059C4A1B8AC2}" destId="{606547C5-5316-4015-819D-8A7F4AE8A9F9}" srcOrd="0" destOrd="0" parTransId="{F9C47AB1-7FA5-451C-82D2-43F277577CE8}" sibTransId="{7C4602B5-39E7-4B9C-82D3-C9322481C962}"/>
    <dgm:cxn modelId="{C67BAFF5-A8F1-4339-BAB9-88FD321AC4F6}" srcId="{606547C5-5316-4015-819D-8A7F4AE8A9F9}" destId="{2BC7C5B2-9D7D-43AA-94A7-B31D1D81BB9D}" srcOrd="1" destOrd="0" parTransId="{5B5A1462-F86D-41A5-AD21-88B83C51A44F}" sibTransId="{5F5EAC99-DC34-4D54-A9AC-147064EBDED6}"/>
    <dgm:cxn modelId="{D889CC8E-8E62-4A6B-9B62-59C731B6A1AF}" type="presParOf" srcId="{024A0C34-64BB-4BAD-84AE-ADD31E9BC51B}" destId="{ED522505-DAA2-41D5-990B-E8F3F0807AFA}" srcOrd="0" destOrd="0" presId="urn:microsoft.com/office/officeart/2005/8/layout/hList3"/>
    <dgm:cxn modelId="{293ED29C-CD98-434C-B6E2-086550F111EB}" type="presParOf" srcId="{024A0C34-64BB-4BAD-84AE-ADD31E9BC51B}" destId="{21F52C79-6CCE-4EAB-BAD7-E5A9D5C7FD71}" srcOrd="1" destOrd="0" presId="urn:microsoft.com/office/officeart/2005/8/layout/hList3"/>
    <dgm:cxn modelId="{089D425F-60E4-4BD1-BDF4-46F560FEDD33}" type="presParOf" srcId="{21F52C79-6CCE-4EAB-BAD7-E5A9D5C7FD71}" destId="{4C7D4ED3-AD92-4695-BBA0-8D010514552C}" srcOrd="0" destOrd="0" presId="urn:microsoft.com/office/officeart/2005/8/layout/hList3"/>
    <dgm:cxn modelId="{697A8BFA-D119-4DBD-BDE4-9CC93C924A97}" type="presParOf" srcId="{21F52C79-6CCE-4EAB-BAD7-E5A9D5C7FD71}" destId="{9F755966-1914-4DB2-8D21-9441D7557B3A}" srcOrd="1" destOrd="0" presId="urn:microsoft.com/office/officeart/2005/8/layout/hList3"/>
    <dgm:cxn modelId="{6FBBDD02-2E2B-438A-9EDD-DA1DF6318F0A}" type="presParOf" srcId="{21F52C79-6CCE-4EAB-BAD7-E5A9D5C7FD71}" destId="{A409E9F4-2CE7-4CF2-99D1-B4BD4F1E6059}" srcOrd="2" destOrd="0" presId="urn:microsoft.com/office/officeart/2005/8/layout/hList3"/>
    <dgm:cxn modelId="{12989136-E106-4DF7-8D46-6AF7A9248081}" type="presParOf" srcId="{21F52C79-6CCE-4EAB-BAD7-E5A9D5C7FD71}" destId="{FF20DD57-406E-4E21-BB47-5C204AF51161}" srcOrd="3" destOrd="0" presId="urn:microsoft.com/office/officeart/2005/8/layout/hList3"/>
    <dgm:cxn modelId="{82BBABEB-6FDA-4E95-B7F5-429CBDD5855A}" type="presParOf" srcId="{024A0C34-64BB-4BAD-84AE-ADD31E9BC51B}" destId="{CB0232C2-D12B-448E-9869-B8BBCF3DE12D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2302B-25AC-42AE-8CE5-DD31DC28C06C}">
      <dsp:nvSpPr>
        <dsp:cNvPr id="0" name=""/>
        <dsp:cNvSpPr/>
      </dsp:nvSpPr>
      <dsp:spPr>
        <a:xfrm>
          <a:off x="7143" y="97307"/>
          <a:ext cx="2135187" cy="1281112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CFA structural patterns analysis</a:t>
          </a:r>
          <a:endParaRPr lang="es-ES" sz="2000" kern="1200" dirty="0"/>
        </a:p>
      </dsp:txBody>
      <dsp:txXfrm>
        <a:off x="44665" y="134829"/>
        <a:ext cx="2060143" cy="1206068"/>
      </dsp:txXfrm>
    </dsp:sp>
    <dsp:sp modelId="{F006487A-C88E-4EA6-85DB-881DD906F741}">
      <dsp:nvSpPr>
        <dsp:cNvPr id="0" name=""/>
        <dsp:cNvSpPr/>
      </dsp:nvSpPr>
      <dsp:spPr>
        <a:xfrm>
          <a:off x="2335806" y="539622"/>
          <a:ext cx="452659" cy="3686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 w="12700" cap="flat" cmpd="sng" algn="ctr">
          <a:solidFill>
            <a:schemeClr val="accent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>
            <a:solidFill>
              <a:schemeClr val="lt1"/>
            </a:solidFill>
            <a:latin typeface="+mn-lt"/>
            <a:ea typeface="+mn-ea"/>
            <a:cs typeface="+mn-cs"/>
          </a:endParaRPr>
        </a:p>
      </dsp:txBody>
      <dsp:txXfrm>
        <a:off x="2335806" y="613356"/>
        <a:ext cx="342057" cy="221204"/>
      </dsp:txXfrm>
    </dsp:sp>
    <dsp:sp modelId="{72375403-1DE5-4AD1-9176-AF23B4AB2DE8}">
      <dsp:nvSpPr>
        <dsp:cNvPr id="0" name=""/>
        <dsp:cNvSpPr/>
      </dsp:nvSpPr>
      <dsp:spPr>
        <a:xfrm>
          <a:off x="2996406" y="97307"/>
          <a:ext cx="2135187" cy="1281112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/>
              <a:ea typeface="+mn-ea"/>
              <a:cs typeface="+mn-cs"/>
            </a:rPr>
            <a:t>Variable discretization</a:t>
          </a:r>
          <a:endParaRPr lang="es-ES" sz="20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3033928" y="134829"/>
        <a:ext cx="2060143" cy="1206068"/>
      </dsp:txXfrm>
    </dsp:sp>
    <dsp:sp modelId="{D443AB68-C45D-4661-9182-95EBEDEAA400}">
      <dsp:nvSpPr>
        <dsp:cNvPr id="0" name=""/>
        <dsp:cNvSpPr/>
      </dsp:nvSpPr>
      <dsp:spPr>
        <a:xfrm>
          <a:off x="5345112" y="539624"/>
          <a:ext cx="452659" cy="3964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 w="12700" cap="flat" cmpd="sng" algn="ctr">
          <a:solidFill>
            <a:schemeClr val="accent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5345112" y="618919"/>
        <a:ext cx="333716" cy="237887"/>
      </dsp:txXfrm>
    </dsp:sp>
    <dsp:sp modelId="{4AA2374E-94AB-4625-A2D3-0233AA7144F4}">
      <dsp:nvSpPr>
        <dsp:cNvPr id="0" name=""/>
        <dsp:cNvSpPr/>
      </dsp:nvSpPr>
      <dsp:spPr>
        <a:xfrm>
          <a:off x="5985668" y="97307"/>
          <a:ext cx="2135187" cy="1281112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/>
              <a:ea typeface="+mn-ea"/>
              <a:cs typeface="+mn-cs"/>
            </a:rPr>
            <a:t>CFA transformation</a:t>
          </a:r>
          <a:endParaRPr lang="es-ES" sz="20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6023190" y="134829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22505-DAA2-41D5-990B-E8F3F0807AFA}">
      <dsp:nvSpPr>
        <dsp:cNvPr id="0" name=""/>
        <dsp:cNvSpPr/>
      </dsp:nvSpPr>
      <dsp:spPr>
        <a:xfrm>
          <a:off x="0" y="0"/>
          <a:ext cx="8728744" cy="703277"/>
        </a:xfrm>
        <a:prstGeom prst="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Family of transformations</a:t>
          </a:r>
          <a:endParaRPr lang="es-ES" sz="2400" kern="1200" dirty="0"/>
        </a:p>
      </dsp:txBody>
      <dsp:txXfrm>
        <a:off x="0" y="0"/>
        <a:ext cx="8728744" cy="703277"/>
      </dsp:txXfrm>
    </dsp:sp>
    <dsp:sp modelId="{4C7D4ED3-AD92-4695-BBA0-8D010514552C}">
      <dsp:nvSpPr>
        <dsp:cNvPr id="0" name=""/>
        <dsp:cNvSpPr/>
      </dsp:nvSpPr>
      <dsp:spPr>
        <a:xfrm>
          <a:off x="0" y="703277"/>
          <a:ext cx="2182185" cy="1476883"/>
        </a:xfrm>
        <a:prstGeom prst="rect">
          <a:avLst/>
        </a:pr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</a:rPr>
            <a:t>Agnostic to the model checker</a:t>
          </a:r>
          <a:endParaRPr lang="es-ES" sz="2000" kern="1200" dirty="0">
            <a:solidFill>
              <a:srgbClr val="2F2F2F"/>
            </a:solidFill>
          </a:endParaRPr>
        </a:p>
      </dsp:txBody>
      <dsp:txXfrm>
        <a:off x="0" y="703277"/>
        <a:ext cx="2182185" cy="1476883"/>
      </dsp:txXfrm>
    </dsp:sp>
    <dsp:sp modelId="{9F755966-1914-4DB2-8D21-9441D7557B3A}">
      <dsp:nvSpPr>
        <dsp:cNvPr id="0" name=""/>
        <dsp:cNvSpPr/>
      </dsp:nvSpPr>
      <dsp:spPr>
        <a:xfrm>
          <a:off x="2182186" y="703277"/>
          <a:ext cx="2182185" cy="1476883"/>
        </a:xfrm>
        <a:prstGeom prst="rect">
          <a:avLst/>
        </a:prstGeom>
        <a:noFill/>
        <a:ln w="12700" cap="flat" cmpd="sng" algn="ctr">
          <a:solidFill>
            <a:srgbClr val="0033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  <a:latin typeface="Arial"/>
              <a:ea typeface="+mn-ea"/>
              <a:cs typeface="+mn-cs"/>
            </a:rPr>
            <a:t>No refinement needed</a:t>
          </a:r>
          <a:endParaRPr lang="es-ES" sz="2000" kern="1200" dirty="0">
            <a:solidFill>
              <a:srgbClr val="2F2F2F"/>
            </a:solidFill>
            <a:latin typeface="Arial"/>
            <a:ea typeface="+mn-ea"/>
            <a:cs typeface="+mn-cs"/>
          </a:endParaRPr>
        </a:p>
      </dsp:txBody>
      <dsp:txXfrm>
        <a:off x="2182186" y="703277"/>
        <a:ext cx="2182185" cy="1476883"/>
      </dsp:txXfrm>
    </dsp:sp>
    <dsp:sp modelId="{A409E9F4-2CE7-4CF2-99D1-B4BD4F1E6059}">
      <dsp:nvSpPr>
        <dsp:cNvPr id="0" name=""/>
        <dsp:cNvSpPr/>
      </dsp:nvSpPr>
      <dsp:spPr>
        <a:xfrm>
          <a:off x="4364372" y="703277"/>
          <a:ext cx="2182185" cy="1476883"/>
        </a:xfrm>
        <a:prstGeom prst="rect">
          <a:avLst/>
        </a:prstGeom>
        <a:noFill/>
        <a:ln w="12700" cap="flat" cmpd="sng" algn="ctr">
          <a:solidFill>
            <a:srgbClr val="0033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  <a:latin typeface="Arial"/>
              <a:ea typeface="+mn-ea"/>
              <a:cs typeface="+mn-cs"/>
            </a:rPr>
            <a:t>Richer counterexamples</a:t>
          </a:r>
          <a:endParaRPr lang="es-ES" sz="2000" kern="1200" dirty="0">
            <a:solidFill>
              <a:srgbClr val="2F2F2F"/>
            </a:solidFill>
            <a:latin typeface="Arial"/>
            <a:ea typeface="+mn-ea"/>
            <a:cs typeface="+mn-cs"/>
          </a:endParaRPr>
        </a:p>
      </dsp:txBody>
      <dsp:txXfrm>
        <a:off x="4364372" y="703277"/>
        <a:ext cx="2182185" cy="1476883"/>
      </dsp:txXfrm>
    </dsp:sp>
    <dsp:sp modelId="{FF20DD57-406E-4E21-BB47-5C204AF51161}">
      <dsp:nvSpPr>
        <dsp:cNvPr id="0" name=""/>
        <dsp:cNvSpPr/>
      </dsp:nvSpPr>
      <dsp:spPr>
        <a:xfrm>
          <a:off x="6546557" y="703277"/>
          <a:ext cx="2182185" cy="1476883"/>
        </a:xfrm>
        <a:prstGeom prst="rect">
          <a:avLst/>
        </a:prstGeom>
        <a:noFill/>
        <a:ln w="12700" cap="flat" cmpd="sng" algn="ctr">
          <a:solidFill>
            <a:srgbClr val="0033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2F2F2F"/>
              </a:solidFill>
              <a:latin typeface="Arial"/>
              <a:ea typeface="+mn-ea"/>
              <a:cs typeface="+mn-cs"/>
            </a:rPr>
            <a:t>Experimental results</a:t>
          </a:r>
          <a:endParaRPr lang="es-ES" sz="2000" kern="1200" dirty="0">
            <a:solidFill>
              <a:srgbClr val="2F2F2F"/>
            </a:solidFill>
            <a:latin typeface="Arial"/>
            <a:ea typeface="+mn-ea"/>
            <a:cs typeface="+mn-cs"/>
          </a:endParaRPr>
        </a:p>
      </dsp:txBody>
      <dsp:txXfrm>
        <a:off x="6546557" y="703277"/>
        <a:ext cx="2182185" cy="1476883"/>
      </dsp:txXfrm>
    </dsp:sp>
    <dsp:sp modelId="{CB0232C2-D12B-448E-9869-B8BBCF3DE12D}">
      <dsp:nvSpPr>
        <dsp:cNvPr id="0" name=""/>
        <dsp:cNvSpPr/>
      </dsp:nvSpPr>
      <dsp:spPr>
        <a:xfrm>
          <a:off x="0" y="2180160"/>
          <a:ext cx="8728744" cy="16409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B0CAB-A528-CD45-8F12-922B94DEC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AD8C8-453F-104C-B81F-526301CF40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72EAA-2733-D14F-950A-8F4240385864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BBD38-63DF-604F-9396-6BB8561251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48731-E0D0-B242-9967-4E9E135D8D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9750F-00B8-E148-9878-D197EE9CB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0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D062E-52F7-A14D-A443-1F3854784447}" type="datetimeFigureOut">
              <a:rPr lang="en-US" smtClean="0"/>
              <a:t>11/20/2021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0EE9E-52B8-AA4F-8DD5-ED0FB4E5C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9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logooutline.eps">
            <a:extLst>
              <a:ext uri="{FF2B5EF4-FFF2-40B4-BE49-F238E27FC236}">
                <a16:creationId xmlns:a16="http://schemas.microsoft.com/office/drawing/2014/main" id="{ED75A508-7D60-F841-B3C4-7CB2A400A8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403" y="2169047"/>
            <a:ext cx="2520000" cy="249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05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61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B3E2A-0B0F-434E-B8B5-23D05F72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ECA80-B569-3D47-B163-138B2BA81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8CA65-7C13-A442-AF74-D3BBDBCB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2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logooutline.eps">
            <a:extLst>
              <a:ext uri="{FF2B5EF4-FFF2-40B4-BE49-F238E27FC236}">
                <a16:creationId xmlns:a16="http://schemas.microsoft.com/office/drawing/2014/main" id="{ED75A508-7D60-F841-B3C4-7CB2A400A8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91" y="836711"/>
            <a:ext cx="1763957" cy="174622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6F8ADC9-30DB-1243-8F69-09A7AAEA84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7" y="3429000"/>
            <a:ext cx="11376025" cy="2153265"/>
          </a:xfrm>
        </p:spPr>
        <p:txBody>
          <a:bodyPr anchor="t" anchorCtr="0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6D6D28-7860-E045-9091-E722B9476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700252"/>
            <a:ext cx="11376026" cy="803787"/>
          </a:xfrm>
        </p:spPr>
        <p:txBody>
          <a:bodyPr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4" descr="IIIA-CSIC | LinkedIn">
            <a:extLst>
              <a:ext uri="{FF2B5EF4-FFF2-40B4-BE49-F238E27FC236}">
                <a16:creationId xmlns:a16="http://schemas.microsoft.com/office/drawing/2014/main" id="{2776FFA7-5EB2-471F-9343-A819BD673D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836712"/>
            <a:ext cx="1746229" cy="174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89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 marL="324000" indent="-324000">
              <a:buFont typeface="Arial" charset="0"/>
              <a:buChar char="•"/>
              <a:tabLst/>
              <a:defRPr sz="1800">
                <a:solidFill>
                  <a:schemeClr val="tx2"/>
                </a:solidFill>
              </a:defRPr>
            </a:lvl2pPr>
            <a:lvl3pPr marL="648000" indent="-324000"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3pPr>
            <a:lvl4pPr marL="972000" indent="-324000">
              <a:buSzPct val="100000"/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4pPr>
            <a:lvl5pPr marL="2057400" indent="-228600">
              <a:buSzPct val="100000"/>
              <a:buFont typeface="Arial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D6D585-D452-F44C-919B-4BD50B66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6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628650" indent="-261938">
              <a:buFont typeface="Arial" panose="020B0604020202020204" pitchFamily="34" charset="0"/>
              <a:buChar char="•"/>
              <a:tabLst/>
              <a:defRPr sz="1800">
                <a:solidFill>
                  <a:schemeClr val="tx2">
                    <a:lumMod val="50000"/>
                  </a:schemeClr>
                </a:solidFill>
              </a:defRPr>
            </a:lvl2pPr>
            <a:lvl3pPr marL="889000" indent="-260350">
              <a:buSzPct val="100000"/>
              <a:buFont typeface="Arial" panose="020B0604020202020204" pitchFamily="34" charset="0"/>
              <a:buChar char="•"/>
              <a:tabLst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209675" indent="-269875">
              <a:buSzPct val="100000"/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buSzPct val="100000"/>
              <a:buFont typeface="Arial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0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D6D585-D452-F44C-919B-4BD50B66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51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D6D585-D452-F44C-919B-4BD50B66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BAAC3B-64E8-6A4D-B184-3057E6D0D0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8" y="1439863"/>
            <a:ext cx="11376025" cy="4760912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91332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colour or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B6E0-915E-6A4B-BE3D-83464DDC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185B5-CF74-D44D-A9E3-83166F09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793A62-AA7E-5A4D-A43E-DF1B3593C4E5}" type="datetime1">
              <a:rPr lang="en-US" smtClean="0"/>
              <a:pPr/>
              <a:t>11/20/2021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0124-268E-2640-B552-632FCB92F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4B92-ED84-1D4C-81AB-7D7F79EF89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Presenter | Presentation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E223B3-FDCC-6949-9C0B-F052B97037C1}"/>
              </a:ext>
            </a:extLst>
          </p:cNvPr>
          <p:cNvCxnSpPr/>
          <p:nvPr userDrawn="1"/>
        </p:nvCxnSpPr>
        <p:spPr>
          <a:xfrm>
            <a:off x="407987" y="6266608"/>
            <a:ext cx="1137602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082788-0C78-F842-A18F-84667EAC7E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988" y="6364800"/>
            <a:ext cx="4953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55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1A8103C-80BA-7941-AEF5-FB81302B57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9980"/>
            <a:ext cx="12192000" cy="623075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5612" y="-48846"/>
            <a:ext cx="4116387" cy="6249621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>
              <a:defRPr sz="2800">
                <a:solidFill>
                  <a:schemeClr val="bg1"/>
                </a:solidFill>
              </a:defRPr>
            </a:lvl1pPr>
            <a:lvl2pPr marL="324000" indent="-324000">
              <a:buFont typeface="Arial" charset="0"/>
              <a:buChar char="•"/>
              <a:tabLst/>
              <a:defRPr sz="2100">
                <a:solidFill>
                  <a:schemeClr val="bg1"/>
                </a:solidFill>
              </a:defRPr>
            </a:lvl2pPr>
            <a:lvl3pPr marL="648000" indent="-324000">
              <a:buSzPct val="100000"/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3pPr>
            <a:lvl4pPr marL="972000" indent="-324000">
              <a:buSzPct val="100000"/>
              <a:buFont typeface="Arial" charset="0"/>
              <a:buChar char="•"/>
              <a:tabLst/>
              <a:defRPr>
                <a:solidFill>
                  <a:schemeClr val="bg1"/>
                </a:solidFill>
              </a:defRPr>
            </a:lvl4pPr>
            <a:lvl5pPr marL="2057400" indent="-228600">
              <a:buSzPct val="100000"/>
              <a:buFont typeface="Arial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478EFE-6141-4244-92ED-79EEE922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FF044A7-6055-B744-AD25-E9D675BB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2E3875-F7E3-A247-8E75-A4EC4E79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80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2264"/>
            <a:ext cx="5616575" cy="4608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92264"/>
            <a:ext cx="5611813" cy="4608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3A8A69A-7619-C44B-A930-6AC38A3F8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55D6E3-4871-704B-B795-99BD30EA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EE4B464-E744-A34F-B223-6B554979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2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1592263"/>
            <a:ext cx="5616575" cy="668337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987" y="2427287"/>
            <a:ext cx="5616575" cy="3773488"/>
          </a:xfrm>
        </p:spPr>
        <p:txBody>
          <a:bodyPr/>
          <a:lstStyle>
            <a:lvl1pPr marL="324000" indent="-32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04966"/>
            <a:ext cx="5616600" cy="655634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27287"/>
            <a:ext cx="5611813" cy="3773488"/>
          </a:xfrm>
        </p:spPr>
        <p:txBody>
          <a:bodyPr/>
          <a:lstStyle>
            <a:lvl1pPr marL="324000" indent="-32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B511762-E0C9-6C4A-9015-D9D3D4FF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689900-D127-9840-8E06-B694B9FE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B398DFD-572D-D549-8BBF-A86A1DFF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86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 userDrawn="1">
          <p15:clr>
            <a:srgbClr val="FBAE40"/>
          </p15:clr>
        </p15:guide>
        <p15:guide id="2" orient="horz" pos="152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73593"/>
            <a:ext cx="5616574" cy="1065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8658"/>
            <a:ext cx="5616575" cy="4602117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4588863-2E7B-784C-BD2D-8C3D0E7E1D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0"/>
            <a:ext cx="6024562" cy="6207170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81A2-06D5-5F4B-9504-4CD77560E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7B2A-B53F-3C4D-BD2B-2DAF3F47C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1311B-199C-CA4B-81C4-F7ADC1D997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71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Pictur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8658"/>
            <a:ext cx="5616575" cy="4608512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81A2-06D5-5F4B-9504-4CD77560E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7B2A-B53F-3C4D-BD2B-2DAF3F47C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1311B-199C-CA4B-81C4-F7ADC1D997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47B07ADD-2F17-5640-985B-72FA646913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1592263"/>
            <a:ext cx="5616575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41C95B-0CD0-B44F-9130-66CCD53B86B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67438" y="3969703"/>
            <a:ext cx="5616575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036724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7" y="1598658"/>
            <a:ext cx="3708401" cy="4608512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81A2-06D5-5F4B-9504-4CD77560E6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37B2A-B53F-3C4D-BD2B-2DAF3F47C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1311B-199C-CA4B-81C4-F7ADC1D997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255B7D9F-7313-2F46-8079-FEA6DAA0CF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75613" y="1592263"/>
            <a:ext cx="3708400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ECDCA30-A5C6-3549-9DAD-01819664F15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681" y="3969703"/>
            <a:ext cx="3659332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0332EED6-F049-354D-90C1-2CDBDFEB153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263" y="1592263"/>
            <a:ext cx="3659332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46E76A3-B525-534D-9396-8E4D08F06F6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59263" y="3978015"/>
            <a:ext cx="3659332" cy="2232025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407050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2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1592263"/>
            <a:ext cx="5616575" cy="668337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04966"/>
            <a:ext cx="5616600" cy="655634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8" y="2420938"/>
            <a:ext cx="5616575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B0609-1753-094D-A27B-B1604B6E44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80C24-4584-494A-B2E2-7C02911E02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BEDBAA-E014-4E48-AA09-5D0DC18C0C7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C9037A8-3728-274F-ADAC-4D3957FCBA4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72200" y="2420938"/>
            <a:ext cx="5616575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GB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845831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1592263"/>
            <a:ext cx="3708401" cy="668337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21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75612" y="1604966"/>
            <a:ext cx="3713187" cy="655634"/>
          </a:xfrm>
        </p:spPr>
        <p:txBody>
          <a:bodyPr anchor="t" anchorCtr="0"/>
          <a:lstStyle>
            <a:lvl1pPr marL="0" indent="0">
              <a:spcBef>
                <a:spcPts val="400"/>
              </a:spcBef>
              <a:spcAft>
                <a:spcPts val="0"/>
              </a:spcAft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9" y="2420938"/>
            <a:ext cx="3708400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C779F7E-9707-2542-A19F-DD09A53038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75613" y="2416175"/>
            <a:ext cx="3713187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b="1"/>
            </a:lvl1pPr>
          </a:lstStyle>
          <a:p>
            <a:r>
              <a:rPr lang="en-US"/>
              <a:t>Drag and Drop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494478-3D3E-894B-9652-AD035750548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253846" y="1601227"/>
            <a:ext cx="3708401" cy="668337"/>
          </a:xfrm>
        </p:spPr>
        <p:txBody>
          <a:bodyPr anchor="t" anchorCtr="0"/>
          <a:lstStyle>
            <a:lvl1pPr marL="0" indent="0">
              <a:spcBef>
                <a:spcPts val="400"/>
              </a:spcBef>
              <a:spcAft>
                <a:spcPts val="0"/>
              </a:spcAft>
              <a:buNone/>
              <a:defRPr sz="21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F540559-B2D9-2E46-A3D6-32F0B01F69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53848" y="2429902"/>
            <a:ext cx="3708400" cy="377983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5D2BF-D955-984C-BC88-5F6A8BCB9E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0286-4FA5-DB4D-961C-C9035150A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3A103EE-A109-9549-821B-7193CDF3E1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835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icture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494478-3D3E-894B-9652-AD035750548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16386" y="1601376"/>
            <a:ext cx="3960000" cy="1131215"/>
          </a:xfrm>
          <a:solidFill>
            <a:schemeClr val="tx1"/>
          </a:solidFill>
          <a:ln>
            <a:noFill/>
          </a:ln>
        </p:spPr>
        <p:txBody>
          <a:bodyPr lIns="36000" tIns="36000" rIns="36000" bIns="36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F540559-B2D9-2E46-A3D6-32F0B01F69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16386" y="2732442"/>
            <a:ext cx="3959225" cy="347729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5D2BF-D955-984C-BC88-5F6A8BCB9E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0286-4FA5-DB4D-961C-C9035150A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3A103EE-A109-9549-821B-7193CDF3E1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0E95B09-A858-4A4A-B159-8C5B917D41E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3275" y="5078524"/>
            <a:ext cx="3960000" cy="1131215"/>
          </a:xfrm>
          <a:solidFill>
            <a:schemeClr val="tx1"/>
          </a:solidFill>
          <a:ln>
            <a:noFill/>
          </a:ln>
        </p:spPr>
        <p:txBody>
          <a:bodyPr lIns="36000" tIns="36000" rIns="36000" bIns="36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2FF76D54-8841-EA4B-B514-DFCE90D05C8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050" y="1601376"/>
            <a:ext cx="3959225" cy="347729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ED6363A-4107-5A4F-9E1E-0E88F802ABE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32388" y="5078524"/>
            <a:ext cx="3960000" cy="1131215"/>
          </a:xfrm>
          <a:solidFill>
            <a:schemeClr val="tx1"/>
          </a:solidFill>
          <a:ln>
            <a:noFill/>
          </a:ln>
        </p:spPr>
        <p:txBody>
          <a:bodyPr lIns="36000" tIns="36000" rIns="36000" bIns="36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1039F33-9CD5-004A-9F94-52D16B2EB08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32388" y="1601376"/>
            <a:ext cx="3959225" cy="3477297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550207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Horizontal an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2776" y="1592263"/>
            <a:ext cx="11376024" cy="2563906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AFC8C-E604-7447-B130-D845972B5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9" y="4294188"/>
            <a:ext cx="3708400" cy="1906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33DD4F-F84F-4A45-A378-099F8963A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67201" y="4294188"/>
            <a:ext cx="3665537" cy="1906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3D880-B3D6-7548-AFF1-D644AAD7B36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87D45-A6BD-6040-8ECE-F9608F5313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3D89-638E-6949-858F-F83F83B33D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A3085A2-8BF3-9742-B023-7524E7B1C8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5668" y="4294188"/>
            <a:ext cx="3703132" cy="1906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5685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Horizontal and text i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65125"/>
            <a:ext cx="11380812" cy="10842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125C7E-94FD-9B43-A74A-5A12DA74F2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592263"/>
            <a:ext cx="12192000" cy="2945870"/>
          </a:xfrm>
          <a:pattFill prst="lgCheck">
            <a:fgClr>
              <a:schemeClr val="accent4"/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Drag and Drop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AFC8C-E604-7447-B130-D845972B5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9" y="4294188"/>
            <a:ext cx="3708400" cy="1906587"/>
          </a:xfrm>
          <a:solidFill>
            <a:schemeClr val="tx1"/>
          </a:solidFill>
        </p:spPr>
        <p:txBody>
          <a:bodyPr tIns="72000"/>
          <a:lstStyle>
            <a:lvl1pPr algn="ctr">
              <a:defRPr>
                <a:solidFill>
                  <a:schemeClr val="bg2"/>
                </a:solidFill>
              </a:defRPr>
            </a:lvl1pPr>
            <a:lvl2pPr algn="ctr">
              <a:defRPr>
                <a:solidFill>
                  <a:schemeClr val="bg2"/>
                </a:solidFill>
              </a:defRPr>
            </a:lvl2pPr>
            <a:lvl3pPr algn="ctr"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33DD4F-F84F-4A45-A378-099F8963A5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67201" y="4294188"/>
            <a:ext cx="3665537" cy="1906587"/>
          </a:xfrm>
          <a:solidFill>
            <a:schemeClr val="tx1"/>
          </a:solidFill>
        </p:spPr>
        <p:txBody>
          <a:bodyPr tIns="72000"/>
          <a:lstStyle>
            <a:lvl1pPr algn="ctr">
              <a:defRPr>
                <a:solidFill>
                  <a:schemeClr val="bg2"/>
                </a:solidFill>
              </a:defRPr>
            </a:lvl1pPr>
            <a:lvl2pPr algn="ctr">
              <a:defRPr>
                <a:solidFill>
                  <a:schemeClr val="bg2"/>
                </a:solidFill>
              </a:defRPr>
            </a:lvl2pPr>
            <a:lvl3pPr algn="ctr"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3D880-B3D6-7548-AFF1-D644AAD7B36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87D45-A6BD-6040-8ECE-F9608F5313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3D89-638E-6949-858F-F83F83B33D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A3085A2-8BF3-9742-B023-7524E7B1C8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5668" y="4294188"/>
            <a:ext cx="3703132" cy="1906587"/>
          </a:xfrm>
          <a:solidFill>
            <a:schemeClr val="tx1"/>
          </a:solidFill>
        </p:spPr>
        <p:txBody>
          <a:bodyPr tIns="72000"/>
          <a:lstStyle>
            <a:lvl1pPr algn="ctr">
              <a:defRPr>
                <a:solidFill>
                  <a:schemeClr val="bg2"/>
                </a:solidFill>
              </a:defRPr>
            </a:lvl1pPr>
            <a:lvl2pPr algn="ctr">
              <a:defRPr>
                <a:solidFill>
                  <a:schemeClr val="bg2"/>
                </a:solidFill>
              </a:defRPr>
            </a:lvl2pPr>
            <a:lvl3pPr algn="ctr"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83906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orient="horz" pos="152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7" y="1709738"/>
            <a:ext cx="11376025" cy="2852737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7" y="4589463"/>
            <a:ext cx="1137602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FEBF6-CE90-CC4E-8695-4D9E4AF1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BCDCA-F2B2-9249-AB85-06169E64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4A1B0-EF49-4F43-ACA9-49641973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23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8F7083-D188-D543-8008-F25F138E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980EB7-C2CB-9D4D-8C5E-3EB09317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74050C-1801-2345-9DC3-F06B163A2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708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63763-5414-8544-AF6D-F8D5C9B1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3A62-AA7E-5A4D-A43E-DF1B3593C4E5}" type="datetime1">
              <a:rPr lang="en-US" smtClean="0"/>
              <a:t>11/20/2021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8A5D0-906E-0046-B0F3-96283308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Presenter | 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B140E-F283-BD43-9D8C-905BDA42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4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59AC4-96B9-704B-82C7-32D5BEFF3254}"/>
              </a:ext>
            </a:extLst>
          </p:cNvPr>
          <p:cNvSpPr txBox="1"/>
          <p:nvPr userDrawn="1"/>
        </p:nvSpPr>
        <p:spPr>
          <a:xfrm>
            <a:off x="407988" y="6196406"/>
            <a:ext cx="113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fr-CH" dirty="0" err="1"/>
              <a:t>home.cern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196E8-CA32-8449-8B2F-F83D475BC1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1904" y="2244864"/>
            <a:ext cx="1728192" cy="1728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552B9D-0C3B-4492-8D95-B5DA6594983E}"/>
              </a:ext>
            </a:extLst>
          </p:cNvPr>
          <p:cNvSpPr txBox="1"/>
          <p:nvPr userDrawn="1"/>
        </p:nvSpPr>
        <p:spPr>
          <a:xfrm>
            <a:off x="407987" y="5517232"/>
            <a:ext cx="1137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fr-CH" dirty="0"/>
              <a:t>ignacio.david.lopez.miguel@cern.ch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8736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BC31-22A5-469F-A18E-A9D2A6C5C415}" type="datetimeFigureOut">
              <a:rPr lang="en-GB" smtClean="0"/>
              <a:t>20/11/2021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5FF-AE41-4AC4-902F-B5653B32B2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09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7988" y="373593"/>
            <a:ext cx="11376025" cy="106574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989" y="1592263"/>
            <a:ext cx="11376024" cy="46085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5228" y="6378349"/>
            <a:ext cx="63116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793A62-AA7E-5A4D-A43E-DF1B3593C4E5}" type="datetime1">
              <a:rPr lang="en-US" smtClean="0"/>
              <a:pPr/>
              <a:t>11/20/2021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07546" y="6383848"/>
            <a:ext cx="68125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6B5EA5A-BC32-A742-B11B-8E7414D5B5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B22024-69B4-1F4F-8860-CB954517F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9262" y="6383848"/>
            <a:ext cx="6572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| Presentation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9C6532-AEDE-354E-83AD-7F67D706DF38}"/>
              </a:ext>
            </a:extLst>
          </p:cNvPr>
          <p:cNvCxnSpPr/>
          <p:nvPr userDrawn="1"/>
        </p:nvCxnSpPr>
        <p:spPr>
          <a:xfrm>
            <a:off x="407987" y="6266608"/>
            <a:ext cx="1137602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26E9AC2-DB3F-3043-BAF1-FDB172EA2CD8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407988" y="6364599"/>
            <a:ext cx="4953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6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62" r:id="rId3"/>
    <p:sldLayoutId id="2147483650" r:id="rId4"/>
    <p:sldLayoutId id="2147483665" r:id="rId5"/>
    <p:sldLayoutId id="2147483668" r:id="rId6"/>
    <p:sldLayoutId id="2147483677" r:id="rId7"/>
    <p:sldLayoutId id="2147483674" r:id="rId8"/>
    <p:sldLayoutId id="2147483652" r:id="rId9"/>
    <p:sldLayoutId id="2147483653" r:id="rId10"/>
    <p:sldLayoutId id="2147483661" r:id="rId11"/>
    <p:sldLayoutId id="2147483666" r:id="rId12"/>
    <p:sldLayoutId id="2147483667" r:id="rId13"/>
    <p:sldLayoutId id="2147483658" r:id="rId14"/>
    <p:sldLayoutId id="2147483659" r:id="rId15"/>
    <p:sldLayoutId id="2147483673" r:id="rId16"/>
    <p:sldLayoutId id="2147483660" r:id="rId17"/>
    <p:sldLayoutId id="2147483671" r:id="rId18"/>
    <p:sldLayoutId id="2147483651" r:id="rId19"/>
    <p:sldLayoutId id="2147483654" r:id="rId20"/>
    <p:sldLayoutId id="2147483669" r:id="rId21"/>
    <p:sldLayoutId id="2147483655" r:id="rId22"/>
    <p:sldLayoutId id="2147483678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800"/>
        </a:spcBef>
        <a:spcAft>
          <a:spcPts val="400"/>
        </a:spcAft>
        <a:buFont typeface="Arial"/>
        <a:buNone/>
        <a:tabLst/>
        <a:defRPr sz="2100" b="1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323850" indent="-3240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charset="0"/>
        <a:buChar char="•"/>
        <a:tabLst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648000" indent="-3240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tabLst/>
        <a:defRPr sz="17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972000" indent="-3240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23" userDrawn="1">
          <p15:clr>
            <a:srgbClr val="F26B43"/>
          </p15:clr>
        </p15:guide>
        <p15:guide id="4" pos="257" userDrawn="1">
          <p15:clr>
            <a:srgbClr val="F26B43"/>
          </p15:clr>
        </p15:guide>
        <p15:guide id="6" pos="3795" userDrawn="1">
          <p15:clr>
            <a:srgbClr val="F26B43"/>
          </p15:clr>
        </p15:guide>
        <p15:guide id="7" pos="3885" userDrawn="1">
          <p15:clr>
            <a:srgbClr val="F26B43"/>
          </p15:clr>
        </p15:guide>
        <p15:guide id="8" pos="5087" userDrawn="1">
          <p15:clr>
            <a:srgbClr val="F26B43"/>
          </p15:clr>
        </p15:guide>
        <p15:guide id="9" pos="4997" userDrawn="1">
          <p15:clr>
            <a:srgbClr val="F26B43"/>
          </p15:clr>
        </p15:guide>
        <p15:guide id="10" pos="2683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orient="horz" pos="3906" userDrawn="1">
          <p15:clr>
            <a:srgbClr val="F26B43"/>
          </p15:clr>
        </p15:guide>
        <p15:guide id="13" orient="horz" pos="2409" userDrawn="1">
          <p15:clr>
            <a:srgbClr val="F26B43"/>
          </p15:clr>
        </p15:guide>
        <p15:guide id="14" orient="horz" pos="913" userDrawn="1">
          <p15:clr>
            <a:srgbClr val="F26B43"/>
          </p15:clr>
        </p15:guide>
        <p15:guide id="15" orient="horz" pos="1003" userDrawn="1">
          <p15:clr>
            <a:srgbClr val="F26B43"/>
          </p15:clr>
        </p15:guide>
        <p15:guide id="16" orient="horz" pos="2500" userDrawn="1">
          <p15:clr>
            <a:srgbClr val="F26B43"/>
          </p15:clr>
        </p15:guide>
        <p15:guide id="17" pos="6312" userDrawn="1">
          <p15:clr>
            <a:srgbClr val="F26B43"/>
          </p15:clr>
        </p15:guide>
        <p15:guide id="18" pos="62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8.png"/><Relationship Id="rId18" Type="http://schemas.openxmlformats.org/officeDocument/2006/relationships/image" Target="../media/image52.png"/><Relationship Id="rId3" Type="http://schemas.openxmlformats.org/officeDocument/2006/relationships/image" Target="../media/image44.png"/><Relationship Id="rId21" Type="http://schemas.openxmlformats.org/officeDocument/2006/relationships/image" Target="../media/image55.png"/><Relationship Id="rId7" Type="http://schemas.openxmlformats.org/officeDocument/2006/relationships/image" Target="../media/image31.png"/><Relationship Id="rId12" Type="http://schemas.openxmlformats.org/officeDocument/2006/relationships/image" Target="../media/image47.png"/><Relationship Id="rId17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6.png"/><Relationship Id="rId24" Type="http://schemas.openxmlformats.org/officeDocument/2006/relationships/image" Target="../media/image58.png"/><Relationship Id="rId5" Type="http://schemas.openxmlformats.org/officeDocument/2006/relationships/image" Target="../media/image45.png"/><Relationship Id="rId15" Type="http://schemas.openxmlformats.org/officeDocument/2006/relationships/image" Target="../media/image34.png"/><Relationship Id="rId23" Type="http://schemas.openxmlformats.org/officeDocument/2006/relationships/image" Target="../media/image57.png"/><Relationship Id="rId10" Type="http://schemas.openxmlformats.org/officeDocument/2006/relationships/image" Target="../media/image35.png"/><Relationship Id="rId19" Type="http://schemas.openxmlformats.org/officeDocument/2006/relationships/image" Target="../media/image53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49.png"/><Relationship Id="rId22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gif"/><Relationship Id="rId3" Type="http://schemas.openxmlformats.org/officeDocument/2006/relationships/image" Target="../media/image60.png"/><Relationship Id="rId7" Type="http://schemas.openxmlformats.org/officeDocument/2006/relationships/image" Target="../media/image2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gif"/><Relationship Id="rId5" Type="http://schemas.openxmlformats.org/officeDocument/2006/relationships/image" Target="../media/image24.gif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51C5-3272-6249-822A-715EFFE0D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99459-0238-C64F-8F4D-7EA359453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700252"/>
            <a:ext cx="4679900" cy="803787"/>
          </a:xfrm>
        </p:spPr>
        <p:txBody>
          <a:bodyPr/>
          <a:lstStyle/>
          <a:p>
            <a:pPr algn="l"/>
            <a:r>
              <a:rPr lang="en-US" sz="1800" dirty="0"/>
              <a:t>Ignacio D. Lopez-Miguel (CERN)</a:t>
            </a:r>
          </a:p>
          <a:p>
            <a:pPr algn="l"/>
            <a:r>
              <a:rPr lang="en-US" sz="1800" dirty="0"/>
              <a:t>20/11/2021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3683B8D-2A2D-4B18-A973-827F39A90B8F}"/>
              </a:ext>
            </a:extLst>
          </p:cNvPr>
          <p:cNvSpPr txBox="1">
            <a:spLocks/>
          </p:cNvSpPr>
          <p:nvPr/>
        </p:nvSpPr>
        <p:spPr>
          <a:xfrm>
            <a:off x="5879976" y="5361517"/>
            <a:ext cx="5760640" cy="803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None/>
              <a:tabLst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None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Dr. Jean-Charles Tournier         (CERN)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Dr. Borja Fernandez </a:t>
            </a:r>
            <a:r>
              <a:rPr lang="en-US" sz="1800" dirty="0" err="1"/>
              <a:t>Adiego</a:t>
            </a:r>
            <a:r>
              <a:rPr lang="en-US" sz="1800" dirty="0"/>
              <a:t>      (CERN)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Dr. Juan A. Rodríguez-Aguilar   (IIIA-CSIC)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800" dirty="0"/>
              <a:t>Dr. Enrique Blanco </a:t>
            </a:r>
            <a:r>
              <a:rPr lang="en-US" sz="1800" dirty="0" err="1"/>
              <a:t>Viñuela</a:t>
            </a:r>
            <a:r>
              <a:rPr lang="en-US" sz="1800" dirty="0"/>
              <a:t>        (CERN)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5994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F011-C1BB-401D-A889-B379E4CA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10699558" cy="1065742"/>
          </a:xfrm>
        </p:spPr>
        <p:txBody>
          <a:bodyPr/>
          <a:lstStyle/>
          <a:p>
            <a:r>
              <a:rPr lang="en-US" dirty="0"/>
              <a:t>Context – European Organization for Nuclear Research </a:t>
            </a:r>
            <a:r>
              <a:rPr lang="fr-FR" dirty="0"/>
              <a:t>(CERN)</a:t>
            </a:r>
            <a:br>
              <a:rPr lang="fr-FR" dirty="0"/>
            </a:br>
            <a:r>
              <a:rPr lang="en-US" dirty="0"/>
              <a:t>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6DB88-6817-488E-84A6-972DBA9096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20/11/2021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31079-7219-41AD-8AF9-0C60821739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F2483-CA36-4AAD-80D4-7466B2967D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F830502-738C-4FAA-82C0-123BFB4E3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2261451"/>
            <a:ext cx="4824536" cy="271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152C0E0D-7937-4660-9AF8-4487F2C10CE3}"/>
              </a:ext>
            </a:extLst>
          </p:cNvPr>
          <p:cNvSpPr txBox="1">
            <a:spLocks/>
          </p:cNvSpPr>
          <p:nvPr/>
        </p:nvSpPr>
        <p:spPr>
          <a:xfrm>
            <a:off x="407989" y="1592263"/>
            <a:ext cx="5688011" cy="46085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dirty="0"/>
              <a:t>Basic science: fundamental structure of the particles.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B140773A-8ABA-4922-BA07-15BB485CBBC1}"/>
              </a:ext>
            </a:extLst>
          </p:cNvPr>
          <p:cNvSpPr txBox="1">
            <a:spLocks/>
          </p:cNvSpPr>
          <p:nvPr/>
        </p:nvSpPr>
        <p:spPr>
          <a:xfrm>
            <a:off x="407989" y="3745028"/>
            <a:ext cx="5688011" cy="6200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dirty="0"/>
              <a:t>Technology: world's largest and most complex scientific instruments.</a:t>
            </a:r>
          </a:p>
        </p:txBody>
      </p:sp>
      <p:pic>
        <p:nvPicPr>
          <p:cNvPr id="22" name="Picture 8" descr="Le boson de Higgs, une particule très spéciale | CERN">
            <a:extLst>
              <a:ext uri="{FF2B5EF4-FFF2-40B4-BE49-F238E27FC236}">
                <a16:creationId xmlns:a16="http://schemas.microsoft.com/office/drawing/2014/main" id="{F09D13ED-1066-4DE1-B5A0-6D54A8A81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158" y="2104860"/>
            <a:ext cx="2920637" cy="151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A5AB8D-1862-4620-B698-4250FB1A7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84" y="4293096"/>
            <a:ext cx="2818200" cy="186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5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F011-C1BB-401D-A889-B379E4CA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10817076" cy="566145"/>
          </a:xfrm>
        </p:spPr>
        <p:txBody>
          <a:bodyPr/>
          <a:lstStyle/>
          <a:p>
            <a:r>
              <a:rPr lang="en-US" dirty="0"/>
              <a:t>Context – Safety-critical industrial applications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6DB88-6817-488E-84A6-972DBA9096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20/11/2021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31079-7219-41AD-8AF9-0C60821739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F2483-CA36-4AAD-80D4-7466B2967D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0" name="Picture 2" descr="6ES7212-1AF40-0XB0 | Siemens | PLC-City">
            <a:extLst>
              <a:ext uri="{FF2B5EF4-FFF2-40B4-BE49-F238E27FC236}">
                <a16:creationId xmlns:a16="http://schemas.microsoft.com/office/drawing/2014/main" id="{0D500C5A-1586-470D-9057-5CCBB22F0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69" y="4077072"/>
            <a:ext cx="815923" cy="81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DC4439E-D7AA-46C9-B9C0-AD935820A720}"/>
              </a:ext>
            </a:extLst>
          </p:cNvPr>
          <p:cNvSpPr txBox="1"/>
          <p:nvPr/>
        </p:nvSpPr>
        <p:spPr>
          <a:xfrm>
            <a:off x="3470393" y="1317626"/>
            <a:ext cx="1473479" cy="383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323850" lvl="1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en-GB" sz="1400" dirty="0"/>
              <a:t>Cryogenics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699952-39A3-467F-9E96-0C4F49623F82}"/>
              </a:ext>
            </a:extLst>
          </p:cNvPr>
          <p:cNvSpPr txBox="1"/>
          <p:nvPr/>
        </p:nvSpPr>
        <p:spPr>
          <a:xfrm>
            <a:off x="7032104" y="1196752"/>
            <a:ext cx="2878169" cy="383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323850" lvl="1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en-GB" sz="1400" dirty="0"/>
              <a:t>Access control and Protection systems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58D93D-6E15-4AA8-80C8-5F5338768395}"/>
              </a:ext>
            </a:extLst>
          </p:cNvPr>
          <p:cNvSpPr/>
          <p:nvPr/>
        </p:nvSpPr>
        <p:spPr>
          <a:xfrm>
            <a:off x="2019300" y="4235935"/>
            <a:ext cx="8153400" cy="54848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20000"/>
              </a:spcBef>
            </a:pPr>
            <a:r>
              <a:rPr lang="en-US" sz="1700" dirty="0">
                <a:solidFill>
                  <a:schemeClr val="tx2"/>
                </a:solidFill>
              </a:rPr>
              <a:t>These systems use </a:t>
            </a:r>
            <a:r>
              <a:rPr lang="en-US" sz="1700" b="1" dirty="0">
                <a:solidFill>
                  <a:schemeClr val="tx2"/>
                </a:solidFill>
              </a:rPr>
              <a:t>PLCs</a:t>
            </a:r>
            <a:r>
              <a:rPr lang="en-US" sz="1700" dirty="0">
                <a:solidFill>
                  <a:schemeClr val="tx2"/>
                </a:solidFill>
              </a:rPr>
              <a:t> (Programmable Logic Controllers) as a control device</a:t>
            </a:r>
            <a:endParaRPr lang="es-ES" sz="1700" dirty="0">
              <a:solidFill>
                <a:schemeClr val="tx2"/>
              </a:solidFill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F6B44FD-E963-42B3-A4BB-E598536B27E0}"/>
              </a:ext>
            </a:extLst>
          </p:cNvPr>
          <p:cNvSpPr/>
          <p:nvPr/>
        </p:nvSpPr>
        <p:spPr>
          <a:xfrm>
            <a:off x="5919790" y="3501008"/>
            <a:ext cx="396873" cy="5151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E0FE9-A410-47F0-8A7C-3EBABC7CB973}"/>
              </a:ext>
            </a:extLst>
          </p:cNvPr>
          <p:cNvSpPr txBox="1"/>
          <p:nvPr/>
        </p:nvSpPr>
        <p:spPr>
          <a:xfrm>
            <a:off x="2148878" y="5476582"/>
            <a:ext cx="3471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An error could cause a disaster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E902E66-25BA-4B20-8CFF-CA712394D0DF}"/>
              </a:ext>
            </a:extLst>
          </p:cNvPr>
          <p:cNvSpPr/>
          <p:nvPr/>
        </p:nvSpPr>
        <p:spPr>
          <a:xfrm rot="16200000">
            <a:off x="5895792" y="5413308"/>
            <a:ext cx="396873" cy="5151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9A84C28-F085-4F5C-88F5-7F4D5B81C29C}"/>
              </a:ext>
            </a:extLst>
          </p:cNvPr>
          <p:cNvSpPr/>
          <p:nvPr/>
        </p:nvSpPr>
        <p:spPr>
          <a:xfrm>
            <a:off x="6567824" y="5400799"/>
            <a:ext cx="4657240" cy="54848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20000"/>
              </a:spcBef>
            </a:pPr>
            <a:r>
              <a:rPr lang="en-US" sz="1700" dirty="0">
                <a:solidFill>
                  <a:schemeClr val="tx2"/>
                </a:solidFill>
              </a:rPr>
              <a:t>Guarantee safety: Test every single possibility</a:t>
            </a:r>
            <a:endParaRPr lang="es-ES" sz="1700" dirty="0">
              <a:solidFill>
                <a:schemeClr val="tx2"/>
              </a:solidFill>
            </a:endParaRPr>
          </a:p>
        </p:txBody>
      </p:sp>
      <p:pic>
        <p:nvPicPr>
          <p:cNvPr id="2050" name="Picture 2" descr="Upgrading control of access to the pits of the CERN, near Geneva  (20/06/2018) - News update - Media [VINCI]">
            <a:extLst>
              <a:ext uri="{FF2B5EF4-FFF2-40B4-BE49-F238E27FC236}">
                <a16:creationId xmlns:a16="http://schemas.microsoft.com/office/drawing/2014/main" id="{36CC9E42-B938-4747-A606-04DA020B0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778771"/>
            <a:ext cx="3315887" cy="156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s of CMS Superconducting Solonoid - Ancillaries - CERN Document Server">
            <a:extLst>
              <a:ext uri="{FF2B5EF4-FFF2-40B4-BE49-F238E27FC236}">
                <a16:creationId xmlns:a16="http://schemas.microsoft.com/office/drawing/2014/main" id="{43317350-76E0-4CEC-A07A-649371CFA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1778770"/>
            <a:ext cx="2345030" cy="156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88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1" grpId="0"/>
      <p:bldP spid="27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533424"/>
          </a:xfrm>
        </p:spPr>
        <p:txBody>
          <a:bodyPr anchor="t">
            <a:normAutofit/>
          </a:bodyPr>
          <a:lstStyle/>
          <a:p>
            <a:r>
              <a:rPr lang="en-US" dirty="0"/>
              <a:t>Context – Model Checking for PLCs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Simplification of numeric variables for PLC model checking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00E979-F328-4B95-8A33-5A90D66EAD3A}"/>
              </a:ext>
            </a:extLst>
          </p:cNvPr>
          <p:cNvSpPr txBox="1"/>
          <p:nvPr/>
        </p:nvSpPr>
        <p:spPr>
          <a:xfrm>
            <a:off x="695400" y="4650377"/>
            <a:ext cx="7210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4 Integer (16-bit) input variables </a:t>
            </a:r>
            <a:r>
              <a:rPr lang="en-US" dirty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b="1" baseline="30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16⋅4</a:t>
            </a:r>
            <a:r>
              <a:rPr lang="en-US" b="1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≈ 1.8⋅10</a:t>
            </a:r>
            <a:r>
              <a:rPr lang="en-US" b="1" baseline="30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b="1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combinations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5" name="Content Placeholder 1">
            <a:extLst>
              <a:ext uri="{FF2B5EF4-FFF2-40B4-BE49-F238E27FC236}">
                <a16:creationId xmlns:a16="http://schemas.microsoft.com/office/drawing/2014/main" id="{A2337B42-1CA4-4D0F-9E03-428CC97DC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1466" y="1443608"/>
            <a:ext cx="603715" cy="245584"/>
          </a:xfrm>
        </p:spPr>
        <p:txBody>
          <a:bodyPr>
            <a:normAutofit/>
          </a:bodyPr>
          <a:lstStyle/>
          <a:p>
            <a:r>
              <a:rPr lang="en-US" sz="1600" b="0" dirty="0"/>
              <a:t>Input1</a:t>
            </a:r>
          </a:p>
        </p:txBody>
      </p:sp>
      <p:sp>
        <p:nvSpPr>
          <p:cNvPr id="56" name="Content Placeholder 1">
            <a:extLst>
              <a:ext uri="{FF2B5EF4-FFF2-40B4-BE49-F238E27FC236}">
                <a16:creationId xmlns:a16="http://schemas.microsoft.com/office/drawing/2014/main" id="{BCEB62E8-E3DA-4D10-9B1A-C258067711B8}"/>
              </a:ext>
            </a:extLst>
          </p:cNvPr>
          <p:cNvSpPr txBox="1">
            <a:spLocks/>
          </p:cNvSpPr>
          <p:nvPr/>
        </p:nvSpPr>
        <p:spPr>
          <a:xfrm>
            <a:off x="3691466" y="1683634"/>
            <a:ext cx="603715" cy="2455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Input2</a:t>
            </a:r>
          </a:p>
        </p:txBody>
      </p:sp>
      <p:sp>
        <p:nvSpPr>
          <p:cNvPr id="57" name="Content Placeholder 1">
            <a:extLst>
              <a:ext uri="{FF2B5EF4-FFF2-40B4-BE49-F238E27FC236}">
                <a16:creationId xmlns:a16="http://schemas.microsoft.com/office/drawing/2014/main" id="{E16F576A-FACF-44C8-B15C-42C5DC7FCDB5}"/>
              </a:ext>
            </a:extLst>
          </p:cNvPr>
          <p:cNvSpPr txBox="1">
            <a:spLocks/>
          </p:cNvSpPr>
          <p:nvPr/>
        </p:nvSpPr>
        <p:spPr>
          <a:xfrm>
            <a:off x="3682534" y="1923660"/>
            <a:ext cx="612647" cy="245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Input3</a:t>
            </a:r>
          </a:p>
        </p:txBody>
      </p:sp>
      <p:sp>
        <p:nvSpPr>
          <p:cNvPr id="58" name="Content Placeholder 1">
            <a:extLst>
              <a:ext uri="{FF2B5EF4-FFF2-40B4-BE49-F238E27FC236}">
                <a16:creationId xmlns:a16="http://schemas.microsoft.com/office/drawing/2014/main" id="{564EEC46-6CC8-4676-B767-9ABE037DCDFD}"/>
              </a:ext>
            </a:extLst>
          </p:cNvPr>
          <p:cNvSpPr txBox="1">
            <a:spLocks/>
          </p:cNvSpPr>
          <p:nvPr/>
        </p:nvSpPr>
        <p:spPr>
          <a:xfrm>
            <a:off x="3682534" y="2163688"/>
            <a:ext cx="612647" cy="245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Input4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876B79-295D-463B-BBA3-F330CB32552C}"/>
              </a:ext>
            </a:extLst>
          </p:cNvPr>
          <p:cNvCxnSpPr>
            <a:cxnSpLocks/>
          </p:cNvCxnSpPr>
          <p:nvPr/>
        </p:nvCxnSpPr>
        <p:spPr>
          <a:xfrm>
            <a:off x="4320047" y="1572990"/>
            <a:ext cx="726748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53F44E-21E6-4C9D-8395-FB6C22AA761B}"/>
              </a:ext>
            </a:extLst>
          </p:cNvPr>
          <p:cNvCxnSpPr>
            <a:cxnSpLocks/>
          </p:cNvCxnSpPr>
          <p:nvPr/>
        </p:nvCxnSpPr>
        <p:spPr>
          <a:xfrm>
            <a:off x="4320047" y="1813017"/>
            <a:ext cx="726748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EAEF846-879F-463A-AE8D-FDF4BDD24170}"/>
              </a:ext>
            </a:extLst>
          </p:cNvPr>
          <p:cNvCxnSpPr>
            <a:cxnSpLocks/>
          </p:cNvCxnSpPr>
          <p:nvPr/>
        </p:nvCxnSpPr>
        <p:spPr>
          <a:xfrm>
            <a:off x="4320047" y="2053044"/>
            <a:ext cx="726748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A6B2443-93A4-4F62-BD58-E6C0D5424BF9}"/>
              </a:ext>
            </a:extLst>
          </p:cNvPr>
          <p:cNvCxnSpPr>
            <a:cxnSpLocks/>
          </p:cNvCxnSpPr>
          <p:nvPr/>
        </p:nvCxnSpPr>
        <p:spPr>
          <a:xfrm>
            <a:off x="4320047" y="2293070"/>
            <a:ext cx="726748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5FBF4D2-F482-4F38-9C35-826042EDF439}"/>
              </a:ext>
            </a:extLst>
          </p:cNvPr>
          <p:cNvCxnSpPr>
            <a:cxnSpLocks/>
          </p:cNvCxnSpPr>
          <p:nvPr/>
        </p:nvCxnSpPr>
        <p:spPr>
          <a:xfrm>
            <a:off x="6920036" y="1711393"/>
            <a:ext cx="726748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EBA172A-06E4-4A71-9C15-A9BCACD80A23}"/>
              </a:ext>
            </a:extLst>
          </p:cNvPr>
          <p:cNvCxnSpPr>
            <a:cxnSpLocks/>
          </p:cNvCxnSpPr>
          <p:nvPr/>
        </p:nvCxnSpPr>
        <p:spPr>
          <a:xfrm>
            <a:off x="6920036" y="2163688"/>
            <a:ext cx="726748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sp>
        <p:nvSpPr>
          <p:cNvPr id="59" name="Content Placeholder 1">
            <a:extLst>
              <a:ext uri="{FF2B5EF4-FFF2-40B4-BE49-F238E27FC236}">
                <a16:creationId xmlns:a16="http://schemas.microsoft.com/office/drawing/2014/main" id="{46DAEDAF-5FBC-426F-B8B1-3DBA0855D59A}"/>
              </a:ext>
            </a:extLst>
          </p:cNvPr>
          <p:cNvSpPr txBox="1">
            <a:spLocks/>
          </p:cNvSpPr>
          <p:nvPr/>
        </p:nvSpPr>
        <p:spPr>
          <a:xfrm>
            <a:off x="7726196" y="1587624"/>
            <a:ext cx="889465" cy="2455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Output1</a:t>
            </a:r>
          </a:p>
        </p:txBody>
      </p:sp>
      <p:sp>
        <p:nvSpPr>
          <p:cNvPr id="60" name="Content Placeholder 1">
            <a:extLst>
              <a:ext uri="{FF2B5EF4-FFF2-40B4-BE49-F238E27FC236}">
                <a16:creationId xmlns:a16="http://schemas.microsoft.com/office/drawing/2014/main" id="{0B886C6F-C630-4A66-A872-0BC768CB857A}"/>
              </a:ext>
            </a:extLst>
          </p:cNvPr>
          <p:cNvSpPr txBox="1">
            <a:spLocks/>
          </p:cNvSpPr>
          <p:nvPr/>
        </p:nvSpPr>
        <p:spPr>
          <a:xfrm>
            <a:off x="7726197" y="2043649"/>
            <a:ext cx="889464" cy="2455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Output2</a:t>
            </a: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EBBF9300-C686-4373-9385-70999C509DEF}"/>
              </a:ext>
            </a:extLst>
          </p:cNvPr>
          <p:cNvSpPr/>
          <p:nvPr/>
        </p:nvSpPr>
        <p:spPr>
          <a:xfrm rot="16200000">
            <a:off x="7883327" y="4571809"/>
            <a:ext cx="396873" cy="5151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E256972-5BA5-4F88-BE3E-A84BFCCB5F03}"/>
              </a:ext>
            </a:extLst>
          </p:cNvPr>
          <p:cNvSpPr/>
          <p:nvPr/>
        </p:nvSpPr>
        <p:spPr>
          <a:xfrm>
            <a:off x="5046795" y="1340768"/>
            <a:ext cx="1873241" cy="11467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/>
              <a:t>PLC program</a:t>
            </a:r>
          </a:p>
        </p:txBody>
      </p:sp>
      <p:sp>
        <p:nvSpPr>
          <p:cNvPr id="66" name="Rectangle: Rounded Corners 30">
            <a:extLst>
              <a:ext uri="{FF2B5EF4-FFF2-40B4-BE49-F238E27FC236}">
                <a16:creationId xmlns:a16="http://schemas.microsoft.com/office/drawing/2014/main" id="{EF3694C6-FE13-479C-B4AF-48E05612F4D9}"/>
              </a:ext>
            </a:extLst>
          </p:cNvPr>
          <p:cNvSpPr/>
          <p:nvPr/>
        </p:nvSpPr>
        <p:spPr>
          <a:xfrm>
            <a:off x="2063552" y="2780928"/>
            <a:ext cx="3131731" cy="60579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Functionality requirement</a:t>
            </a:r>
          </a:p>
        </p:txBody>
      </p:sp>
      <p:sp>
        <p:nvSpPr>
          <p:cNvPr id="68" name="Rectangle: Rounded Corners 30">
            <a:extLst>
              <a:ext uri="{FF2B5EF4-FFF2-40B4-BE49-F238E27FC236}">
                <a16:creationId xmlns:a16="http://schemas.microsoft.com/office/drawing/2014/main" id="{54AF920A-1A62-406A-9925-6A3245CDEBB7}"/>
              </a:ext>
            </a:extLst>
          </p:cNvPr>
          <p:cNvSpPr/>
          <p:nvPr/>
        </p:nvSpPr>
        <p:spPr>
          <a:xfrm>
            <a:off x="2063553" y="3474293"/>
            <a:ext cx="3131731" cy="71055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</a:pPr>
            <a:r>
              <a:rPr lang="en-US" sz="1700" dirty="0">
                <a:solidFill>
                  <a:schemeClr val="tx2"/>
                </a:solidFill>
              </a:rPr>
              <a:t>If </a:t>
            </a:r>
            <a:r>
              <a:rPr lang="en-US" sz="1700" b="1" dirty="0">
                <a:solidFill>
                  <a:schemeClr val="tx2"/>
                </a:solidFill>
              </a:rPr>
              <a:t>Input1</a:t>
            </a:r>
            <a:r>
              <a:rPr lang="en-US" sz="1700" dirty="0">
                <a:solidFill>
                  <a:schemeClr val="tx2"/>
                </a:solidFill>
              </a:rPr>
              <a:t> is False, then </a:t>
            </a:r>
            <a:r>
              <a:rPr lang="en-US" sz="1700" b="1" dirty="0">
                <a:solidFill>
                  <a:schemeClr val="tx2"/>
                </a:solidFill>
              </a:rPr>
              <a:t>Output2</a:t>
            </a:r>
            <a:r>
              <a:rPr lang="en-US" sz="1700" dirty="0">
                <a:solidFill>
                  <a:schemeClr val="tx2"/>
                </a:solidFill>
              </a:rPr>
              <a:t> is False</a:t>
            </a:r>
          </a:p>
        </p:txBody>
      </p:sp>
      <p:sp>
        <p:nvSpPr>
          <p:cNvPr id="69" name="Rectangle: Rounded Corners 30">
            <a:extLst>
              <a:ext uri="{FF2B5EF4-FFF2-40B4-BE49-F238E27FC236}">
                <a16:creationId xmlns:a16="http://schemas.microsoft.com/office/drawing/2014/main" id="{6B2A3BEA-9438-47BD-A4D2-2D7A90C25857}"/>
              </a:ext>
            </a:extLst>
          </p:cNvPr>
          <p:cNvSpPr/>
          <p:nvPr/>
        </p:nvSpPr>
        <p:spPr>
          <a:xfrm>
            <a:off x="6780692" y="2784002"/>
            <a:ext cx="3131731" cy="60579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Safety requirement</a:t>
            </a:r>
          </a:p>
        </p:txBody>
      </p:sp>
      <p:sp>
        <p:nvSpPr>
          <p:cNvPr id="71" name="Rectangle: Rounded Corners 30">
            <a:extLst>
              <a:ext uri="{FF2B5EF4-FFF2-40B4-BE49-F238E27FC236}">
                <a16:creationId xmlns:a16="http://schemas.microsoft.com/office/drawing/2014/main" id="{7B478ABE-34EF-4907-BCBB-F5561A7215E2}"/>
              </a:ext>
            </a:extLst>
          </p:cNvPr>
          <p:cNvSpPr/>
          <p:nvPr/>
        </p:nvSpPr>
        <p:spPr>
          <a:xfrm>
            <a:off x="6780693" y="3477367"/>
            <a:ext cx="3131731" cy="71055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</a:pPr>
            <a:r>
              <a:rPr lang="en-US" sz="1700" dirty="0">
                <a:solidFill>
                  <a:schemeClr val="tx2"/>
                </a:solidFill>
              </a:rPr>
              <a:t>If </a:t>
            </a:r>
            <a:r>
              <a:rPr lang="en-US" sz="1700" b="1" dirty="0">
                <a:solidFill>
                  <a:schemeClr val="tx2"/>
                </a:solidFill>
              </a:rPr>
              <a:t>Output1</a:t>
            </a:r>
            <a:r>
              <a:rPr lang="en-US" sz="1700" dirty="0">
                <a:solidFill>
                  <a:schemeClr val="tx2"/>
                </a:solidFill>
              </a:rPr>
              <a:t> is False, then </a:t>
            </a:r>
            <a:r>
              <a:rPr lang="en-US" sz="1700" b="1" dirty="0">
                <a:solidFill>
                  <a:schemeClr val="tx2"/>
                </a:solidFill>
              </a:rPr>
              <a:t>Output2</a:t>
            </a:r>
            <a:r>
              <a:rPr lang="en-US" sz="1700" dirty="0">
                <a:solidFill>
                  <a:schemeClr val="tx2"/>
                </a:solidFill>
              </a:rPr>
              <a:t> is True</a:t>
            </a:r>
          </a:p>
        </p:txBody>
      </p:sp>
      <p:sp>
        <p:nvSpPr>
          <p:cNvPr id="72" name="Rectangle: Rounded Corners 30">
            <a:extLst>
              <a:ext uri="{FF2B5EF4-FFF2-40B4-BE49-F238E27FC236}">
                <a16:creationId xmlns:a16="http://schemas.microsoft.com/office/drawing/2014/main" id="{D7032B53-088B-4DA0-9F2C-BD080D98390F}"/>
              </a:ext>
            </a:extLst>
          </p:cNvPr>
          <p:cNvSpPr/>
          <p:nvPr/>
        </p:nvSpPr>
        <p:spPr>
          <a:xfrm>
            <a:off x="8657069" y="4581128"/>
            <a:ext cx="3131731" cy="49650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20000"/>
              </a:spcBef>
            </a:pPr>
            <a:r>
              <a:rPr lang="en-US" sz="1700" dirty="0">
                <a:solidFill>
                  <a:schemeClr val="tx2"/>
                </a:solidFill>
              </a:rPr>
              <a:t>Solution: </a:t>
            </a:r>
            <a:r>
              <a:rPr lang="en-US" sz="1700" b="1" dirty="0">
                <a:solidFill>
                  <a:schemeClr val="tx2"/>
                </a:solidFill>
              </a:rPr>
              <a:t>Model checking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0D4D8F-974A-4B86-BDEE-DEB0839A15BF}"/>
              </a:ext>
            </a:extLst>
          </p:cNvPr>
          <p:cNvSpPr txBox="1"/>
          <p:nvPr/>
        </p:nvSpPr>
        <p:spPr>
          <a:xfrm>
            <a:off x="695400" y="5505507"/>
            <a:ext cx="59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1800" dirty="0">
                <a:solidFill>
                  <a:schemeClr val="tx2"/>
                </a:solidFill>
              </a:rPr>
              <a:t>Problem: </a:t>
            </a:r>
            <a:r>
              <a:rPr lang="en-US" sz="1800" b="1" dirty="0">
                <a:solidFill>
                  <a:schemeClr val="tx2"/>
                </a:solidFill>
              </a:rPr>
              <a:t>state-space explosion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F2685B4-0A78-4E0D-91D5-E09854B893EE}"/>
              </a:ext>
            </a:extLst>
          </p:cNvPr>
          <p:cNvSpPr/>
          <p:nvPr/>
        </p:nvSpPr>
        <p:spPr>
          <a:xfrm rot="16200000">
            <a:off x="6227143" y="5432602"/>
            <a:ext cx="396873" cy="5151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6C7DD4-7B7B-4C76-AE58-504D893F403D}"/>
              </a:ext>
            </a:extLst>
          </p:cNvPr>
          <p:cNvSpPr/>
          <p:nvPr/>
        </p:nvSpPr>
        <p:spPr>
          <a:xfrm>
            <a:off x="7451620" y="5445224"/>
            <a:ext cx="4332393" cy="49650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>
              <a:spcBef>
                <a:spcPct val="20000"/>
              </a:spcBef>
            </a:pPr>
            <a:r>
              <a:rPr lang="en-US" sz="1700" dirty="0">
                <a:solidFill>
                  <a:schemeClr val="tx2"/>
                </a:solidFill>
              </a:rPr>
              <a:t>Goal: </a:t>
            </a:r>
            <a:r>
              <a:rPr lang="en-US" sz="1700" b="1" dirty="0">
                <a:solidFill>
                  <a:schemeClr val="tx2"/>
                </a:solidFill>
              </a:rPr>
              <a:t>Simplification of numeric variables</a:t>
            </a:r>
          </a:p>
        </p:txBody>
      </p:sp>
      <p:pic>
        <p:nvPicPr>
          <p:cNvPr id="8" name="Graphic 7" descr="Thermometer outline">
            <a:extLst>
              <a:ext uri="{FF2B5EF4-FFF2-40B4-BE49-F238E27FC236}">
                <a16:creationId xmlns:a16="http://schemas.microsoft.com/office/drawing/2014/main" id="{3AA4F658-6B79-4B8C-A701-9985AB609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085" y="1661910"/>
            <a:ext cx="438137" cy="438137"/>
          </a:xfrm>
          <a:prstGeom prst="rect">
            <a:avLst/>
          </a:prstGeom>
        </p:spPr>
      </p:pic>
      <p:pic>
        <p:nvPicPr>
          <p:cNvPr id="10" name="Graphic 9" descr="Leaky Tap outline">
            <a:extLst>
              <a:ext uri="{FF2B5EF4-FFF2-40B4-BE49-F238E27FC236}">
                <a16:creationId xmlns:a16="http://schemas.microsoft.com/office/drawing/2014/main" id="{0211AADF-84E4-4571-9F5D-42685C84A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4242" y="1616374"/>
            <a:ext cx="529208" cy="529208"/>
          </a:xfrm>
          <a:prstGeom prst="rect">
            <a:avLst/>
          </a:prstGeom>
        </p:spPr>
      </p:pic>
      <p:pic>
        <p:nvPicPr>
          <p:cNvPr id="12" name="Graphic 11" descr="Double Tap Gesture outline">
            <a:extLst>
              <a:ext uri="{FF2B5EF4-FFF2-40B4-BE49-F238E27FC236}">
                <a16:creationId xmlns:a16="http://schemas.microsoft.com/office/drawing/2014/main" id="{7E344382-F3F7-4A35-9212-FD9620365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297" y="1641511"/>
            <a:ext cx="478935" cy="478935"/>
          </a:xfrm>
          <a:prstGeom prst="rect">
            <a:avLst/>
          </a:prstGeom>
        </p:spPr>
      </p:pic>
      <p:pic>
        <p:nvPicPr>
          <p:cNvPr id="14" name="Graphic 13" descr="Gauge outline">
            <a:extLst>
              <a:ext uri="{FF2B5EF4-FFF2-40B4-BE49-F238E27FC236}">
                <a16:creationId xmlns:a16="http://schemas.microsoft.com/office/drawing/2014/main" id="{01D71D6F-90ED-4805-801D-C566FAC122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65307" y="1616374"/>
            <a:ext cx="529208" cy="529208"/>
          </a:xfrm>
          <a:prstGeom prst="rect">
            <a:avLst/>
          </a:prstGeom>
        </p:spPr>
      </p:pic>
      <p:pic>
        <p:nvPicPr>
          <p:cNvPr id="16" name="Graphic 15" descr="Potion outline">
            <a:extLst>
              <a:ext uri="{FF2B5EF4-FFF2-40B4-BE49-F238E27FC236}">
                <a16:creationId xmlns:a16="http://schemas.microsoft.com/office/drawing/2014/main" id="{E34CA154-6EED-41B2-B121-14D610190B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74589" y="1613881"/>
            <a:ext cx="534194" cy="534194"/>
          </a:xfrm>
          <a:prstGeom prst="rect">
            <a:avLst/>
          </a:prstGeom>
        </p:spPr>
      </p:pic>
      <p:pic>
        <p:nvPicPr>
          <p:cNvPr id="18" name="Graphic 17" descr="Siren outline">
            <a:extLst>
              <a:ext uri="{FF2B5EF4-FFF2-40B4-BE49-F238E27FC236}">
                <a16:creationId xmlns:a16="http://schemas.microsoft.com/office/drawing/2014/main" id="{0058CC42-F785-4F6E-9527-73081E1B33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66122" y="1616374"/>
            <a:ext cx="529208" cy="529208"/>
          </a:xfrm>
          <a:prstGeom prst="rect">
            <a:avLst/>
          </a:prstGeom>
        </p:spPr>
      </p:pic>
      <p:sp>
        <p:nvSpPr>
          <p:cNvPr id="43" name="Content Placeholder 1">
            <a:extLst>
              <a:ext uri="{FF2B5EF4-FFF2-40B4-BE49-F238E27FC236}">
                <a16:creationId xmlns:a16="http://schemas.microsoft.com/office/drawing/2014/main" id="{5979A401-6153-4D71-B249-C54A7468EF94}"/>
              </a:ext>
            </a:extLst>
          </p:cNvPr>
          <p:cNvSpPr txBox="1">
            <a:spLocks/>
          </p:cNvSpPr>
          <p:nvPr/>
        </p:nvSpPr>
        <p:spPr>
          <a:xfrm>
            <a:off x="1358328" y="2309020"/>
            <a:ext cx="849240" cy="245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Sensors</a:t>
            </a:r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B9A1D805-6C5D-4F43-8926-6FF010E8EA19}"/>
              </a:ext>
            </a:extLst>
          </p:cNvPr>
          <p:cNvSpPr txBox="1">
            <a:spLocks/>
          </p:cNvSpPr>
          <p:nvPr/>
        </p:nvSpPr>
        <p:spPr>
          <a:xfrm>
            <a:off x="9535637" y="2309020"/>
            <a:ext cx="952851" cy="245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/>
              <a:t>Actuators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9281DC-001D-4245-807D-83BF7431EA49}"/>
              </a:ext>
            </a:extLst>
          </p:cNvPr>
          <p:cNvCxnSpPr/>
          <p:nvPr/>
        </p:nvCxnSpPr>
        <p:spPr>
          <a:xfrm>
            <a:off x="479376" y="2286480"/>
            <a:ext cx="2736304" cy="2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83709F8-FE19-48FD-A797-E64EEF5E5469}"/>
              </a:ext>
            </a:extLst>
          </p:cNvPr>
          <p:cNvCxnSpPr>
            <a:cxnSpLocks/>
          </p:cNvCxnSpPr>
          <p:nvPr/>
        </p:nvCxnSpPr>
        <p:spPr>
          <a:xfrm>
            <a:off x="9048328" y="2294742"/>
            <a:ext cx="1783155" cy="6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43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6" grpId="0" animBg="1"/>
      <p:bldP spid="68" grpId="0" animBg="1"/>
      <p:bldP spid="69" grpId="0" animBg="1"/>
      <p:bldP spid="71" grpId="0" animBg="1"/>
      <p:bldP spid="72" grpId="0" animBg="1"/>
      <p:bldP spid="29" grpId="0"/>
      <p:bldP spid="30" grpId="0" animBg="1"/>
      <p:bldP spid="31" grpId="0" animBg="1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359C1-EF1E-4208-9352-F62621EF4272}" type="slidenum">
              <a:rPr lang="es-ES" smtClean="0"/>
              <a:t>5</a:t>
            </a:fld>
            <a:endParaRPr lang="es-E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1233A91-6B50-469A-8E3A-77C56C7B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11376025" cy="680292"/>
          </a:xfrm>
        </p:spPr>
        <p:txBody>
          <a:bodyPr/>
          <a:lstStyle/>
          <a:p>
            <a:r>
              <a:rPr lang="en-US" dirty="0"/>
              <a:t>Model Checking for PLCs – Standard workflow</a:t>
            </a:r>
          </a:p>
        </p:txBody>
      </p:sp>
      <p:cxnSp>
        <p:nvCxnSpPr>
          <p:cNvPr id="58" name="7 Conector angular">
            <a:extLst>
              <a:ext uri="{FF2B5EF4-FFF2-40B4-BE49-F238E27FC236}">
                <a16:creationId xmlns:a16="http://schemas.microsoft.com/office/drawing/2014/main" id="{040C4CA9-06EC-462A-BB16-65C4FF3B4A74}"/>
              </a:ext>
            </a:extLst>
          </p:cNvPr>
          <p:cNvCxnSpPr>
            <a:cxnSpLocks/>
            <a:stCxn id="79" idx="2"/>
            <a:endCxn id="61" idx="1"/>
          </p:cNvCxnSpPr>
          <p:nvPr/>
        </p:nvCxnSpPr>
        <p:spPr>
          <a:xfrm rot="16200000" flipH="1">
            <a:off x="2915153" y="1222826"/>
            <a:ext cx="1135130" cy="2826263"/>
          </a:xfrm>
          <a:prstGeom prst="bentConnector2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59" name="8 Conector angular">
            <a:extLst>
              <a:ext uri="{FF2B5EF4-FFF2-40B4-BE49-F238E27FC236}">
                <a16:creationId xmlns:a16="http://schemas.microsoft.com/office/drawing/2014/main" id="{38305594-8755-40F9-A651-B8CF3EFE614B}"/>
              </a:ext>
            </a:extLst>
          </p:cNvPr>
          <p:cNvCxnSpPr>
            <a:cxnSpLocks/>
            <a:stCxn id="80" idx="2"/>
            <a:endCxn id="61" idx="3"/>
          </p:cNvCxnSpPr>
          <p:nvPr/>
        </p:nvCxnSpPr>
        <p:spPr>
          <a:xfrm rot="5400000">
            <a:off x="6472787" y="1372485"/>
            <a:ext cx="1136678" cy="2525398"/>
          </a:xfrm>
          <a:prstGeom prst="bentConnector2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grpSp>
        <p:nvGrpSpPr>
          <p:cNvPr id="60" name="Group 15">
            <a:extLst>
              <a:ext uri="{FF2B5EF4-FFF2-40B4-BE49-F238E27FC236}">
                <a16:creationId xmlns:a16="http://schemas.microsoft.com/office/drawing/2014/main" id="{2CFF98DA-725E-480E-9393-4A4112E3FA41}"/>
              </a:ext>
            </a:extLst>
          </p:cNvPr>
          <p:cNvGrpSpPr/>
          <p:nvPr/>
        </p:nvGrpSpPr>
        <p:grpSpPr>
          <a:xfrm>
            <a:off x="4558365" y="2796329"/>
            <a:ext cx="1688284" cy="1399162"/>
            <a:chOff x="5621456" y="2436371"/>
            <a:chExt cx="1688284" cy="1399162"/>
          </a:xfrm>
        </p:grpSpPr>
        <p:pic>
          <p:nvPicPr>
            <p:cNvPr id="61" name="Picture 6" descr="http://acesolutions.fr/images/engrenage.gif">
              <a:extLst>
                <a:ext uri="{FF2B5EF4-FFF2-40B4-BE49-F238E27FC236}">
                  <a16:creationId xmlns:a16="http://schemas.microsoft.com/office/drawing/2014/main" id="{A9D52436-AF7B-4E25-8B92-3FD3D04EAB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8941" y="2436371"/>
              <a:ext cx="882577" cy="814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0B58B98-5F18-446F-8BAB-62A3647F2F64}"/>
                </a:ext>
              </a:extLst>
            </p:cNvPr>
            <p:cNvSpPr txBox="1"/>
            <p:nvPr/>
          </p:nvSpPr>
          <p:spPr>
            <a:xfrm>
              <a:off x="5621456" y="3250758"/>
              <a:ext cx="168828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Model Checker</a:t>
              </a:r>
            </a:p>
            <a:p>
              <a:pPr algn="ctr"/>
              <a:r>
                <a:rPr lang="en-US" sz="1600" i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Solver</a:t>
              </a:r>
              <a:endParaRPr lang="en-US" sz="1600" b="1" dirty="0">
                <a:solidFill>
                  <a:srgbClr val="0055A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3" name="Group 34">
            <a:extLst>
              <a:ext uri="{FF2B5EF4-FFF2-40B4-BE49-F238E27FC236}">
                <a16:creationId xmlns:a16="http://schemas.microsoft.com/office/drawing/2014/main" id="{1BE7D5EB-C230-4C75-A2E6-73FF2938872C}"/>
              </a:ext>
            </a:extLst>
          </p:cNvPr>
          <p:cNvGrpSpPr/>
          <p:nvPr/>
        </p:nvGrpSpPr>
        <p:grpSpPr>
          <a:xfrm>
            <a:off x="7261064" y="4259066"/>
            <a:ext cx="1393330" cy="948222"/>
            <a:chOff x="7691918" y="2868716"/>
            <a:chExt cx="1393330" cy="94822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527443-5CA3-4B6B-98DC-02CCF1D6445E}"/>
                </a:ext>
              </a:extLst>
            </p:cNvPr>
            <p:cNvSpPr txBox="1"/>
            <p:nvPr/>
          </p:nvSpPr>
          <p:spPr>
            <a:xfrm>
              <a:off x="8146056" y="2868716"/>
              <a:ext cx="5886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rgbClr val="00B050"/>
                  </a:solidFill>
                  <a:latin typeface="Arial"/>
                  <a:sym typeface="Wingdings"/>
                </a:rPr>
                <a:t></a:t>
              </a:r>
              <a:endParaRPr lang="en-US" sz="4000" b="1" dirty="0">
                <a:solidFill>
                  <a:srgbClr val="00B050"/>
                </a:solidFill>
                <a:latin typeface="Arial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4F06C9E-0109-4A2B-BBE1-A8F55F1C4886}"/>
                </a:ext>
              </a:extLst>
            </p:cNvPr>
            <p:cNvSpPr txBox="1"/>
            <p:nvPr/>
          </p:nvSpPr>
          <p:spPr>
            <a:xfrm>
              <a:off x="7691918" y="3478384"/>
              <a:ext cx="13933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Property OK</a:t>
              </a:r>
            </a:p>
          </p:txBody>
        </p:sp>
      </p:grpSp>
      <p:grpSp>
        <p:nvGrpSpPr>
          <p:cNvPr id="66" name="Group 39">
            <a:extLst>
              <a:ext uri="{FF2B5EF4-FFF2-40B4-BE49-F238E27FC236}">
                <a16:creationId xmlns:a16="http://schemas.microsoft.com/office/drawing/2014/main" id="{76AB3416-C702-4035-A726-ED9B2184A3F5}"/>
              </a:ext>
            </a:extLst>
          </p:cNvPr>
          <p:cNvGrpSpPr/>
          <p:nvPr/>
        </p:nvGrpSpPr>
        <p:grpSpPr>
          <a:xfrm>
            <a:off x="2332491" y="4140489"/>
            <a:ext cx="1688283" cy="1165910"/>
            <a:chOff x="6052937" y="4682588"/>
            <a:chExt cx="1688283" cy="116591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B8C1B66-998E-4813-B57C-1293F197269A}"/>
                </a:ext>
              </a:extLst>
            </p:cNvPr>
            <p:cNvSpPr txBox="1"/>
            <p:nvPr/>
          </p:nvSpPr>
          <p:spPr>
            <a:xfrm>
              <a:off x="6536636" y="4682588"/>
              <a:ext cx="5757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rgbClr val="C00000"/>
                  </a:solidFill>
                  <a:latin typeface="Arial"/>
                  <a:sym typeface="Wingdings"/>
                </a:rPr>
                <a:t></a:t>
              </a:r>
              <a:endParaRPr lang="en-US" sz="4000" b="1" dirty="0">
                <a:solidFill>
                  <a:srgbClr val="C00000"/>
                </a:solidFill>
                <a:latin typeface="Arial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71D0FD9-B61B-47A0-A185-3220400250D2}"/>
                </a:ext>
              </a:extLst>
            </p:cNvPr>
            <p:cNvSpPr txBox="1"/>
            <p:nvPr/>
          </p:nvSpPr>
          <p:spPr>
            <a:xfrm>
              <a:off x="6052937" y="5263723"/>
              <a:ext cx="16882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Property failed</a:t>
              </a:r>
            </a:p>
            <a:p>
              <a:pPr algn="ctr"/>
              <a:r>
                <a:rPr lang="en-US" sz="1600" i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Counterexample</a:t>
              </a:r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81A0D6B-C81A-47BA-8482-D791EF01B545}"/>
              </a:ext>
            </a:extLst>
          </p:cNvPr>
          <p:cNvCxnSpPr>
            <a:endCxn id="67" idx="3"/>
          </p:cNvCxnSpPr>
          <p:nvPr/>
        </p:nvCxnSpPr>
        <p:spPr>
          <a:xfrm flipH="1">
            <a:off x="3391989" y="3459028"/>
            <a:ext cx="1503862" cy="1096960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CB5E674-CE50-4CA4-9BE0-08A4ED368976}"/>
              </a:ext>
            </a:extLst>
          </p:cNvPr>
          <p:cNvCxnSpPr>
            <a:endCxn id="64" idx="1"/>
          </p:cNvCxnSpPr>
          <p:nvPr/>
        </p:nvCxnSpPr>
        <p:spPr>
          <a:xfrm>
            <a:off x="5922736" y="3459028"/>
            <a:ext cx="1792466" cy="1153981"/>
          </a:xfrm>
          <a:prstGeom prst="straightConnector1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tailEnd type="arrow"/>
          </a:ln>
          <a:effectLst/>
        </p:spPr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FEB482A-6C2D-486B-A38F-1BFE64A67B4E}"/>
              </a:ext>
            </a:extLst>
          </p:cNvPr>
          <p:cNvGrpSpPr/>
          <p:nvPr/>
        </p:nvGrpSpPr>
        <p:grpSpPr>
          <a:xfrm>
            <a:off x="3203526" y="1683369"/>
            <a:ext cx="1708762" cy="1034240"/>
            <a:chOff x="1092202" y="5070347"/>
            <a:chExt cx="1779960" cy="1183197"/>
          </a:xfrm>
        </p:grpSpPr>
        <p:pic>
          <p:nvPicPr>
            <p:cNvPr id="72" name="Picture 71" descr="http://www.fao.org/DOCREP/003/X6510E/X651003.gif">
              <a:extLst>
                <a:ext uri="{FF2B5EF4-FFF2-40B4-BE49-F238E27FC236}">
                  <a16:creationId xmlns:a16="http://schemas.microsoft.com/office/drawing/2014/main" id="{2DD8BD4A-CD9B-43CE-85FB-349A7BA5C0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02" y="5070347"/>
              <a:ext cx="1779960" cy="800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31">
              <a:extLst>
                <a:ext uri="{FF2B5EF4-FFF2-40B4-BE49-F238E27FC236}">
                  <a16:creationId xmlns:a16="http://schemas.microsoft.com/office/drawing/2014/main" id="{09E287DA-62A2-4B25-BC92-581E7C81563C}"/>
                </a:ext>
              </a:extLst>
            </p:cNvPr>
            <p:cNvSpPr txBox="1"/>
            <p:nvPr/>
          </p:nvSpPr>
          <p:spPr>
            <a:xfrm>
              <a:off x="1436531" y="5725387"/>
              <a:ext cx="1142473" cy="5281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Real System</a:t>
              </a:r>
            </a:p>
            <a:p>
              <a:pPr algn="ctr"/>
              <a:r>
                <a:rPr lang="en-US" sz="1200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(software)</a:t>
              </a:r>
            </a:p>
          </p:txBody>
        </p:sp>
      </p:grpSp>
      <p:grpSp>
        <p:nvGrpSpPr>
          <p:cNvPr id="74" name="Group 21">
            <a:extLst>
              <a:ext uri="{FF2B5EF4-FFF2-40B4-BE49-F238E27FC236}">
                <a16:creationId xmlns:a16="http://schemas.microsoft.com/office/drawing/2014/main" id="{0573FAEA-6F2E-4D6F-B71C-AC637588D50D}"/>
              </a:ext>
            </a:extLst>
          </p:cNvPr>
          <p:cNvGrpSpPr/>
          <p:nvPr/>
        </p:nvGrpSpPr>
        <p:grpSpPr>
          <a:xfrm>
            <a:off x="6029779" y="1804082"/>
            <a:ext cx="1228221" cy="913527"/>
            <a:chOff x="2705589" y="1705838"/>
            <a:chExt cx="1228221" cy="913527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5F18434-A75B-4333-A649-05B1874E6033}"/>
                </a:ext>
              </a:extLst>
            </p:cNvPr>
            <p:cNvSpPr txBox="1"/>
            <p:nvPr/>
          </p:nvSpPr>
          <p:spPr>
            <a:xfrm>
              <a:off x="2705589" y="1705838"/>
              <a:ext cx="1228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55A0"/>
                  </a:solidFill>
                  <a:latin typeface="Arial" pitchFamily="34" charset="0"/>
                  <a:cs typeface="Arial" pitchFamily="34" charset="0"/>
                </a:rPr>
                <a:t>Specifications</a:t>
              </a:r>
            </a:p>
          </p:txBody>
        </p:sp>
        <p:pic>
          <p:nvPicPr>
            <p:cNvPr id="76" name="Picture 10" descr="http://www.mcrl2.org/mcrl2/wiki/images/1/1f/Text_File_Icon.png">
              <a:extLst>
                <a:ext uri="{FF2B5EF4-FFF2-40B4-BE49-F238E27FC236}">
                  <a16:creationId xmlns:a16="http://schemas.microsoft.com/office/drawing/2014/main" id="{6F8A9BDA-020A-48F1-BFD4-EEF57A20DD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360" y="1982837"/>
              <a:ext cx="636528" cy="636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6A9BAB6-4DED-4B56-8761-10A9A11702A3}"/>
              </a:ext>
            </a:extLst>
          </p:cNvPr>
          <p:cNvSpPr txBox="1"/>
          <p:nvPr/>
        </p:nvSpPr>
        <p:spPr>
          <a:xfrm>
            <a:off x="8020000" y="3257269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55A0"/>
                </a:solidFill>
                <a:latin typeface="Arial" pitchFamily="34" charset="0"/>
                <a:cs typeface="Arial" pitchFamily="34" charset="0"/>
              </a:rPr>
              <a:t>Temporal Logic</a:t>
            </a:r>
            <a:endParaRPr lang="en-GB" sz="1600" i="1" dirty="0">
              <a:solidFill>
                <a:srgbClr val="0055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95D36D-165B-4016-AD7C-77260E213608}"/>
              </a:ext>
            </a:extLst>
          </p:cNvPr>
          <p:cNvSpPr txBox="1"/>
          <p:nvPr/>
        </p:nvSpPr>
        <p:spPr>
          <a:xfrm>
            <a:off x="331054" y="2695681"/>
            <a:ext cx="1876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55A0"/>
                </a:solidFill>
                <a:latin typeface="Arial" pitchFamily="34" charset="0"/>
                <a:cs typeface="Arial" pitchFamily="34" charset="0"/>
              </a:rPr>
              <a:t>Control-flow automaton (CFA)</a:t>
            </a:r>
            <a:endParaRPr lang="en-GB" sz="1600" i="1" dirty="0">
              <a:solidFill>
                <a:srgbClr val="0055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5949BA7-C18A-4756-8930-F61374F7FA46}"/>
              </a:ext>
            </a:extLst>
          </p:cNvPr>
          <p:cNvSpPr/>
          <p:nvPr/>
        </p:nvSpPr>
        <p:spPr>
          <a:xfrm>
            <a:off x="1132966" y="1721231"/>
            <a:ext cx="1873241" cy="347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/>
              <a:t>Formal model</a:t>
            </a:r>
            <a:endParaRPr lang="es-ES" sz="1700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D360836-5C6C-4F81-89C7-F73234E4055F}"/>
              </a:ext>
            </a:extLst>
          </p:cNvPr>
          <p:cNvSpPr/>
          <p:nvPr/>
        </p:nvSpPr>
        <p:spPr>
          <a:xfrm>
            <a:off x="7311397" y="1719683"/>
            <a:ext cx="1984855" cy="347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Formal requirement</a:t>
            </a:r>
            <a:endParaRPr lang="es-ES" sz="14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4A1B502-0AAD-4F14-8A62-A0739BC5BDE8}"/>
              </a:ext>
            </a:extLst>
          </p:cNvPr>
          <p:cNvCxnSpPr/>
          <p:nvPr/>
        </p:nvCxnSpPr>
        <p:spPr>
          <a:xfrm flipH="1">
            <a:off x="8716288" y="3622177"/>
            <a:ext cx="200868" cy="309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8CCB37A-10A4-4950-B83C-320246F11DCE}"/>
              </a:ext>
            </a:extLst>
          </p:cNvPr>
          <p:cNvCxnSpPr>
            <a:cxnSpLocks/>
          </p:cNvCxnSpPr>
          <p:nvPr/>
        </p:nvCxnSpPr>
        <p:spPr>
          <a:xfrm>
            <a:off x="8929568" y="3617747"/>
            <a:ext cx="190304" cy="314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F5DAE1A-FCBF-4409-A79D-8B6053E3FB14}"/>
              </a:ext>
            </a:extLst>
          </p:cNvPr>
          <p:cNvCxnSpPr>
            <a:cxnSpLocks/>
          </p:cNvCxnSpPr>
          <p:nvPr/>
        </p:nvCxnSpPr>
        <p:spPr>
          <a:xfrm>
            <a:off x="8721570" y="3992685"/>
            <a:ext cx="190304" cy="314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066B1F6-7364-43FE-AC91-524A0345B8EE}"/>
              </a:ext>
            </a:extLst>
          </p:cNvPr>
          <p:cNvCxnSpPr>
            <a:cxnSpLocks/>
          </p:cNvCxnSpPr>
          <p:nvPr/>
        </p:nvCxnSpPr>
        <p:spPr>
          <a:xfrm flipH="1">
            <a:off x="8569219" y="4000996"/>
            <a:ext cx="112238" cy="297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8C8E0E86-12E2-46A8-A696-D59E91A977EF}"/>
              </a:ext>
            </a:extLst>
          </p:cNvPr>
          <p:cNvSpPr/>
          <p:nvPr/>
        </p:nvSpPr>
        <p:spPr>
          <a:xfrm>
            <a:off x="8891468" y="3577065"/>
            <a:ext cx="76200" cy="813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8D317C5-D07A-4DC8-AB7E-79AAAACEB605}"/>
              </a:ext>
            </a:extLst>
          </p:cNvPr>
          <p:cNvSpPr/>
          <p:nvPr/>
        </p:nvSpPr>
        <p:spPr>
          <a:xfrm>
            <a:off x="8665640" y="3927210"/>
            <a:ext cx="76200" cy="813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85B03D1-C5F3-4014-8B10-D83B17B545BA}"/>
              </a:ext>
            </a:extLst>
          </p:cNvPr>
          <p:cNvSpPr/>
          <p:nvPr/>
        </p:nvSpPr>
        <p:spPr>
          <a:xfrm>
            <a:off x="8525668" y="4298601"/>
            <a:ext cx="76200" cy="813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C761AA1-34DE-471D-8413-0E3A425E3465}"/>
              </a:ext>
            </a:extLst>
          </p:cNvPr>
          <p:cNvSpPr/>
          <p:nvPr/>
        </p:nvSpPr>
        <p:spPr>
          <a:xfrm>
            <a:off x="8891103" y="4301658"/>
            <a:ext cx="76200" cy="813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D848D18-AF13-4B6C-B6EA-F3B1AB8DA1DD}"/>
              </a:ext>
            </a:extLst>
          </p:cNvPr>
          <p:cNvSpPr/>
          <p:nvPr/>
        </p:nvSpPr>
        <p:spPr>
          <a:xfrm>
            <a:off x="9094714" y="3933677"/>
            <a:ext cx="76200" cy="81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1" name="Picture 4" descr="W. Booth on behalf of the BE-ICS-PCS section 1">
            <a:extLst>
              <a:ext uri="{FF2B5EF4-FFF2-40B4-BE49-F238E27FC236}">
                <a16:creationId xmlns:a16="http://schemas.microsoft.com/office/drawing/2014/main" id="{C982AFD4-F9FA-4425-8321-096A1D0E32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604587" y="2269337"/>
            <a:ext cx="615043" cy="615043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00D5003-9D05-43D1-9ADD-707D892E8D3D}"/>
              </a:ext>
            </a:extLst>
          </p:cNvPr>
          <p:cNvGrpSpPr/>
          <p:nvPr/>
        </p:nvGrpSpPr>
        <p:grpSpPr>
          <a:xfrm>
            <a:off x="407368" y="1556792"/>
            <a:ext cx="9289032" cy="4126886"/>
            <a:chOff x="407368" y="1556792"/>
            <a:chExt cx="9289032" cy="412688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7C81CBD-ED1F-425F-AEDA-BCECA728B2F5}"/>
                </a:ext>
              </a:extLst>
            </p:cNvPr>
            <p:cNvCxnSpPr/>
            <p:nvPr/>
          </p:nvCxnSpPr>
          <p:spPr>
            <a:xfrm>
              <a:off x="407368" y="1556792"/>
              <a:ext cx="0" cy="4126886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D85951D-282C-477B-8A54-160A1DAFD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368" y="1556792"/>
              <a:ext cx="27961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2F99E80-1017-4A96-ABD8-4E2E4B325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368" y="5683678"/>
              <a:ext cx="9289032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DA36DA7-90A3-4D84-BAFC-C95531106368}"/>
                </a:ext>
              </a:extLst>
            </p:cNvPr>
            <p:cNvCxnSpPr>
              <a:cxnSpLocks/>
            </p:cNvCxnSpPr>
            <p:nvPr/>
          </p:nvCxnSpPr>
          <p:spPr>
            <a:xfrm>
              <a:off x="3195691" y="1556792"/>
              <a:ext cx="0" cy="1189749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5262EA6-4C29-418D-BF66-D7744FF3A7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4353" y="2708920"/>
              <a:ext cx="6492047" cy="18978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44FE1D1-7CC7-4116-B328-CF0AE09C2244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2727898"/>
              <a:ext cx="0" cy="295578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31">
            <a:extLst>
              <a:ext uri="{FF2B5EF4-FFF2-40B4-BE49-F238E27FC236}">
                <a16:creationId xmlns:a16="http://schemas.microsoft.com/office/drawing/2014/main" id="{A93A36AA-DE4F-44B6-A5BA-67EE69B0A885}"/>
              </a:ext>
            </a:extLst>
          </p:cNvPr>
          <p:cNvSpPr txBox="1"/>
          <p:nvPr/>
        </p:nvSpPr>
        <p:spPr>
          <a:xfrm>
            <a:off x="9860015" y="2907116"/>
            <a:ext cx="2104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 err="1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PLCverif</a:t>
            </a:r>
            <a:endParaRPr lang="en-US" sz="12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200" dirty="0">
                <a:solidFill>
                  <a:srgbClr val="2F2F2F"/>
                </a:solidFill>
                <a:latin typeface="Arial" pitchFamily="34" charset="0"/>
                <a:cs typeface="Arial" pitchFamily="34" charset="0"/>
              </a:rPr>
              <a:t>Hides the complexity of using formal methods</a:t>
            </a:r>
          </a:p>
        </p:txBody>
      </p:sp>
      <p:sp>
        <p:nvSpPr>
          <p:cNvPr id="48" name="Date Placeholder 3">
            <a:extLst>
              <a:ext uri="{FF2B5EF4-FFF2-40B4-BE49-F238E27FC236}">
                <a16:creationId xmlns:a16="http://schemas.microsoft.com/office/drawing/2014/main" id="{949F87FB-B7F6-4526-99CD-E5975CA042D4}"/>
              </a:ext>
            </a:extLst>
          </p:cNvPr>
          <p:cNvSpPr txBox="1">
            <a:spLocks/>
          </p:cNvSpPr>
          <p:nvPr/>
        </p:nvSpPr>
        <p:spPr>
          <a:xfrm>
            <a:off x="3465830" y="6378349"/>
            <a:ext cx="829970" cy="365125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000" dirty="0"/>
              <a:t>20/09/2021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53780-6C20-4A1F-B08C-B3E1F788D5BB}"/>
              </a:ext>
            </a:extLst>
          </p:cNvPr>
          <p:cNvGrpSpPr/>
          <p:nvPr/>
        </p:nvGrpSpPr>
        <p:grpSpPr>
          <a:xfrm>
            <a:off x="487888" y="3275267"/>
            <a:ext cx="2355491" cy="1475567"/>
            <a:chOff x="12485656" y="3617747"/>
            <a:chExt cx="2467325" cy="174230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B05C134-8E19-4229-BF90-1653FF2A4DE9}"/>
                </a:ext>
              </a:extLst>
            </p:cNvPr>
            <p:cNvGrpSpPr/>
            <p:nvPr/>
          </p:nvGrpSpPr>
          <p:grpSpPr>
            <a:xfrm>
              <a:off x="12485656" y="3617747"/>
              <a:ext cx="2467325" cy="1742306"/>
              <a:chOff x="12485657" y="3189652"/>
              <a:chExt cx="2570826" cy="2170401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EA95517-A234-4B72-915C-69198491E083}"/>
                  </a:ext>
                </a:extLst>
              </p:cNvPr>
              <p:cNvSpPr/>
              <p:nvPr/>
            </p:nvSpPr>
            <p:spPr>
              <a:xfrm>
                <a:off x="13474811" y="3196092"/>
                <a:ext cx="575796" cy="2405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 dirty="0" err="1"/>
                  <a:t>init</a:t>
                </a:r>
                <a:endParaRPr lang="en-GB" sz="800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F6AAAD3-9B3E-49B0-9E29-A43BB685204D}"/>
                  </a:ext>
                </a:extLst>
              </p:cNvPr>
              <p:cNvSpPr/>
              <p:nvPr/>
            </p:nvSpPr>
            <p:spPr>
              <a:xfrm>
                <a:off x="13349818" y="4197306"/>
                <a:ext cx="407679" cy="2405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/>
                  <a:t>l1</a:t>
                </a:r>
                <a:endParaRPr lang="en-GB" sz="800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6D4FE40-A1D6-4B11-B169-6813D6A18BD8}"/>
                  </a:ext>
                </a:extLst>
              </p:cNvPr>
              <p:cNvSpPr/>
              <p:nvPr/>
            </p:nvSpPr>
            <p:spPr>
              <a:xfrm>
                <a:off x="13804250" y="4193175"/>
                <a:ext cx="423859" cy="2405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/>
                  <a:t>l2</a:t>
                </a:r>
                <a:endParaRPr lang="en-GB" sz="800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8CBC054-5109-4BAA-83FC-183219CBCF13}"/>
                  </a:ext>
                </a:extLst>
              </p:cNvPr>
              <p:cNvSpPr/>
              <p:nvPr/>
            </p:nvSpPr>
            <p:spPr>
              <a:xfrm>
                <a:off x="13564656" y="5039675"/>
                <a:ext cx="409704" cy="2405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 dirty="0"/>
                  <a:t>l3</a:t>
                </a: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30DD86BC-D4D9-44DF-BF3B-ABC5BAA43031}"/>
                  </a:ext>
                </a:extLst>
              </p:cNvPr>
              <p:cNvCxnSpPr>
                <a:cxnSpLocks/>
                <a:stCxn id="101" idx="4"/>
                <a:endCxn id="50" idx="0"/>
              </p:cNvCxnSpPr>
              <p:nvPr/>
            </p:nvCxnSpPr>
            <p:spPr>
              <a:xfrm flipH="1">
                <a:off x="13553658" y="3937778"/>
                <a:ext cx="208860" cy="2595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1C30CBA-B6DE-4415-9A34-3C564FC64E9B}"/>
                  </a:ext>
                </a:extLst>
              </p:cNvPr>
              <p:cNvCxnSpPr>
                <a:cxnSpLocks/>
                <a:stCxn id="101" idx="4"/>
                <a:endCxn id="51" idx="0"/>
              </p:cNvCxnSpPr>
              <p:nvPr/>
            </p:nvCxnSpPr>
            <p:spPr>
              <a:xfrm>
                <a:off x="13762518" y="3937778"/>
                <a:ext cx="253662" cy="2553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2D90CC7D-4490-4D53-886C-5797B78747D9}"/>
                  </a:ext>
                </a:extLst>
              </p:cNvPr>
              <p:cNvCxnSpPr>
                <a:cxnSpLocks/>
                <a:stCxn id="50" idx="4"/>
                <a:endCxn id="52" idx="0"/>
              </p:cNvCxnSpPr>
              <p:nvPr/>
            </p:nvCxnSpPr>
            <p:spPr>
              <a:xfrm>
                <a:off x="13553658" y="4437848"/>
                <a:ext cx="215850" cy="6018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4951682-AF74-48CD-BC89-42CA7A5927A5}"/>
                  </a:ext>
                </a:extLst>
              </p:cNvPr>
              <p:cNvSpPr txBox="1"/>
              <p:nvPr/>
            </p:nvSpPr>
            <p:spPr>
              <a:xfrm>
                <a:off x="13036004" y="3877890"/>
                <a:ext cx="677619" cy="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2"/>
                    </a:solidFill>
                  </a:defRPr>
                </a:lvl1pPr>
              </a:lstStyle>
              <a:p>
                <a:r>
                  <a:rPr lang="en-GB" sz="900" dirty="0"/>
                  <a:t>in&gt;10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AC2149-87FE-4E61-AE5A-925E113E85B4}"/>
                  </a:ext>
                </a:extLst>
              </p:cNvPr>
              <p:cNvSpPr txBox="1"/>
              <p:nvPr/>
            </p:nvSpPr>
            <p:spPr>
              <a:xfrm>
                <a:off x="12632729" y="4580812"/>
                <a:ext cx="1131118" cy="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900" dirty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out1  </a:t>
                </a:r>
                <a:r>
                  <a:rPr lang="en-GB" sz="900" dirty="0">
                    <a:solidFill>
                      <a:schemeClr val="tx2"/>
                    </a:solidFill>
                  </a:rPr>
                  <a:t>False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1E51F3F-6690-41AB-B6FB-4CDBF0864A04}"/>
                  </a:ext>
                </a:extLst>
              </p:cNvPr>
              <p:cNvSpPr txBox="1"/>
              <p:nvPr/>
            </p:nvSpPr>
            <p:spPr>
              <a:xfrm>
                <a:off x="13991916" y="4577628"/>
                <a:ext cx="1064567" cy="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900" dirty="0">
                    <a:solidFill>
                      <a:schemeClr val="tx2"/>
                    </a:solidFill>
                  </a:rPr>
                  <a:t>out1 </a:t>
                </a:r>
                <a:r>
                  <a:rPr lang="en-GB" sz="900" dirty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</a:t>
                </a:r>
                <a:r>
                  <a:rPr lang="en-GB" sz="900" dirty="0">
                    <a:solidFill>
                      <a:schemeClr val="tx2"/>
                    </a:solidFill>
                  </a:rPr>
                  <a:t> True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B8A6923-10B3-4DF5-8901-17B5E001D057}"/>
                  </a:ext>
                </a:extLst>
              </p:cNvPr>
              <p:cNvSpPr txBox="1"/>
              <p:nvPr/>
            </p:nvSpPr>
            <p:spPr>
              <a:xfrm>
                <a:off x="13980488" y="3870481"/>
                <a:ext cx="575672" cy="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900" dirty="0">
                    <a:solidFill>
                      <a:schemeClr val="tx2"/>
                    </a:solidFill>
                  </a:rPr>
                  <a:t>in</a:t>
                </a:r>
                <a:r>
                  <a:rPr lang="en-US" sz="900" dirty="0">
                    <a:solidFill>
                      <a:schemeClr val="tx2"/>
                    </a:solidFill>
                  </a:rPr>
                  <a:t>≤1</a:t>
                </a:r>
                <a:r>
                  <a:rPr lang="en-GB" sz="900" dirty="0">
                    <a:solidFill>
                      <a:schemeClr val="tx2"/>
                    </a:solidFill>
                  </a:rPr>
                  <a:t>0</a:t>
                </a:r>
                <a:endParaRPr lang="en-GB" sz="900" dirty="0"/>
              </a:p>
            </p:txBody>
          </p: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B4AC30C-F954-4DA8-BD10-671BA01344A8}"/>
                  </a:ext>
                </a:extLst>
              </p:cNvPr>
              <p:cNvCxnSpPr>
                <a:cxnSpLocks/>
                <a:stCxn id="51" idx="4"/>
                <a:endCxn id="52" idx="0"/>
              </p:cNvCxnSpPr>
              <p:nvPr/>
            </p:nvCxnSpPr>
            <p:spPr>
              <a:xfrm flipH="1">
                <a:off x="13769508" y="4433717"/>
                <a:ext cx="246672" cy="6059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0C073F5-FF81-4D03-8325-A23DBAFA83E2}"/>
                  </a:ext>
                </a:extLst>
              </p:cNvPr>
              <p:cNvSpPr txBox="1"/>
              <p:nvPr/>
            </p:nvSpPr>
            <p:spPr>
              <a:xfrm>
                <a:off x="12666642" y="4773213"/>
                <a:ext cx="1047311" cy="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900" dirty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out2  </a:t>
                </a:r>
                <a:r>
                  <a:rPr lang="en-GB" sz="900" dirty="0">
                    <a:solidFill>
                      <a:schemeClr val="tx2"/>
                    </a:solidFill>
                  </a:rPr>
                  <a:t>True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9A28DE7-0B2A-47C2-9347-875A49C809CA}"/>
                  </a:ext>
                </a:extLst>
              </p:cNvPr>
              <p:cNvSpPr txBox="1"/>
              <p:nvPr/>
            </p:nvSpPr>
            <p:spPr>
              <a:xfrm>
                <a:off x="13927081" y="4766348"/>
                <a:ext cx="1064568" cy="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900" dirty="0">
                    <a:solidFill>
                      <a:schemeClr val="tx2"/>
                    </a:solidFill>
                  </a:rPr>
                  <a:t>out2 </a:t>
                </a:r>
                <a:r>
                  <a:rPr lang="en-GB" sz="900" dirty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</a:t>
                </a:r>
                <a:r>
                  <a:rPr lang="en-GB" sz="900" dirty="0">
                    <a:solidFill>
                      <a:schemeClr val="tx2"/>
                    </a:solidFill>
                  </a:rPr>
                  <a:t> False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A3780FA-A5AC-4555-B574-54EAB153E74E}"/>
                  </a:ext>
                </a:extLst>
              </p:cNvPr>
              <p:cNvSpPr/>
              <p:nvPr/>
            </p:nvSpPr>
            <p:spPr>
              <a:xfrm>
                <a:off x="13558678" y="3697236"/>
                <a:ext cx="407679" cy="2405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800" dirty="0"/>
                  <a:t>l0</a:t>
                </a:r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3980A92F-5DDF-4E27-9613-E04199123111}"/>
                  </a:ext>
                </a:extLst>
              </p:cNvPr>
              <p:cNvCxnSpPr>
                <a:cxnSpLocks/>
                <a:stCxn id="49" idx="4"/>
                <a:endCxn id="101" idx="0"/>
              </p:cNvCxnSpPr>
              <p:nvPr/>
            </p:nvCxnSpPr>
            <p:spPr>
              <a:xfrm flipH="1">
                <a:off x="13762518" y="3436634"/>
                <a:ext cx="191" cy="2606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7242826-86C0-42D6-AEC7-86C35255E842}"/>
                  </a:ext>
                </a:extLst>
              </p:cNvPr>
              <p:cNvSpPr/>
              <p:nvPr/>
            </p:nvSpPr>
            <p:spPr>
              <a:xfrm>
                <a:off x="12485657" y="3189652"/>
                <a:ext cx="1278470" cy="2170401"/>
              </a:xfrm>
              <a:custGeom>
                <a:avLst/>
                <a:gdLst>
                  <a:gd name="connsiteX0" fmla="*/ 1278470 w 1278470"/>
                  <a:gd name="connsiteY0" fmla="*/ 2116741 h 2198299"/>
                  <a:gd name="connsiteX1" fmla="*/ 651937 w 1278470"/>
                  <a:gd name="connsiteY1" fmla="*/ 2159074 h 2198299"/>
                  <a:gd name="connsiteX2" fmla="*/ 3 w 1278470"/>
                  <a:gd name="connsiteY2" fmla="*/ 1625674 h 2198299"/>
                  <a:gd name="connsiteX3" fmla="*/ 660403 w 1278470"/>
                  <a:gd name="connsiteY3" fmla="*/ 194808 h 2198299"/>
                  <a:gd name="connsiteX4" fmla="*/ 1024470 w 1278470"/>
                  <a:gd name="connsiteY4" fmla="*/ 50874 h 219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8470" h="2198299">
                    <a:moveTo>
                      <a:pt x="1278470" y="2116741"/>
                    </a:moveTo>
                    <a:cubicBezTo>
                      <a:pt x="1071742" y="2178829"/>
                      <a:pt x="865015" y="2240918"/>
                      <a:pt x="651937" y="2159074"/>
                    </a:cubicBezTo>
                    <a:cubicBezTo>
                      <a:pt x="438859" y="2077230"/>
                      <a:pt x="-1408" y="1953052"/>
                      <a:pt x="3" y="1625674"/>
                    </a:cubicBezTo>
                    <a:cubicBezTo>
                      <a:pt x="1414" y="1298296"/>
                      <a:pt x="489659" y="457275"/>
                      <a:pt x="660403" y="194808"/>
                    </a:cubicBezTo>
                    <a:cubicBezTo>
                      <a:pt x="831147" y="-67659"/>
                      <a:pt x="927808" y="-8393"/>
                      <a:pt x="1024470" y="50874"/>
                    </a:cubicBezTo>
                  </a:path>
                </a:pathLst>
              </a:custGeom>
              <a:noFill/>
              <a:ln w="9525"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400"/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6669EC2-57DF-4A39-B220-CC16EF9D492F}"/>
                </a:ext>
              </a:extLst>
            </p:cNvPr>
            <p:cNvSpPr txBox="1"/>
            <p:nvPr/>
          </p:nvSpPr>
          <p:spPr>
            <a:xfrm>
              <a:off x="13706292" y="3771232"/>
              <a:ext cx="122699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900" dirty="0">
                  <a:solidFill>
                    <a:schemeClr val="tx2"/>
                  </a:solidFill>
                </a:rPr>
                <a:t>in </a:t>
              </a:r>
              <a:r>
                <a:rPr lang="en-GB" sz="900" dirty="0">
                  <a:solidFill>
                    <a:schemeClr val="tx2"/>
                  </a:solidFill>
                  <a:sym typeface="Wingdings" panose="05000000000000000000" pitchFamily="2" charset="2"/>
                </a:rPr>
                <a:t> </a:t>
              </a:r>
              <a:r>
                <a:rPr lang="en-GB" sz="900" dirty="0" err="1">
                  <a:solidFill>
                    <a:schemeClr val="tx2"/>
                  </a:solidFill>
                  <a:sym typeface="Wingdings" panose="05000000000000000000" pitchFamily="2" charset="2"/>
                </a:rPr>
                <a:t>IntNonDet</a:t>
              </a:r>
              <a:r>
                <a:rPr lang="en-GB" sz="900" dirty="0">
                  <a:solidFill>
                    <a:schemeClr val="tx2"/>
                  </a:solidFill>
                  <a:sym typeface="Wingdings" panose="05000000000000000000" pitchFamily="2" charset="2"/>
                </a:rPr>
                <a:t>()</a:t>
              </a:r>
              <a:endParaRPr lang="en-GB" sz="900" dirty="0"/>
            </a:p>
          </p:txBody>
        </p:sp>
      </p:grpSp>
      <p:sp>
        <p:nvSpPr>
          <p:cNvPr id="107" name="Footer Placeholder 4">
            <a:extLst>
              <a:ext uri="{FF2B5EF4-FFF2-40B4-BE49-F238E27FC236}">
                <a16:creationId xmlns:a16="http://schemas.microsoft.com/office/drawing/2014/main" id="{ADA4A423-D83B-48C0-A473-01F233D2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59262" y="6383848"/>
            <a:ext cx="6572221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8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 animBg="1"/>
      <p:bldP spid="80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1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11664675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Model checking challenges – Variable simplification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Simplification of numeric variables for PLC model checking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9548B-816F-40D6-A60F-70A5334C5440}"/>
              </a:ext>
            </a:extLst>
          </p:cNvPr>
          <p:cNvGrpSpPr/>
          <p:nvPr/>
        </p:nvGrpSpPr>
        <p:grpSpPr>
          <a:xfrm>
            <a:off x="2567274" y="1524921"/>
            <a:ext cx="1962348" cy="2255572"/>
            <a:chOff x="1465579" y="624282"/>
            <a:chExt cx="1962348" cy="2255572"/>
          </a:xfrm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7AFF493E-9DA9-4312-AE0F-4184E6501A95}"/>
                </a:ext>
              </a:extLst>
            </p:cNvPr>
            <p:cNvSpPr/>
            <p:nvPr/>
          </p:nvSpPr>
          <p:spPr>
            <a:xfrm rot="5400000">
              <a:off x="1318967" y="770894"/>
              <a:ext cx="2255572" cy="1962348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Hexagon 4">
              <a:extLst>
                <a:ext uri="{FF2B5EF4-FFF2-40B4-BE49-F238E27FC236}">
                  <a16:creationId xmlns:a16="http://schemas.microsoft.com/office/drawing/2014/main" id="{D2B068A8-4059-4F81-A32A-4E0186D93766}"/>
                </a:ext>
              </a:extLst>
            </p:cNvPr>
            <p:cNvSpPr txBox="1"/>
            <p:nvPr/>
          </p:nvSpPr>
          <p:spPr>
            <a:xfrm>
              <a:off x="1465579" y="975775"/>
              <a:ext cx="1962348" cy="15525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/>
                <a:t>Formal specification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5C6AC-8CEF-4B17-B235-1E510205697A}"/>
              </a:ext>
            </a:extLst>
          </p:cNvPr>
          <p:cNvGrpSpPr/>
          <p:nvPr/>
        </p:nvGrpSpPr>
        <p:grpSpPr>
          <a:xfrm>
            <a:off x="4611572" y="1524921"/>
            <a:ext cx="1962348" cy="2255572"/>
            <a:chOff x="1465579" y="624282"/>
            <a:chExt cx="1962348" cy="2255572"/>
          </a:xfrm>
        </p:grpSpPr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F582DBAA-B497-4B06-B1B0-A621BE84F928}"/>
                </a:ext>
              </a:extLst>
            </p:cNvPr>
            <p:cNvSpPr/>
            <p:nvPr/>
          </p:nvSpPr>
          <p:spPr>
            <a:xfrm rot="5400000">
              <a:off x="1318967" y="770894"/>
              <a:ext cx="2255572" cy="1962348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Hexagon 4">
              <a:extLst>
                <a:ext uri="{FF2B5EF4-FFF2-40B4-BE49-F238E27FC236}">
                  <a16:creationId xmlns:a16="http://schemas.microsoft.com/office/drawing/2014/main" id="{6ED12120-8105-4ADE-8A6B-8D656EA224B0}"/>
                </a:ext>
              </a:extLst>
            </p:cNvPr>
            <p:cNvSpPr txBox="1"/>
            <p:nvPr/>
          </p:nvSpPr>
          <p:spPr>
            <a:xfrm>
              <a:off x="1465579" y="975775"/>
              <a:ext cx="1962348" cy="15525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/>
                <a:t>Requirement formalization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5C025C-C4AB-42CA-9290-4A09C39AE8FC}"/>
              </a:ext>
            </a:extLst>
          </p:cNvPr>
          <p:cNvGrpSpPr/>
          <p:nvPr/>
        </p:nvGrpSpPr>
        <p:grpSpPr>
          <a:xfrm>
            <a:off x="3596316" y="3371588"/>
            <a:ext cx="1962348" cy="2255572"/>
            <a:chOff x="1465579" y="624282"/>
            <a:chExt cx="1962348" cy="2255572"/>
          </a:xfrm>
        </p:grpSpPr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D5079759-6D8A-4200-A1F7-DD1197055652}"/>
                </a:ext>
              </a:extLst>
            </p:cNvPr>
            <p:cNvSpPr/>
            <p:nvPr/>
          </p:nvSpPr>
          <p:spPr>
            <a:xfrm rot="5400000">
              <a:off x="1318967" y="770894"/>
              <a:ext cx="2255572" cy="1962348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Hexagon 4">
              <a:extLst>
                <a:ext uri="{FF2B5EF4-FFF2-40B4-BE49-F238E27FC236}">
                  <a16:creationId xmlns:a16="http://schemas.microsoft.com/office/drawing/2014/main" id="{B5531ADD-8EEE-4E04-BD30-2EF360115E27}"/>
                </a:ext>
              </a:extLst>
            </p:cNvPr>
            <p:cNvSpPr txBox="1"/>
            <p:nvPr/>
          </p:nvSpPr>
          <p:spPr>
            <a:xfrm>
              <a:off x="1465579" y="975775"/>
              <a:ext cx="1962348" cy="15525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/>
                <a:t>Counterexample analysis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D7DCB1-C811-476B-82F9-368B028EB593}"/>
              </a:ext>
            </a:extLst>
          </p:cNvPr>
          <p:cNvGrpSpPr/>
          <p:nvPr/>
        </p:nvGrpSpPr>
        <p:grpSpPr>
          <a:xfrm>
            <a:off x="5640614" y="3371588"/>
            <a:ext cx="1962348" cy="2255572"/>
            <a:chOff x="1465579" y="624282"/>
            <a:chExt cx="1962348" cy="2255572"/>
          </a:xfrm>
        </p:grpSpPr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DDEB529D-03E4-4F0E-BB7A-3CB77C43CBF0}"/>
                </a:ext>
              </a:extLst>
            </p:cNvPr>
            <p:cNvSpPr/>
            <p:nvPr/>
          </p:nvSpPr>
          <p:spPr>
            <a:xfrm rot="5400000">
              <a:off x="1318967" y="770894"/>
              <a:ext cx="2255572" cy="1962348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Hexagon 4">
              <a:extLst>
                <a:ext uri="{FF2B5EF4-FFF2-40B4-BE49-F238E27FC236}">
                  <a16:creationId xmlns:a16="http://schemas.microsoft.com/office/drawing/2014/main" id="{8B8E24A9-1E00-4087-A573-05BB0ED3351A}"/>
                </a:ext>
              </a:extLst>
            </p:cNvPr>
            <p:cNvSpPr txBox="1"/>
            <p:nvPr/>
          </p:nvSpPr>
          <p:spPr>
            <a:xfrm>
              <a:off x="1465579" y="975775"/>
              <a:ext cx="1962348" cy="15525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/>
                <a:t>State-space explosion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9037723-75DB-422C-A945-73FF11F65523}"/>
              </a:ext>
            </a:extLst>
          </p:cNvPr>
          <p:cNvSpPr txBox="1"/>
          <p:nvPr/>
        </p:nvSpPr>
        <p:spPr>
          <a:xfrm>
            <a:off x="7731996" y="3568632"/>
            <a:ext cx="3908620" cy="208262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indent="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1600" b="1">
                <a:solidFill>
                  <a:schemeClr val="tx2">
                    <a:lumMod val="50000"/>
                  </a:schemeClr>
                </a:solidFill>
              </a:defRPr>
            </a:lvl1pPr>
            <a:lvl2pPr marL="323850" lvl="1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2pPr>
            <a:lvl3pPr marL="648000" lvl="2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1"/>
            <a:r>
              <a:rPr lang="en-US" dirty="0"/>
              <a:t>Several variables</a:t>
            </a:r>
          </a:p>
          <a:p>
            <a:pPr lvl="1"/>
            <a:r>
              <a:rPr lang="en-US" dirty="0"/>
              <a:t>A lot of interaction among variables</a:t>
            </a:r>
          </a:p>
          <a:p>
            <a:pPr lvl="1"/>
            <a:r>
              <a:rPr lang="en-US" dirty="0"/>
              <a:t>Big data types</a:t>
            </a:r>
          </a:p>
          <a:p>
            <a:pPr lvl="2"/>
            <a:r>
              <a:rPr lang="en-US" dirty="0"/>
              <a:t>Integers</a:t>
            </a:r>
          </a:p>
          <a:p>
            <a:pPr lvl="2"/>
            <a:r>
              <a:rPr lang="en-US" dirty="0"/>
              <a:t>Reals</a:t>
            </a:r>
          </a:p>
          <a:p>
            <a:pPr lvl="2"/>
            <a:r>
              <a:rPr lang="en-US" dirty="0"/>
              <a:t>Words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06F833-13D6-44BF-B616-0502C30413A3}"/>
              </a:ext>
            </a:extLst>
          </p:cNvPr>
          <p:cNvSpPr/>
          <p:nvPr/>
        </p:nvSpPr>
        <p:spPr>
          <a:xfrm>
            <a:off x="7693058" y="4221088"/>
            <a:ext cx="3659526" cy="986550"/>
          </a:xfrm>
          <a:prstGeom prst="rect">
            <a:avLst/>
          </a:prstGeom>
          <a:solidFill>
            <a:schemeClr val="tx1">
              <a:alpha val="10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Variable simplification – State of the art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8" name="Rectangle: Rounded Corners 30">
            <a:extLst>
              <a:ext uri="{FF2B5EF4-FFF2-40B4-BE49-F238E27FC236}">
                <a16:creationId xmlns:a16="http://schemas.microsoft.com/office/drawing/2014/main" id="{67172EA1-7BD2-4426-8F96-E538D79627A5}"/>
              </a:ext>
            </a:extLst>
          </p:cNvPr>
          <p:cNvSpPr/>
          <p:nvPr/>
        </p:nvSpPr>
        <p:spPr>
          <a:xfrm>
            <a:off x="3051889" y="2325625"/>
            <a:ext cx="2304256" cy="10657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Counterexample-guided abstraction refinement (CEGAR)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1BCE9D2D-8073-4551-8BCD-313B708F2357}"/>
              </a:ext>
            </a:extLst>
          </p:cNvPr>
          <p:cNvSpPr/>
          <p:nvPr/>
        </p:nvSpPr>
        <p:spPr>
          <a:xfrm>
            <a:off x="623392" y="2306054"/>
            <a:ext cx="2304256" cy="10657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Predicate abstraction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10" name="Rectangle: Rounded Corners 30">
            <a:extLst>
              <a:ext uri="{FF2B5EF4-FFF2-40B4-BE49-F238E27FC236}">
                <a16:creationId xmlns:a16="http://schemas.microsoft.com/office/drawing/2014/main" id="{C1F37089-AD76-48C8-886C-0D50FF2376B8}"/>
              </a:ext>
            </a:extLst>
          </p:cNvPr>
          <p:cNvSpPr/>
          <p:nvPr/>
        </p:nvSpPr>
        <p:spPr>
          <a:xfrm>
            <a:off x="623392" y="3512582"/>
            <a:ext cx="2304256" cy="10657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Satisfiability Modulo Theories (SMT)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11" name="Rectangle: Rounded Corners 30">
            <a:extLst>
              <a:ext uri="{FF2B5EF4-FFF2-40B4-BE49-F238E27FC236}">
                <a16:creationId xmlns:a16="http://schemas.microsoft.com/office/drawing/2014/main" id="{D304E3BA-855F-4135-B9F6-66BD15A91FFF}"/>
              </a:ext>
            </a:extLst>
          </p:cNvPr>
          <p:cNvSpPr/>
          <p:nvPr/>
        </p:nvSpPr>
        <p:spPr>
          <a:xfrm>
            <a:off x="3058168" y="3531119"/>
            <a:ext cx="2304256" cy="10657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Manual boundary setting</a:t>
            </a:r>
            <a:endParaRPr lang="es-ES" sz="1600" dirty="0">
              <a:solidFill>
                <a:schemeClr val="lt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17D5AC-6165-4D63-8889-D744E16E89BA}"/>
              </a:ext>
            </a:extLst>
          </p:cNvPr>
          <p:cNvGrpSpPr/>
          <p:nvPr/>
        </p:nvGrpSpPr>
        <p:grpSpPr>
          <a:xfrm>
            <a:off x="6749770" y="1737818"/>
            <a:ext cx="2113280" cy="595253"/>
            <a:chOff x="0" y="664"/>
            <a:chExt cx="2113280" cy="595253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83472CDF-077B-4D75-A8BB-557CCD407693}"/>
                </a:ext>
              </a:extLst>
            </p:cNvPr>
            <p:cNvSpPr/>
            <p:nvPr/>
          </p:nvSpPr>
          <p:spPr>
            <a:xfrm>
              <a:off x="0" y="664"/>
              <a:ext cx="2113280" cy="595253"/>
            </a:xfrm>
            <a:prstGeom prst="round2SameRect">
              <a:avLst>
                <a:gd name="adj1" fmla="val 16670"/>
                <a:gd name="adj2" fmla="val 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ectangle: Top Corners Rounded 6">
              <a:extLst>
                <a:ext uri="{FF2B5EF4-FFF2-40B4-BE49-F238E27FC236}">
                  <a16:creationId xmlns:a16="http://schemas.microsoft.com/office/drawing/2014/main" id="{D075DEF5-8FD0-4207-BB45-4020B6CACB05}"/>
                </a:ext>
              </a:extLst>
            </p:cNvPr>
            <p:cNvSpPr txBox="1"/>
            <p:nvPr/>
          </p:nvSpPr>
          <p:spPr>
            <a:xfrm>
              <a:off x="29063" y="29727"/>
              <a:ext cx="2055154" cy="5661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865" tIns="62865" rIns="62865" bIns="62865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Deficiencies</a:t>
              </a:r>
              <a:endParaRPr lang="es-ES" sz="2400" kern="1200" dirty="0"/>
            </a:p>
          </p:txBody>
        </p:sp>
      </p:grp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1B1B23A7-8C65-4185-9F5F-4B503A3349C8}"/>
              </a:ext>
            </a:extLst>
          </p:cNvPr>
          <p:cNvSpPr/>
          <p:nvPr/>
        </p:nvSpPr>
        <p:spPr>
          <a:xfrm>
            <a:off x="6778833" y="2333071"/>
            <a:ext cx="4933791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16B605-40C0-4A97-90F7-B19177F5AE16}"/>
              </a:ext>
            </a:extLst>
          </p:cNvPr>
          <p:cNvSpPr txBox="1"/>
          <p:nvPr/>
        </p:nvSpPr>
        <p:spPr>
          <a:xfrm>
            <a:off x="6820174" y="2601914"/>
            <a:ext cx="4489414" cy="1763190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indent="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1600" b="1">
                <a:solidFill>
                  <a:schemeClr val="tx2">
                    <a:lumMod val="50000"/>
                  </a:schemeClr>
                </a:solidFill>
              </a:defRPr>
            </a:lvl1pPr>
            <a:lvl2pPr marL="32385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1"/>
            <a:r>
              <a:rPr lang="en-US" dirty="0"/>
              <a:t>Refinement needed</a:t>
            </a:r>
          </a:p>
          <a:p>
            <a:pPr lvl="1"/>
            <a:r>
              <a:rPr lang="en-US" dirty="0"/>
              <a:t>Specific to the model checker</a:t>
            </a:r>
          </a:p>
          <a:p>
            <a:pPr lvl="1"/>
            <a:r>
              <a:rPr lang="en-US" dirty="0"/>
              <a:t>Manual</a:t>
            </a:r>
          </a:p>
          <a:p>
            <a:pPr lvl="1"/>
            <a:r>
              <a:rPr lang="en-US" dirty="0"/>
              <a:t>One single counterexample given</a:t>
            </a:r>
          </a:p>
          <a:p>
            <a:pPr lvl="1"/>
            <a:r>
              <a:rPr lang="en-US" dirty="0"/>
              <a:t>Not widely used for PLC programs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0CBBF-0472-4A80-B74C-3F9E247B4901}"/>
              </a:ext>
            </a:extLst>
          </p:cNvPr>
          <p:cNvGrpSpPr/>
          <p:nvPr/>
        </p:nvGrpSpPr>
        <p:grpSpPr>
          <a:xfrm>
            <a:off x="439828" y="2224995"/>
            <a:ext cx="5040559" cy="1248840"/>
            <a:chOff x="479376" y="2108152"/>
            <a:chExt cx="5040559" cy="124884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266A155-0C51-4679-8D4F-7570307892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2108152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891DB4-DF15-41C2-8C64-85A60DB4D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376" y="2132857"/>
              <a:ext cx="0" cy="122413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CAA3523-FA8E-4A3B-9BBE-408EFEE66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3356992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C7EB857-A591-42E5-AD6D-8E86DE738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9935" y="2108152"/>
              <a:ext cx="0" cy="122413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93CB6D0-5CF6-4AD5-94A6-5093668880F5}"/>
              </a:ext>
            </a:extLst>
          </p:cNvPr>
          <p:cNvGrpSpPr/>
          <p:nvPr/>
        </p:nvGrpSpPr>
        <p:grpSpPr>
          <a:xfrm>
            <a:off x="485056" y="2179112"/>
            <a:ext cx="5040560" cy="2546032"/>
            <a:chOff x="10560492" y="3044276"/>
            <a:chExt cx="5040560" cy="254603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A834C0-3209-4A18-8363-44E1F0A991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60492" y="3044276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ADAFE85-3B2D-494B-B710-6073B36CDF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60493" y="3068982"/>
              <a:ext cx="1" cy="2521326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0A7D5B-DAC1-49F3-BA16-0053A136BD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60494" y="5590308"/>
              <a:ext cx="2520277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E8B2E8F-DA64-4EB4-A162-E464AC794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01051" y="3044276"/>
              <a:ext cx="0" cy="122413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D04219-F945-4C2A-ABFD-E4D3047932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80771" y="4293116"/>
              <a:ext cx="2520281" cy="2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47DB7D4-3C2C-42F3-8328-E4BFBBB8AF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80771" y="4293118"/>
              <a:ext cx="0" cy="129719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E9419BA-CF83-40C3-87F8-E9857ADE02CF}"/>
              </a:ext>
            </a:extLst>
          </p:cNvPr>
          <p:cNvGrpSpPr/>
          <p:nvPr/>
        </p:nvGrpSpPr>
        <p:grpSpPr>
          <a:xfrm>
            <a:off x="447910" y="2216715"/>
            <a:ext cx="5040559" cy="2477135"/>
            <a:chOff x="479376" y="2176001"/>
            <a:chExt cx="5040559" cy="2477135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FBA8D5-495C-4910-805B-460197BB2F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2176001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978914E-16F8-4DF8-88A8-B0A90B991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376" y="2200707"/>
              <a:ext cx="0" cy="2452429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577780C-AB2B-4E66-BBE5-21B73E596C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4653136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86ACE55-3E46-4D56-BD43-EF033F5742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9935" y="2176002"/>
              <a:ext cx="0" cy="2477134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A2C26F-F168-4CCC-9B17-B26F593839A2}"/>
              </a:ext>
            </a:extLst>
          </p:cNvPr>
          <p:cNvGrpSpPr/>
          <p:nvPr/>
        </p:nvGrpSpPr>
        <p:grpSpPr>
          <a:xfrm>
            <a:off x="3000889" y="3449130"/>
            <a:ext cx="2483944" cy="1248840"/>
            <a:chOff x="479376" y="2108152"/>
            <a:chExt cx="5040559" cy="1248840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E2EA3C5-823C-4609-A381-9651965190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2108152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C08FF53-CB39-40CE-894E-7BC659FFD8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376" y="2132857"/>
              <a:ext cx="0" cy="122413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1FC08B2-DA90-4E5E-B5B9-CA89BC63A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3356992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1828FC3-2F2B-44AA-ABB9-C0D8EF606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9935" y="2108152"/>
              <a:ext cx="0" cy="1224135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65BC138-F017-4F44-A8AB-61DB66279EB6}"/>
              </a:ext>
            </a:extLst>
          </p:cNvPr>
          <p:cNvGrpSpPr/>
          <p:nvPr/>
        </p:nvGrpSpPr>
        <p:grpSpPr>
          <a:xfrm>
            <a:off x="462441" y="2248009"/>
            <a:ext cx="5040559" cy="2477135"/>
            <a:chOff x="479376" y="2176001"/>
            <a:chExt cx="5040559" cy="2477135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BD6D21C-001A-47AF-8151-D2EFF96002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2176001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8235CD8-AEA4-471C-B4A0-2492024AED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376" y="2200707"/>
              <a:ext cx="0" cy="2452429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6935C52-9BE7-42C9-A2AB-F1B23E56B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76" y="4653136"/>
              <a:ext cx="5040559" cy="0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A4B13D6-7EE1-43AC-BE39-8641CE725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9935" y="2176002"/>
              <a:ext cx="0" cy="2477134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868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Variable simplification – Contribution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C5E2D75-16BF-44B5-8DD2-0A942BA41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3197402"/>
              </p:ext>
            </p:extLst>
          </p:nvPr>
        </p:nvGraphicFramePr>
        <p:xfrm>
          <a:off x="2032000" y="1377209"/>
          <a:ext cx="8128000" cy="1475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B961669-F314-4DE4-8F88-5F510125E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683810"/>
              </p:ext>
            </p:extLst>
          </p:nvPr>
        </p:nvGraphicFramePr>
        <p:xfrm>
          <a:off x="1759744" y="3461005"/>
          <a:ext cx="8728744" cy="2344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16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11784011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Variable simplification – Conditional pattern example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2736B-5DEF-41A4-98ED-02142E434CFA}"/>
              </a:ext>
            </a:extLst>
          </p:cNvPr>
          <p:cNvSpPr txBox="1"/>
          <p:nvPr/>
        </p:nvSpPr>
        <p:spPr>
          <a:xfrm>
            <a:off x="9612718" y="4946045"/>
            <a:ext cx="18354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X has 5 possible values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B442344-1AF5-4B01-8214-0415DAFDA6E9}"/>
              </a:ext>
            </a:extLst>
          </p:cNvPr>
          <p:cNvSpPr/>
          <p:nvPr/>
        </p:nvSpPr>
        <p:spPr>
          <a:xfrm>
            <a:off x="2404231" y="2968087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5FCF948-708E-4E7A-BF7D-DBCB06843857}"/>
              </a:ext>
            </a:extLst>
          </p:cNvPr>
          <p:cNvSpPr/>
          <p:nvPr/>
        </p:nvSpPr>
        <p:spPr>
          <a:xfrm>
            <a:off x="5649530" y="2968087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E187E6-0CA7-4A70-A0EC-9E3E65F63549}"/>
              </a:ext>
            </a:extLst>
          </p:cNvPr>
          <p:cNvSpPr/>
          <p:nvPr/>
        </p:nvSpPr>
        <p:spPr>
          <a:xfrm>
            <a:off x="8904356" y="2968087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081DD9-C5B7-4A0C-9A99-BF6374276CF8}"/>
              </a:ext>
            </a:extLst>
          </p:cNvPr>
          <p:cNvCxnSpPr>
            <a:cxnSpLocks/>
          </p:cNvCxnSpPr>
          <p:nvPr/>
        </p:nvCxnSpPr>
        <p:spPr>
          <a:xfrm>
            <a:off x="6268691" y="3087232"/>
            <a:ext cx="2528723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0E5974-AEE8-46D9-8D14-24E4CD5D7D0B}"/>
              </a:ext>
            </a:extLst>
          </p:cNvPr>
          <p:cNvCxnSpPr>
            <a:cxnSpLocks/>
          </p:cNvCxnSpPr>
          <p:nvPr/>
        </p:nvCxnSpPr>
        <p:spPr>
          <a:xfrm flipV="1">
            <a:off x="6470882" y="2899378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A5EF3D-CB4A-4456-B416-567DF4E7E101}"/>
              </a:ext>
            </a:extLst>
          </p:cNvPr>
          <p:cNvCxnSpPr>
            <a:cxnSpLocks/>
          </p:cNvCxnSpPr>
          <p:nvPr/>
        </p:nvCxnSpPr>
        <p:spPr>
          <a:xfrm flipV="1">
            <a:off x="7245605" y="2899378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AA4D60-D00A-484A-B0EC-AA8FB7763B0C}"/>
              </a:ext>
            </a:extLst>
          </p:cNvPr>
          <p:cNvCxnSpPr>
            <a:cxnSpLocks/>
          </p:cNvCxnSpPr>
          <p:nvPr/>
        </p:nvCxnSpPr>
        <p:spPr>
          <a:xfrm flipV="1">
            <a:off x="7571659" y="2899378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5E634B-CC54-4209-8758-FEE343A85C68}"/>
              </a:ext>
            </a:extLst>
          </p:cNvPr>
          <p:cNvCxnSpPr>
            <a:cxnSpLocks/>
          </p:cNvCxnSpPr>
          <p:nvPr/>
        </p:nvCxnSpPr>
        <p:spPr>
          <a:xfrm flipV="1">
            <a:off x="8029182" y="2899378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471CE4-FD53-4B9E-B673-DCAB2AAB7B06}"/>
              </a:ext>
            </a:extLst>
          </p:cNvPr>
          <p:cNvSpPr txBox="1"/>
          <p:nvPr/>
        </p:nvSpPr>
        <p:spPr>
          <a:xfrm>
            <a:off x="6253553" y="3296017"/>
            <a:ext cx="434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-50</a:t>
            </a:r>
            <a:endParaRPr lang="es-E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02D75D-61F5-4073-8CC7-3101C22C040A}"/>
              </a:ext>
            </a:extLst>
          </p:cNvPr>
          <p:cNvSpPr txBox="1"/>
          <p:nvPr/>
        </p:nvSpPr>
        <p:spPr>
          <a:xfrm>
            <a:off x="7098394" y="3296017"/>
            <a:ext cx="294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0</a:t>
            </a:r>
            <a:endParaRPr lang="es-E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D70690-5CE5-4498-9675-F3C7A38B7BD2}"/>
              </a:ext>
            </a:extLst>
          </p:cNvPr>
          <p:cNvSpPr txBox="1"/>
          <p:nvPr/>
        </p:nvSpPr>
        <p:spPr>
          <a:xfrm>
            <a:off x="7389705" y="3296017"/>
            <a:ext cx="363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20</a:t>
            </a:r>
            <a:endParaRPr lang="es-E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4A590D-B508-45AD-B05E-C05B5942ABFA}"/>
              </a:ext>
            </a:extLst>
          </p:cNvPr>
          <p:cNvSpPr txBox="1"/>
          <p:nvPr/>
        </p:nvSpPr>
        <p:spPr>
          <a:xfrm>
            <a:off x="7847228" y="3296017"/>
            <a:ext cx="363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50</a:t>
            </a:r>
            <a:endParaRPr lang="es-E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F34A9A-67D4-4642-8584-4EFC51DCAA82}"/>
              </a:ext>
            </a:extLst>
          </p:cNvPr>
          <p:cNvSpPr txBox="1"/>
          <p:nvPr/>
        </p:nvSpPr>
        <p:spPr>
          <a:xfrm>
            <a:off x="8496795" y="3293364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x</a:t>
            </a:r>
            <a:endParaRPr lang="es-E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02EBAA-0CB9-4B6F-A378-072AF154D97C}"/>
              </a:ext>
            </a:extLst>
          </p:cNvPr>
          <p:cNvSpPr txBox="1"/>
          <p:nvPr/>
        </p:nvSpPr>
        <p:spPr>
          <a:xfrm>
            <a:off x="6168008" y="2767887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0</a:t>
            </a:r>
            <a:endParaRPr lang="es-E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8645F1-73E6-4C6E-B7F7-23075CACFDF5}"/>
              </a:ext>
            </a:extLst>
          </p:cNvPr>
          <p:cNvSpPr txBox="1"/>
          <p:nvPr/>
        </p:nvSpPr>
        <p:spPr>
          <a:xfrm>
            <a:off x="6753906" y="2767887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</a:t>
            </a:r>
            <a:endParaRPr lang="es-E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26055D-DF51-4F31-BDF0-7C415757C8A2}"/>
              </a:ext>
            </a:extLst>
          </p:cNvPr>
          <p:cNvSpPr txBox="1"/>
          <p:nvPr/>
        </p:nvSpPr>
        <p:spPr>
          <a:xfrm>
            <a:off x="7288043" y="2767887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2</a:t>
            </a:r>
            <a:endParaRPr lang="es-E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DEA0A1-E550-4D81-8495-0234E70512AB}"/>
              </a:ext>
            </a:extLst>
          </p:cNvPr>
          <p:cNvSpPr txBox="1"/>
          <p:nvPr/>
        </p:nvSpPr>
        <p:spPr>
          <a:xfrm>
            <a:off x="7649882" y="2767887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</a:t>
            </a:r>
            <a:endParaRPr lang="es-E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009CB7-2A47-4574-AFEF-A0074DBA0CBD}"/>
              </a:ext>
            </a:extLst>
          </p:cNvPr>
          <p:cNvSpPr txBox="1"/>
          <p:nvPr/>
        </p:nvSpPr>
        <p:spPr>
          <a:xfrm>
            <a:off x="8088382" y="2767887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</a:t>
            </a:r>
            <a:endParaRPr lang="es-E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90C16-6D0C-4619-BD6B-E07C32E83308}"/>
              </a:ext>
            </a:extLst>
          </p:cNvPr>
          <p:cNvSpPr txBox="1"/>
          <p:nvPr/>
        </p:nvSpPr>
        <p:spPr>
          <a:xfrm>
            <a:off x="8469662" y="2686884"/>
            <a:ext cx="343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x</a:t>
            </a:r>
            <a:endParaRPr lang="es-ES" sz="1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A8F641-758B-41FF-A3DC-45801E1320B9}"/>
              </a:ext>
            </a:extLst>
          </p:cNvPr>
          <p:cNvSpPr txBox="1"/>
          <p:nvPr/>
        </p:nvSpPr>
        <p:spPr>
          <a:xfrm>
            <a:off x="521389" y="1505731"/>
            <a:ext cx="1835455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FUNCTION_BLOCK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VAR_INPUT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x :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END_VAR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VAR_OUTPUT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END_VAR</a:t>
            </a:r>
          </a:p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BEGIN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x&gt;0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x&gt;50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3;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2;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x&lt;-50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0;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1;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//#ASSERT</a:t>
            </a:r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(y=0 </a:t>
            </a:r>
            <a:r>
              <a:rPr lang="en-U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AND</a:t>
            </a:r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x&gt;20);</a:t>
            </a:r>
          </a:p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END_FUNCTION_BLOCK</a:t>
            </a:r>
            <a:endParaRPr lang="es-ES" sz="900" dirty="0"/>
          </a:p>
        </p:txBody>
      </p:sp>
      <p:sp>
        <p:nvSpPr>
          <p:cNvPr id="38" name="Rectangle: Rounded Corners 30">
            <a:extLst>
              <a:ext uri="{FF2B5EF4-FFF2-40B4-BE49-F238E27FC236}">
                <a16:creationId xmlns:a16="http://schemas.microsoft.com/office/drawing/2014/main" id="{D538B495-5981-4737-B7CE-2C73FB600EBE}"/>
              </a:ext>
            </a:extLst>
          </p:cNvPr>
          <p:cNvSpPr/>
          <p:nvPr/>
        </p:nvSpPr>
        <p:spPr>
          <a:xfrm>
            <a:off x="3629814" y="5006130"/>
            <a:ext cx="4491500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From 65536 possible values to 5</a:t>
            </a:r>
          </a:p>
        </p:txBody>
      </p:sp>
      <p:sp>
        <p:nvSpPr>
          <p:cNvPr id="39" name="Rectangle: Rounded Corners 30">
            <a:extLst>
              <a:ext uri="{FF2B5EF4-FFF2-40B4-BE49-F238E27FC236}">
                <a16:creationId xmlns:a16="http://schemas.microsoft.com/office/drawing/2014/main" id="{A2A0F475-5C04-455E-ACED-23536C3E59B4}"/>
              </a:ext>
            </a:extLst>
          </p:cNvPr>
          <p:cNvSpPr/>
          <p:nvPr/>
        </p:nvSpPr>
        <p:spPr>
          <a:xfrm>
            <a:off x="454359" y="1094513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PLC program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69A9488C-97A2-48DE-A9C3-28D4EEBB557B}"/>
              </a:ext>
            </a:extLst>
          </p:cNvPr>
          <p:cNvSpPr/>
          <p:nvPr/>
        </p:nvSpPr>
        <p:spPr>
          <a:xfrm>
            <a:off x="3048414" y="1112387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Original CFA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1" name="Rectangle: Rounded Corners 30">
            <a:extLst>
              <a:ext uri="{FF2B5EF4-FFF2-40B4-BE49-F238E27FC236}">
                <a16:creationId xmlns:a16="http://schemas.microsoft.com/office/drawing/2014/main" id="{A5186A06-17E7-421F-BCCA-E5FAF0BD804C}"/>
              </a:ext>
            </a:extLst>
          </p:cNvPr>
          <p:cNvSpPr/>
          <p:nvPr/>
        </p:nvSpPr>
        <p:spPr>
          <a:xfrm>
            <a:off x="6468221" y="1140679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Transformation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2" name="Rectangle: Rounded Corners 30">
            <a:extLst>
              <a:ext uri="{FF2B5EF4-FFF2-40B4-BE49-F238E27FC236}">
                <a16:creationId xmlns:a16="http://schemas.microsoft.com/office/drawing/2014/main" id="{ED62F9F3-0623-49B2-B8F6-ECCDD1C40FEA}"/>
              </a:ext>
            </a:extLst>
          </p:cNvPr>
          <p:cNvSpPr/>
          <p:nvPr/>
        </p:nvSpPr>
        <p:spPr>
          <a:xfrm>
            <a:off x="9476861" y="1160844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Transformed CFA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B1B35D-6488-488E-80F9-5824CCDA2C50}"/>
              </a:ext>
            </a:extLst>
          </p:cNvPr>
          <p:cNvSpPr txBox="1"/>
          <p:nvPr/>
        </p:nvSpPr>
        <p:spPr>
          <a:xfrm>
            <a:off x="531568" y="4946045"/>
            <a:ext cx="18354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x has 2</a:t>
            </a:r>
            <a:r>
              <a:rPr lang="en-US" baseline="30000" dirty="0"/>
              <a:t>16</a:t>
            </a:r>
            <a:r>
              <a:rPr lang="en-US" dirty="0"/>
              <a:t>=65536 possible values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5D9276D-2EFD-42AE-8058-5162FFCBD7ED}"/>
              </a:ext>
            </a:extLst>
          </p:cNvPr>
          <p:cNvSpPr/>
          <p:nvPr/>
        </p:nvSpPr>
        <p:spPr>
          <a:xfrm>
            <a:off x="3840513" y="2132034"/>
            <a:ext cx="373506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Init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6A04C60-ADAC-4E7C-B464-F80F477CCF37}"/>
              </a:ext>
            </a:extLst>
          </p:cNvPr>
          <p:cNvCxnSpPr>
            <a:cxnSpLocks/>
            <a:stCxn id="44" idx="5"/>
            <a:endCxn id="47" idx="0"/>
          </p:cNvCxnSpPr>
          <p:nvPr/>
        </p:nvCxnSpPr>
        <p:spPr>
          <a:xfrm>
            <a:off x="4159320" y="2337349"/>
            <a:ext cx="604663" cy="40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A61AE9-4542-4EC1-B583-DA030A56D53D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4027266" y="1776644"/>
            <a:ext cx="5726" cy="35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F7BF354-34EE-4C29-999E-9556B5E24B0D}"/>
              </a:ext>
            </a:extLst>
          </p:cNvPr>
          <p:cNvSpPr/>
          <p:nvPr/>
        </p:nvSpPr>
        <p:spPr>
          <a:xfrm>
            <a:off x="4635988" y="274286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1D0FA6-BED3-4C1B-9D5F-401A64B9DDE8}"/>
              </a:ext>
            </a:extLst>
          </p:cNvPr>
          <p:cNvSpPr/>
          <p:nvPr/>
        </p:nvSpPr>
        <p:spPr>
          <a:xfrm>
            <a:off x="3147373" y="2751076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765485-D0D9-4BC1-B19A-2168CB92A93B}"/>
              </a:ext>
            </a:extLst>
          </p:cNvPr>
          <p:cNvSpPr/>
          <p:nvPr/>
        </p:nvSpPr>
        <p:spPr>
          <a:xfrm>
            <a:off x="3904995" y="362344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096324-564B-4AD0-ABF3-B7E8CA5A84DF}"/>
              </a:ext>
            </a:extLst>
          </p:cNvPr>
          <p:cNvSpPr/>
          <p:nvPr/>
        </p:nvSpPr>
        <p:spPr>
          <a:xfrm>
            <a:off x="4214019" y="4203610"/>
            <a:ext cx="573724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Error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0E4FF71-6876-464D-A90A-677782A9A489}"/>
              </a:ext>
            </a:extLst>
          </p:cNvPr>
          <p:cNvCxnSpPr>
            <a:cxnSpLocks/>
            <a:stCxn id="44" idx="3"/>
            <a:endCxn id="48" idx="0"/>
          </p:cNvCxnSpPr>
          <p:nvPr/>
        </p:nvCxnSpPr>
        <p:spPr>
          <a:xfrm flipH="1">
            <a:off x="3275368" y="2337349"/>
            <a:ext cx="619844" cy="413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A8F69E-422F-43CA-916F-E3E8A8B886F2}"/>
              </a:ext>
            </a:extLst>
          </p:cNvPr>
          <p:cNvCxnSpPr>
            <a:cxnSpLocks/>
            <a:stCxn id="49" idx="4"/>
            <a:endCxn id="50" idx="0"/>
          </p:cNvCxnSpPr>
          <p:nvPr/>
        </p:nvCxnSpPr>
        <p:spPr>
          <a:xfrm>
            <a:off x="4032990" y="3863985"/>
            <a:ext cx="467891" cy="33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304564D-9484-4B2B-A016-DAA3D5A7222E}"/>
              </a:ext>
            </a:extLst>
          </p:cNvPr>
          <p:cNvCxnSpPr>
            <a:cxnSpLocks/>
            <a:stCxn id="49" idx="4"/>
            <a:endCxn id="54" idx="0"/>
          </p:cNvCxnSpPr>
          <p:nvPr/>
        </p:nvCxnSpPr>
        <p:spPr>
          <a:xfrm flipH="1">
            <a:off x="3648435" y="3863985"/>
            <a:ext cx="384555" cy="36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41325CDD-62F6-439C-901E-CF6FAA7AD94E}"/>
              </a:ext>
            </a:extLst>
          </p:cNvPr>
          <p:cNvSpPr/>
          <p:nvPr/>
        </p:nvSpPr>
        <p:spPr>
          <a:xfrm>
            <a:off x="3520440" y="4231810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23CC49-7526-420A-BBCE-2026DE6EBD20}"/>
                  </a:ext>
                </a:extLst>
              </p:cNvPr>
              <p:cNvSpPr txBox="1"/>
              <p:nvPr/>
            </p:nvSpPr>
            <p:spPr>
              <a:xfrm>
                <a:off x="4531071" y="2260570"/>
                <a:ext cx="31123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23CC49-7526-420A-BBCE-2026DE6EB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071" y="2260570"/>
                <a:ext cx="311239" cy="138499"/>
              </a:xfrm>
              <a:prstGeom prst="rect">
                <a:avLst/>
              </a:prstGeom>
              <a:blipFill>
                <a:blip r:embed="rId2"/>
                <a:stretch>
                  <a:fillRect l="-3922" r="-9804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384B05C-51F3-4413-AF80-477A6A510CB9}"/>
                  </a:ext>
                </a:extLst>
              </p:cNvPr>
              <p:cNvSpPr txBox="1"/>
              <p:nvPr/>
            </p:nvSpPr>
            <p:spPr>
              <a:xfrm>
                <a:off x="3316393" y="226990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384B05C-51F3-4413-AF80-477A6A510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393" y="2269908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7FA3070-F4C5-4B89-8CF3-708E5D32ECF7}"/>
                  </a:ext>
                </a:extLst>
              </p:cNvPr>
              <p:cNvSpPr txBox="1"/>
              <p:nvPr/>
            </p:nvSpPr>
            <p:spPr>
              <a:xfrm>
                <a:off x="4114030" y="1820983"/>
                <a:ext cx="932435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𝑁𝑜𝑛𝐷𝑒𝑡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7FA3070-F4C5-4B89-8CF3-708E5D32E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030" y="1820983"/>
                <a:ext cx="932435" cy="138499"/>
              </a:xfrm>
              <a:prstGeom prst="rect">
                <a:avLst/>
              </a:prstGeom>
              <a:blipFill>
                <a:blip r:embed="rId4"/>
                <a:stretch>
                  <a:fillRect l="-1307" r="-1307" b="-4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F33326-4EED-44A6-86C9-1B6A1DE759C0}"/>
                  </a:ext>
                </a:extLst>
              </p:cNvPr>
              <p:cNvSpPr txBox="1"/>
              <p:nvPr/>
            </p:nvSpPr>
            <p:spPr>
              <a:xfrm>
                <a:off x="2922130" y="3416209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F33326-4EED-44A6-86C9-1B6A1DE7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130" y="3416209"/>
                <a:ext cx="348237" cy="138499"/>
              </a:xfrm>
              <a:prstGeom prst="rect">
                <a:avLst/>
              </a:prstGeom>
              <a:blipFill>
                <a:blip r:embed="rId5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A258AF-B442-4D66-AD2A-DFC784AFB863}"/>
                  </a:ext>
                </a:extLst>
              </p:cNvPr>
              <p:cNvSpPr txBox="1"/>
              <p:nvPr/>
            </p:nvSpPr>
            <p:spPr>
              <a:xfrm>
                <a:off x="2783632" y="3250507"/>
                <a:ext cx="48756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&lt;−50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A258AF-B442-4D66-AD2A-DFC784AFB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3250507"/>
                <a:ext cx="487569" cy="138499"/>
              </a:xfrm>
              <a:prstGeom prst="rect">
                <a:avLst/>
              </a:prstGeom>
              <a:blipFill>
                <a:blip r:embed="rId6"/>
                <a:stretch>
                  <a:fillRect l="-2500" r="-1250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46EE48A-7879-409B-9CD3-A05055DEF99D}"/>
                  </a:ext>
                </a:extLst>
              </p:cNvPr>
              <p:cNvSpPr txBox="1"/>
              <p:nvPr/>
            </p:nvSpPr>
            <p:spPr>
              <a:xfrm>
                <a:off x="3597659" y="2900719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46EE48A-7879-409B-9CD3-A05055DEF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59" y="2900719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DF38B709-08F3-4EBA-B06A-81CCE2CA15AF}"/>
              </a:ext>
            </a:extLst>
          </p:cNvPr>
          <p:cNvSpPr/>
          <p:nvPr/>
        </p:nvSpPr>
        <p:spPr>
          <a:xfrm>
            <a:off x="3302591" y="3017110"/>
            <a:ext cx="592169" cy="72660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79564E3-7B9F-4438-84C6-960F2DDAAACF}"/>
              </a:ext>
            </a:extLst>
          </p:cNvPr>
          <p:cNvSpPr/>
          <p:nvPr/>
        </p:nvSpPr>
        <p:spPr>
          <a:xfrm rot="18078406" flipH="1">
            <a:off x="3466443" y="2858211"/>
            <a:ext cx="266145" cy="945806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1E46373-1CAE-47CB-8893-1E3F55A8C027}"/>
                  </a:ext>
                </a:extLst>
              </p:cNvPr>
              <p:cNvSpPr txBox="1"/>
              <p:nvPr/>
            </p:nvSpPr>
            <p:spPr>
              <a:xfrm>
                <a:off x="3610995" y="3020031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1E46373-1CAE-47CB-8893-1E3F55A8C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995" y="3020031"/>
                <a:ext cx="348237" cy="138499"/>
              </a:xfrm>
              <a:prstGeom prst="rect">
                <a:avLst/>
              </a:prstGeom>
              <a:blipFill>
                <a:blip r:embed="rId7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DDC3C7A-4471-4F89-874B-D1D7DE83EAB6}"/>
              </a:ext>
            </a:extLst>
          </p:cNvPr>
          <p:cNvSpPr/>
          <p:nvPr/>
        </p:nvSpPr>
        <p:spPr>
          <a:xfrm flipH="1">
            <a:off x="4127478" y="2998836"/>
            <a:ext cx="639249" cy="72660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EFF2CD7-47D1-4E7C-88AF-E86C923E25C4}"/>
              </a:ext>
            </a:extLst>
          </p:cNvPr>
          <p:cNvSpPr/>
          <p:nvPr/>
        </p:nvSpPr>
        <p:spPr>
          <a:xfrm rot="14222530" flipH="1" flipV="1">
            <a:off x="4308125" y="2910070"/>
            <a:ext cx="273993" cy="873641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35A02D-FF00-4924-A3D8-C42E5E3ABC23}"/>
                  </a:ext>
                </a:extLst>
              </p:cNvPr>
              <p:cNvSpPr txBox="1"/>
              <p:nvPr/>
            </p:nvSpPr>
            <p:spPr>
              <a:xfrm>
                <a:off x="4221447" y="2869983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35A02D-FF00-4924-A3D8-C42E5E3AB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447" y="2869983"/>
                <a:ext cx="239809" cy="138499"/>
              </a:xfrm>
              <a:prstGeom prst="rect">
                <a:avLst/>
              </a:prstGeom>
              <a:blipFill>
                <a:blip r:embed="rId8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73B2FEA-EE8E-4999-AFB6-E4B0B42A47D2}"/>
                  </a:ext>
                </a:extLst>
              </p:cNvPr>
              <p:cNvSpPr txBox="1"/>
              <p:nvPr/>
            </p:nvSpPr>
            <p:spPr>
              <a:xfrm>
                <a:off x="4146686" y="3025288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73B2FEA-EE8E-4999-AFB6-E4B0B42A4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686" y="3025288"/>
                <a:ext cx="348237" cy="138499"/>
              </a:xfrm>
              <a:prstGeom prst="rect">
                <a:avLst/>
              </a:prstGeom>
              <a:blipFill>
                <a:blip r:embed="rId9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E822533-10AD-4F4C-9A3E-874DED87C610}"/>
                  </a:ext>
                </a:extLst>
              </p:cNvPr>
              <p:cNvSpPr txBox="1"/>
              <p:nvPr/>
            </p:nvSpPr>
            <p:spPr>
              <a:xfrm>
                <a:off x="4739971" y="3394157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E822533-10AD-4F4C-9A3E-874DED87C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71" y="3394157"/>
                <a:ext cx="348237" cy="138499"/>
              </a:xfrm>
              <a:prstGeom prst="rect">
                <a:avLst/>
              </a:prstGeom>
              <a:blipFill>
                <a:blip r:embed="rId10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505AE3-7184-411A-87C8-FFDBB8632C01}"/>
                  </a:ext>
                </a:extLst>
              </p:cNvPr>
              <p:cNvSpPr txBox="1"/>
              <p:nvPr/>
            </p:nvSpPr>
            <p:spPr>
              <a:xfrm>
                <a:off x="4740363" y="3240729"/>
                <a:ext cx="40100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&gt;50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C505AE3-7184-411A-87C8-FFDBB8632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363" y="3240729"/>
                <a:ext cx="401007" cy="138499"/>
              </a:xfrm>
              <a:prstGeom prst="rect">
                <a:avLst/>
              </a:prstGeom>
              <a:blipFill>
                <a:blip r:embed="rId11"/>
                <a:stretch>
                  <a:fillRect l="-3077" r="-3077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BE5318E-351C-4234-A793-AD201FC422D1}"/>
                  </a:ext>
                </a:extLst>
              </p:cNvPr>
              <p:cNvSpPr txBox="1"/>
              <p:nvPr/>
            </p:nvSpPr>
            <p:spPr>
              <a:xfrm>
                <a:off x="4339140" y="3905837"/>
                <a:ext cx="80188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&gt;20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BE5318E-351C-4234-A793-AD201FC42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140" y="3905837"/>
                <a:ext cx="801886" cy="138499"/>
              </a:xfrm>
              <a:prstGeom prst="rect">
                <a:avLst/>
              </a:prstGeom>
              <a:blipFill>
                <a:blip r:embed="rId12"/>
                <a:stretch>
                  <a:fillRect l="-1527" r="-2290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02BCBD-25F5-4986-85E5-43E2C8B7E36F}"/>
                  </a:ext>
                </a:extLst>
              </p:cNvPr>
              <p:cNvSpPr txBox="1"/>
              <p:nvPr/>
            </p:nvSpPr>
            <p:spPr>
              <a:xfrm>
                <a:off x="3516059" y="391715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02BCBD-25F5-4986-85E5-43E2C8B7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059" y="3917158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256" r="-10256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Oval 73">
            <a:extLst>
              <a:ext uri="{FF2B5EF4-FFF2-40B4-BE49-F238E27FC236}">
                <a16:creationId xmlns:a16="http://schemas.microsoft.com/office/drawing/2014/main" id="{3C66108F-317C-476F-AF94-56B7B75AE464}"/>
              </a:ext>
            </a:extLst>
          </p:cNvPr>
          <p:cNvSpPr/>
          <p:nvPr/>
        </p:nvSpPr>
        <p:spPr>
          <a:xfrm>
            <a:off x="4300230" y="2205198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63F5091-136D-457F-B4CB-5C90DB6D0AA2}"/>
              </a:ext>
            </a:extLst>
          </p:cNvPr>
          <p:cNvSpPr/>
          <p:nvPr/>
        </p:nvSpPr>
        <p:spPr>
          <a:xfrm>
            <a:off x="2663148" y="3171441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25573C5-50B5-4EA7-8272-A6F03BD084F4}"/>
              </a:ext>
            </a:extLst>
          </p:cNvPr>
          <p:cNvSpPr/>
          <p:nvPr/>
        </p:nvSpPr>
        <p:spPr>
          <a:xfrm>
            <a:off x="4510693" y="3166341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E02C216-1FFF-49EA-AF4F-F185796C1E63}"/>
              </a:ext>
            </a:extLst>
          </p:cNvPr>
          <p:cNvSpPr/>
          <p:nvPr/>
        </p:nvSpPr>
        <p:spPr>
          <a:xfrm>
            <a:off x="4578836" y="3850546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F7B462A-1204-48B5-814D-248381E8E8F0}"/>
              </a:ext>
            </a:extLst>
          </p:cNvPr>
          <p:cNvSpPr/>
          <p:nvPr/>
        </p:nvSpPr>
        <p:spPr>
          <a:xfrm>
            <a:off x="10382885" y="2132034"/>
            <a:ext cx="373506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Init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8B06DBA-EF2B-4495-96EB-6BD7219163D4}"/>
              </a:ext>
            </a:extLst>
          </p:cNvPr>
          <p:cNvCxnSpPr>
            <a:cxnSpLocks/>
            <a:stCxn id="80" idx="5"/>
            <a:endCxn id="83" idx="0"/>
          </p:cNvCxnSpPr>
          <p:nvPr/>
        </p:nvCxnSpPr>
        <p:spPr>
          <a:xfrm>
            <a:off x="10701692" y="2337349"/>
            <a:ext cx="604663" cy="40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05B9666-0338-43D7-82BE-2FA856240C23}"/>
              </a:ext>
            </a:extLst>
          </p:cNvPr>
          <p:cNvCxnSpPr>
            <a:cxnSpLocks/>
            <a:endCxn id="80" idx="0"/>
          </p:cNvCxnSpPr>
          <p:nvPr/>
        </p:nvCxnSpPr>
        <p:spPr>
          <a:xfrm flipH="1">
            <a:off x="10569638" y="1776644"/>
            <a:ext cx="5726" cy="35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85CB71C1-EFD4-48A6-9B90-8E7AEDB6D194}"/>
              </a:ext>
            </a:extLst>
          </p:cNvPr>
          <p:cNvSpPr/>
          <p:nvPr/>
        </p:nvSpPr>
        <p:spPr>
          <a:xfrm>
            <a:off x="11178360" y="274286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0BD134C-36C3-4E50-8FB5-A04F9E8C708E}"/>
              </a:ext>
            </a:extLst>
          </p:cNvPr>
          <p:cNvSpPr/>
          <p:nvPr/>
        </p:nvSpPr>
        <p:spPr>
          <a:xfrm>
            <a:off x="9689745" y="2751076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18FB70C-B94B-4518-8542-AE78D7E985D7}"/>
              </a:ext>
            </a:extLst>
          </p:cNvPr>
          <p:cNvSpPr/>
          <p:nvPr/>
        </p:nvSpPr>
        <p:spPr>
          <a:xfrm>
            <a:off x="10447367" y="362344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7D02856-25B1-4FFC-B7FE-F8E174855EA9}"/>
              </a:ext>
            </a:extLst>
          </p:cNvPr>
          <p:cNvSpPr/>
          <p:nvPr/>
        </p:nvSpPr>
        <p:spPr>
          <a:xfrm>
            <a:off x="10756391" y="4203610"/>
            <a:ext cx="573724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Error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0CAC502-6F02-4AC4-92B5-88D62D1AB515}"/>
              </a:ext>
            </a:extLst>
          </p:cNvPr>
          <p:cNvCxnSpPr>
            <a:cxnSpLocks/>
            <a:stCxn id="80" idx="3"/>
            <a:endCxn id="84" idx="0"/>
          </p:cNvCxnSpPr>
          <p:nvPr/>
        </p:nvCxnSpPr>
        <p:spPr>
          <a:xfrm flipH="1">
            <a:off x="9817740" y="2337349"/>
            <a:ext cx="619844" cy="413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CAA142E-C56B-4AA6-BC53-AEFE753C3809}"/>
              </a:ext>
            </a:extLst>
          </p:cNvPr>
          <p:cNvCxnSpPr>
            <a:cxnSpLocks/>
            <a:stCxn id="85" idx="4"/>
            <a:endCxn id="86" idx="0"/>
          </p:cNvCxnSpPr>
          <p:nvPr/>
        </p:nvCxnSpPr>
        <p:spPr>
          <a:xfrm>
            <a:off x="10575362" y="3863985"/>
            <a:ext cx="467891" cy="33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0AD1402-A1FB-464D-A2DD-F6F705C2BEED}"/>
              </a:ext>
            </a:extLst>
          </p:cNvPr>
          <p:cNvCxnSpPr>
            <a:cxnSpLocks/>
            <a:stCxn id="85" idx="4"/>
            <a:endCxn id="90" idx="0"/>
          </p:cNvCxnSpPr>
          <p:nvPr/>
        </p:nvCxnSpPr>
        <p:spPr>
          <a:xfrm flipH="1">
            <a:off x="10190807" y="3863985"/>
            <a:ext cx="384555" cy="36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76C375EB-BC6D-4D3F-9C69-6A6CA8F253A0}"/>
              </a:ext>
            </a:extLst>
          </p:cNvPr>
          <p:cNvSpPr/>
          <p:nvPr/>
        </p:nvSpPr>
        <p:spPr>
          <a:xfrm>
            <a:off x="10062812" y="4231810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26FD264-8468-409E-9DEE-E63241AA880A}"/>
                  </a:ext>
                </a:extLst>
              </p:cNvPr>
              <p:cNvSpPr txBox="1"/>
              <p:nvPr/>
            </p:nvSpPr>
            <p:spPr>
              <a:xfrm>
                <a:off x="11073443" y="2260570"/>
                <a:ext cx="57509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∈{2,3,4}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26FD264-8468-409E-9DEE-E63241AA8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3443" y="2260570"/>
                <a:ext cx="575094" cy="138499"/>
              </a:xfrm>
              <a:prstGeom prst="rect">
                <a:avLst/>
              </a:prstGeom>
              <a:blipFill>
                <a:blip r:embed="rId13"/>
                <a:stretch>
                  <a:fillRect l="-4255" r="-7447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9729EBC-58F6-48EF-A463-16E38A95DBC4}"/>
                  </a:ext>
                </a:extLst>
              </p:cNvPr>
              <p:cNvSpPr txBox="1"/>
              <p:nvPr/>
            </p:nvSpPr>
            <p:spPr>
              <a:xfrm>
                <a:off x="9858765" y="226990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9729EBC-58F6-48EF-A463-16E38A95D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765" y="2269908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063F049-236F-4B19-A7B4-D5DD554F9124}"/>
                  </a:ext>
                </a:extLst>
              </p:cNvPr>
              <p:cNvSpPr txBox="1"/>
              <p:nvPr/>
            </p:nvSpPr>
            <p:spPr>
              <a:xfrm>
                <a:off x="10656402" y="1820983"/>
                <a:ext cx="1328505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9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𝑁𝑜𝑛𝐷𝑒𝑡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({0,1,2,3,4})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063F049-236F-4B19-A7B4-D5DD554F9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6402" y="1820983"/>
                <a:ext cx="1328505" cy="138499"/>
              </a:xfrm>
              <a:prstGeom prst="rect">
                <a:avLst/>
              </a:prstGeom>
              <a:blipFill>
                <a:blip r:embed="rId14"/>
                <a:stretch>
                  <a:fillRect b="-409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C6049EE-5111-401E-8E60-E23D514433CB}"/>
                  </a:ext>
                </a:extLst>
              </p:cNvPr>
              <p:cNvSpPr txBox="1"/>
              <p:nvPr/>
            </p:nvSpPr>
            <p:spPr>
              <a:xfrm>
                <a:off x="9464502" y="3416209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C6049EE-5111-401E-8E60-E23D51443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4502" y="3416209"/>
                <a:ext cx="348237" cy="138499"/>
              </a:xfrm>
              <a:prstGeom prst="rect">
                <a:avLst/>
              </a:prstGeom>
              <a:blipFill>
                <a:blip r:embed="rId5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2D2D862-AD28-4F66-888B-115965C30C12}"/>
                  </a:ext>
                </a:extLst>
              </p:cNvPr>
              <p:cNvSpPr txBox="1"/>
              <p:nvPr/>
            </p:nvSpPr>
            <p:spPr>
              <a:xfrm>
                <a:off x="9326004" y="3250507"/>
                <a:ext cx="39876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2D2D862-AD28-4F66-888B-115965C30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004" y="3250507"/>
                <a:ext cx="398764" cy="138499"/>
              </a:xfrm>
              <a:prstGeom prst="rect">
                <a:avLst/>
              </a:prstGeom>
              <a:blipFill>
                <a:blip r:embed="rId15"/>
                <a:stretch>
                  <a:fillRect l="-6154" r="-10769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0DA2B99-1626-4CE1-979B-FBFFD79DB2C5}"/>
                  </a:ext>
                </a:extLst>
              </p:cNvPr>
              <p:cNvSpPr txBox="1"/>
              <p:nvPr/>
            </p:nvSpPr>
            <p:spPr>
              <a:xfrm>
                <a:off x="10140031" y="2900719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0DA2B99-1626-4CE1-979B-FBFFD79D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0031" y="2900719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F964DFA4-44F2-409D-818B-D81AC6A882B2}"/>
              </a:ext>
            </a:extLst>
          </p:cNvPr>
          <p:cNvSpPr/>
          <p:nvPr/>
        </p:nvSpPr>
        <p:spPr>
          <a:xfrm>
            <a:off x="9844963" y="3017110"/>
            <a:ext cx="592169" cy="72660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AFD0004-9DB0-4372-B1EF-938B690493CE}"/>
              </a:ext>
            </a:extLst>
          </p:cNvPr>
          <p:cNvSpPr/>
          <p:nvPr/>
        </p:nvSpPr>
        <p:spPr>
          <a:xfrm rot="18078406" flipH="1">
            <a:off x="10008815" y="2858211"/>
            <a:ext cx="266145" cy="945806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D98531E-4E8C-438B-BB7F-54CBDE7E79C3}"/>
                  </a:ext>
                </a:extLst>
              </p:cNvPr>
              <p:cNvSpPr txBox="1"/>
              <p:nvPr/>
            </p:nvSpPr>
            <p:spPr>
              <a:xfrm>
                <a:off x="10153367" y="3020031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D98531E-4E8C-438B-BB7F-54CBDE7E7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367" y="3020031"/>
                <a:ext cx="348237" cy="138499"/>
              </a:xfrm>
              <a:prstGeom prst="rect">
                <a:avLst/>
              </a:prstGeom>
              <a:blipFill>
                <a:blip r:embed="rId7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9E5906B-DB31-4E63-8E55-33AB01DAD40B}"/>
              </a:ext>
            </a:extLst>
          </p:cNvPr>
          <p:cNvSpPr/>
          <p:nvPr/>
        </p:nvSpPr>
        <p:spPr>
          <a:xfrm flipH="1">
            <a:off x="10669850" y="2998836"/>
            <a:ext cx="639249" cy="72660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8897863B-BEE4-46CB-8D7F-4AE47779E419}"/>
              </a:ext>
            </a:extLst>
          </p:cNvPr>
          <p:cNvSpPr/>
          <p:nvPr/>
        </p:nvSpPr>
        <p:spPr>
          <a:xfrm rot="14222530" flipH="1" flipV="1">
            <a:off x="10850497" y="2910070"/>
            <a:ext cx="273993" cy="873641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DD3672-2081-48BA-8714-E60C339D5C32}"/>
                  </a:ext>
                </a:extLst>
              </p:cNvPr>
              <p:cNvSpPr txBox="1"/>
              <p:nvPr/>
            </p:nvSpPr>
            <p:spPr>
              <a:xfrm>
                <a:off x="10763819" y="2869983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DD3672-2081-48BA-8714-E60C339D5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819" y="2869983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965327D-CA3D-4F4E-A969-69B0CC2E2FC0}"/>
                  </a:ext>
                </a:extLst>
              </p:cNvPr>
              <p:cNvSpPr txBox="1"/>
              <p:nvPr/>
            </p:nvSpPr>
            <p:spPr>
              <a:xfrm>
                <a:off x="10689058" y="3025288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965327D-CA3D-4F4E-A969-69B0CC2E2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9058" y="3025288"/>
                <a:ext cx="348237" cy="138499"/>
              </a:xfrm>
              <a:prstGeom prst="rect">
                <a:avLst/>
              </a:prstGeom>
              <a:blipFill>
                <a:blip r:embed="rId9"/>
                <a:stretch>
                  <a:fillRect l="-6897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2844431-A0FE-49A1-9987-BC26687AC7E6}"/>
                  </a:ext>
                </a:extLst>
              </p:cNvPr>
              <p:cNvSpPr txBox="1"/>
              <p:nvPr/>
            </p:nvSpPr>
            <p:spPr>
              <a:xfrm>
                <a:off x="11282343" y="3394157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2844431-A0FE-49A1-9987-BC26687AC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343" y="3394157"/>
                <a:ext cx="348237" cy="138499"/>
              </a:xfrm>
              <a:prstGeom prst="rect">
                <a:avLst/>
              </a:prstGeom>
              <a:blipFill>
                <a:blip r:embed="rId10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4D86328-2A56-408E-B496-313468E42369}"/>
                  </a:ext>
                </a:extLst>
              </p:cNvPr>
              <p:cNvSpPr txBox="1"/>
              <p:nvPr/>
            </p:nvSpPr>
            <p:spPr>
              <a:xfrm>
                <a:off x="11282735" y="3240729"/>
                <a:ext cx="3987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∈{4}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4D86328-2A56-408E-B496-313468E42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735" y="3240729"/>
                <a:ext cx="398763" cy="138499"/>
              </a:xfrm>
              <a:prstGeom prst="rect">
                <a:avLst/>
              </a:prstGeom>
              <a:blipFill>
                <a:blip r:embed="rId16"/>
                <a:stretch>
                  <a:fillRect l="-6154" r="-10769" b="-4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638222D-27F5-4FB7-8D4F-2E9B830630F4}"/>
                  </a:ext>
                </a:extLst>
              </p:cNvPr>
              <p:cNvSpPr txBox="1"/>
              <p:nvPr/>
            </p:nvSpPr>
            <p:spPr>
              <a:xfrm>
                <a:off x="10881512" y="3905837"/>
                <a:ext cx="87427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∈{3,4}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638222D-27F5-4FB7-8D4F-2E9B83063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512" y="3905837"/>
                <a:ext cx="874278" cy="138499"/>
              </a:xfrm>
              <a:prstGeom prst="rect">
                <a:avLst/>
              </a:prstGeom>
              <a:blipFill>
                <a:blip r:embed="rId17"/>
                <a:stretch>
                  <a:fillRect l="-2797" r="-4895" b="-4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96C0B23-69F3-4249-893A-593A3F17A3A9}"/>
                  </a:ext>
                </a:extLst>
              </p:cNvPr>
              <p:cNvSpPr txBox="1"/>
              <p:nvPr/>
            </p:nvSpPr>
            <p:spPr>
              <a:xfrm>
                <a:off x="10058431" y="391715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96C0B23-69F3-4249-893A-593A3F17A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31" y="3917158"/>
                <a:ext cx="239809" cy="138499"/>
              </a:xfrm>
              <a:prstGeom prst="rect">
                <a:avLst/>
              </a:prstGeom>
              <a:blipFill>
                <a:blip r:embed="rId3"/>
                <a:stretch>
                  <a:fillRect l="-10256" r="-10256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78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8" grpId="0" animBg="1"/>
      <p:bldP spid="40" grpId="0" animBg="1"/>
      <p:bldP spid="41" grpId="0" animBg="1"/>
      <p:bldP spid="42" grpId="0" animBg="1"/>
      <p:bldP spid="44" grpId="0" animBg="1"/>
      <p:bldP spid="47" grpId="0" animBg="1"/>
      <p:bldP spid="48" grpId="0" animBg="1"/>
      <p:bldP spid="49" grpId="0" animBg="1"/>
      <p:bldP spid="50" grpId="0" animBg="1"/>
      <p:bldP spid="54" grpId="0" animBg="1"/>
      <p:bldP spid="55" grpId="0"/>
      <p:bldP spid="57" grpId="0"/>
      <p:bldP spid="59" grpId="0"/>
      <p:bldP spid="60" grpId="0"/>
      <p:bldP spid="61" grpId="0"/>
      <p:bldP spid="62" grpId="0"/>
      <p:bldP spid="63" grpId="0" animBg="1"/>
      <p:bldP spid="64" grpId="0" animBg="1"/>
      <p:bldP spid="65" grpId="0"/>
      <p:bldP spid="66" grpId="0" animBg="1"/>
      <p:bldP spid="67" grpId="0" animBg="1"/>
      <p:bldP spid="68" grpId="0"/>
      <p:bldP spid="69" grpId="0"/>
      <p:bldP spid="70" grpId="0"/>
      <p:bldP spid="71" grpId="0"/>
      <p:bldP spid="72" grpId="0"/>
      <p:bldP spid="73" grpId="0"/>
      <p:bldP spid="74" grpId="0" animBg="1"/>
      <p:bldP spid="77" grpId="0" animBg="1"/>
      <p:bldP spid="78" grpId="0" animBg="1"/>
      <p:bldP spid="79" grpId="0" animBg="1"/>
      <p:bldP spid="80" grpId="0" animBg="1"/>
      <p:bldP spid="83" grpId="0" animBg="1"/>
      <p:bldP spid="84" grpId="0" animBg="1"/>
      <p:bldP spid="85" grpId="0" animBg="1"/>
      <p:bldP spid="86" grpId="0" animBg="1"/>
      <p:bldP spid="90" grpId="0" animBg="1"/>
      <p:bldP spid="91" grpId="0"/>
      <p:bldP spid="92" grpId="0"/>
      <p:bldP spid="93" grpId="0"/>
      <p:bldP spid="94" grpId="0"/>
      <p:bldP spid="95" grpId="0"/>
      <p:bldP spid="96" grpId="0"/>
      <p:bldP spid="97" grpId="0" animBg="1"/>
      <p:bldP spid="98" grpId="0" animBg="1"/>
      <p:bldP spid="99" grpId="0"/>
      <p:bldP spid="100" grpId="0" animBg="1"/>
      <p:bldP spid="101" grpId="0" animBg="1"/>
      <p:bldP spid="102" grpId="0"/>
      <p:bldP spid="103" grpId="0"/>
      <p:bldP spid="104" grpId="0"/>
      <p:bldP spid="105" grpId="0"/>
      <p:bldP spid="106" grpId="0"/>
      <p:bldP spid="1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73593"/>
            <a:ext cx="11784011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Variable simplification – Assignment pattern example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B442344-1AF5-4B01-8214-0415DAFDA6E9}"/>
              </a:ext>
            </a:extLst>
          </p:cNvPr>
          <p:cNvSpPr/>
          <p:nvPr/>
        </p:nvSpPr>
        <p:spPr>
          <a:xfrm>
            <a:off x="2404231" y="2968087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5FCF948-708E-4E7A-BF7D-DBCB06843857}"/>
              </a:ext>
            </a:extLst>
          </p:cNvPr>
          <p:cNvSpPr/>
          <p:nvPr/>
        </p:nvSpPr>
        <p:spPr>
          <a:xfrm>
            <a:off x="5375920" y="2968087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E187E6-0CA7-4A70-A0EC-9E3E65F63549}"/>
              </a:ext>
            </a:extLst>
          </p:cNvPr>
          <p:cNvSpPr/>
          <p:nvPr/>
        </p:nvSpPr>
        <p:spPr>
          <a:xfrm>
            <a:off x="8904356" y="2968087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A8F641-758B-41FF-A3DC-45801E1320B9}"/>
              </a:ext>
            </a:extLst>
          </p:cNvPr>
          <p:cNvSpPr txBox="1"/>
          <p:nvPr/>
        </p:nvSpPr>
        <p:spPr>
          <a:xfrm>
            <a:off x="521389" y="1505731"/>
            <a:ext cx="183545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FUNCTION_BLOCK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example2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VAR_IN_OUT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x :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END_VAR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VAR_OUTPUT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END_VAR</a:t>
            </a:r>
          </a:p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BEGIN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x&gt;0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:= x-1;</a:t>
            </a:r>
            <a:endParaRPr lang="es-ES" sz="9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x&gt;50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3;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2;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:= x+1;</a:t>
            </a:r>
            <a:endParaRPr lang="es-ES" sz="9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x&lt;-50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0;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y := 1;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END_IF</a:t>
            </a:r>
            <a:r>
              <a:rPr lang="es-E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//#ASSERT</a:t>
            </a:r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(y=0 </a:t>
            </a:r>
            <a:r>
              <a:rPr lang="en-U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AND</a:t>
            </a:r>
            <a:r>
              <a:rPr lang="en-US" sz="900" b="1" dirty="0">
                <a:solidFill>
                  <a:srgbClr val="000000"/>
                </a:solidFill>
                <a:latin typeface="Consolas" panose="020B0609020204030204" pitchFamily="49" charset="0"/>
              </a:rPr>
              <a:t> x&gt;20);</a:t>
            </a:r>
          </a:p>
          <a:p>
            <a:pPr algn="l"/>
            <a:r>
              <a:rPr lang="es-ES" sz="900" b="1" dirty="0">
                <a:solidFill>
                  <a:srgbClr val="7F0055"/>
                </a:solidFill>
                <a:latin typeface="Consolas" panose="020B0609020204030204" pitchFamily="49" charset="0"/>
              </a:rPr>
              <a:t>END_FUNCTION_BLOCK</a:t>
            </a:r>
            <a:endParaRPr lang="es-ES" sz="900" dirty="0"/>
          </a:p>
        </p:txBody>
      </p:sp>
      <p:sp>
        <p:nvSpPr>
          <p:cNvPr id="39" name="Rectangle: Rounded Corners 30">
            <a:extLst>
              <a:ext uri="{FF2B5EF4-FFF2-40B4-BE49-F238E27FC236}">
                <a16:creationId xmlns:a16="http://schemas.microsoft.com/office/drawing/2014/main" id="{A2A0F475-5C04-455E-ACED-23536C3E59B4}"/>
              </a:ext>
            </a:extLst>
          </p:cNvPr>
          <p:cNvSpPr/>
          <p:nvPr/>
        </p:nvSpPr>
        <p:spPr>
          <a:xfrm>
            <a:off x="454359" y="1094513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PLC program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69A9488C-97A2-48DE-A9C3-28D4EEBB557B}"/>
              </a:ext>
            </a:extLst>
          </p:cNvPr>
          <p:cNvSpPr/>
          <p:nvPr/>
        </p:nvSpPr>
        <p:spPr>
          <a:xfrm>
            <a:off x="3048414" y="1112387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Original CFA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1" name="Rectangle: Rounded Corners 30">
            <a:extLst>
              <a:ext uri="{FF2B5EF4-FFF2-40B4-BE49-F238E27FC236}">
                <a16:creationId xmlns:a16="http://schemas.microsoft.com/office/drawing/2014/main" id="{A5186A06-17E7-421F-BCCA-E5FAF0BD804C}"/>
              </a:ext>
            </a:extLst>
          </p:cNvPr>
          <p:cNvSpPr/>
          <p:nvPr/>
        </p:nvSpPr>
        <p:spPr>
          <a:xfrm>
            <a:off x="6311460" y="1140679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 duplication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2" name="Rectangle: Rounded Corners 30">
            <a:extLst>
              <a:ext uri="{FF2B5EF4-FFF2-40B4-BE49-F238E27FC236}">
                <a16:creationId xmlns:a16="http://schemas.microsoft.com/office/drawing/2014/main" id="{ED62F9F3-0623-49B2-B8F6-ECCDD1C40FEA}"/>
              </a:ext>
            </a:extLst>
          </p:cNvPr>
          <p:cNvSpPr/>
          <p:nvPr/>
        </p:nvSpPr>
        <p:spPr>
          <a:xfrm>
            <a:off x="9454879" y="1160844"/>
            <a:ext cx="2257745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Assignment removal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918D843-A99C-4ADB-B62E-0B90AA915DAB}"/>
              </a:ext>
            </a:extLst>
          </p:cNvPr>
          <p:cNvSpPr/>
          <p:nvPr/>
        </p:nvSpPr>
        <p:spPr>
          <a:xfrm>
            <a:off x="3760036" y="2132034"/>
            <a:ext cx="373506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Init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FCA119-EB4C-43E6-AB04-2591C296D841}"/>
              </a:ext>
            </a:extLst>
          </p:cNvPr>
          <p:cNvCxnSpPr>
            <a:cxnSpLocks/>
            <a:stCxn id="44" idx="5"/>
            <a:endCxn id="48" idx="0"/>
          </p:cNvCxnSpPr>
          <p:nvPr/>
        </p:nvCxnSpPr>
        <p:spPr>
          <a:xfrm>
            <a:off x="4078843" y="2337349"/>
            <a:ext cx="604663" cy="40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CAB77A-8DE2-4D5F-AD73-01C7DDA948D1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3946789" y="1776644"/>
            <a:ext cx="5726" cy="35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1D906431-8B36-4F9E-8F4B-D9CD733C560B}"/>
              </a:ext>
            </a:extLst>
          </p:cNvPr>
          <p:cNvSpPr/>
          <p:nvPr/>
        </p:nvSpPr>
        <p:spPr>
          <a:xfrm>
            <a:off x="4555511" y="274286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B6F83D-4E00-4D5C-849E-515C69BDCC8B}"/>
              </a:ext>
            </a:extLst>
          </p:cNvPr>
          <p:cNvSpPr/>
          <p:nvPr/>
        </p:nvSpPr>
        <p:spPr>
          <a:xfrm>
            <a:off x="3066896" y="2751076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08438B0-35CC-403B-A5B4-3471487CBDFC}"/>
              </a:ext>
            </a:extLst>
          </p:cNvPr>
          <p:cNvSpPr/>
          <p:nvPr/>
        </p:nvSpPr>
        <p:spPr>
          <a:xfrm>
            <a:off x="3824518" y="362344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CED31C3-8FAF-4C6C-BB02-56B36DA4AD8D}"/>
              </a:ext>
            </a:extLst>
          </p:cNvPr>
          <p:cNvSpPr/>
          <p:nvPr/>
        </p:nvSpPr>
        <p:spPr>
          <a:xfrm>
            <a:off x="4133542" y="4203610"/>
            <a:ext cx="573724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Error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FDD9F18-118E-4D06-BA6B-FD13C8A350BC}"/>
              </a:ext>
            </a:extLst>
          </p:cNvPr>
          <p:cNvCxnSpPr>
            <a:cxnSpLocks/>
            <a:stCxn id="44" idx="3"/>
            <a:endCxn id="49" idx="0"/>
          </p:cNvCxnSpPr>
          <p:nvPr/>
        </p:nvCxnSpPr>
        <p:spPr>
          <a:xfrm flipH="1">
            <a:off x="3194891" y="2337349"/>
            <a:ext cx="619844" cy="413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8133DD3-3B63-46AF-AE7D-D7A1B57FBD8C}"/>
              </a:ext>
            </a:extLst>
          </p:cNvPr>
          <p:cNvCxnSpPr>
            <a:cxnSpLocks/>
            <a:stCxn id="50" idx="4"/>
            <a:endCxn id="51" idx="0"/>
          </p:cNvCxnSpPr>
          <p:nvPr/>
        </p:nvCxnSpPr>
        <p:spPr>
          <a:xfrm>
            <a:off x="3952513" y="3863985"/>
            <a:ext cx="467891" cy="33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9FB99A4-246B-433E-A7B0-BDE43DEE911C}"/>
              </a:ext>
            </a:extLst>
          </p:cNvPr>
          <p:cNvCxnSpPr>
            <a:cxnSpLocks/>
            <a:stCxn id="50" idx="4"/>
            <a:endCxn id="71" idx="0"/>
          </p:cNvCxnSpPr>
          <p:nvPr/>
        </p:nvCxnSpPr>
        <p:spPr>
          <a:xfrm flipH="1">
            <a:off x="3567958" y="3863985"/>
            <a:ext cx="384555" cy="36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F12DD32A-E002-41FB-9CB1-6FB73E4383E0}"/>
              </a:ext>
            </a:extLst>
          </p:cNvPr>
          <p:cNvSpPr/>
          <p:nvPr/>
        </p:nvSpPr>
        <p:spPr>
          <a:xfrm>
            <a:off x="3439963" y="4231810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0E8523D-048F-4142-828A-12B9AD19F6B4}"/>
                  </a:ext>
                </a:extLst>
              </p:cNvPr>
              <p:cNvSpPr txBox="1"/>
              <p:nvPr/>
            </p:nvSpPr>
            <p:spPr>
              <a:xfrm>
                <a:off x="4450594" y="2260570"/>
                <a:ext cx="31123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0E8523D-048F-4142-828A-12B9AD19F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94" y="2260570"/>
                <a:ext cx="311239" cy="138499"/>
              </a:xfrm>
              <a:prstGeom prst="rect">
                <a:avLst/>
              </a:prstGeom>
              <a:blipFill>
                <a:blip r:embed="rId2"/>
                <a:stretch>
                  <a:fillRect l="-3922" r="-9804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3CFE15D-ED1C-4F0F-A4EE-C54945A01657}"/>
                  </a:ext>
                </a:extLst>
              </p:cNvPr>
              <p:cNvSpPr txBox="1"/>
              <p:nvPr/>
            </p:nvSpPr>
            <p:spPr>
              <a:xfrm>
                <a:off x="4446246" y="2412970"/>
                <a:ext cx="57573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3CFE15D-ED1C-4F0F-A4EE-C54945A01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246" y="2412970"/>
                <a:ext cx="575734" cy="138499"/>
              </a:xfrm>
              <a:prstGeom prst="rect">
                <a:avLst/>
              </a:prstGeom>
              <a:blipFill>
                <a:blip r:embed="rId3"/>
                <a:stretch>
                  <a:fillRect l="-5263" t="-4348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B5F0500-442F-493A-9CAA-21233C306CF4}"/>
                  </a:ext>
                </a:extLst>
              </p:cNvPr>
              <p:cNvSpPr txBox="1"/>
              <p:nvPr/>
            </p:nvSpPr>
            <p:spPr>
              <a:xfrm>
                <a:off x="3235916" y="226990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B5F0500-442F-493A-9CAA-21233C306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16" y="2269908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FC4542B-7B5C-48C7-A941-616E1056A1D4}"/>
                  </a:ext>
                </a:extLst>
              </p:cNvPr>
              <p:cNvSpPr txBox="1"/>
              <p:nvPr/>
            </p:nvSpPr>
            <p:spPr>
              <a:xfrm>
                <a:off x="2927978" y="2420888"/>
                <a:ext cx="57573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FC4542B-7B5C-48C7-A941-616E1056A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978" y="2420888"/>
                <a:ext cx="575734" cy="138499"/>
              </a:xfrm>
              <a:prstGeom prst="rect">
                <a:avLst/>
              </a:prstGeom>
              <a:blipFill>
                <a:blip r:embed="rId5"/>
                <a:stretch>
                  <a:fillRect l="-5263" t="-4348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6D42BDF-926A-4EFB-9C12-86FCEF964DDB}"/>
                  </a:ext>
                </a:extLst>
              </p:cNvPr>
              <p:cNvSpPr txBox="1"/>
              <p:nvPr/>
            </p:nvSpPr>
            <p:spPr>
              <a:xfrm>
                <a:off x="4033553" y="1820983"/>
                <a:ext cx="932435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𝑁𝑜𝑛𝐷𝑒𝑡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6D42BDF-926A-4EFB-9C12-86FCEF964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553" y="1820983"/>
                <a:ext cx="932435" cy="138499"/>
              </a:xfrm>
              <a:prstGeom prst="rect">
                <a:avLst/>
              </a:prstGeom>
              <a:blipFill>
                <a:blip r:embed="rId6"/>
                <a:stretch>
                  <a:fillRect l="-1307" r="-1307" b="-4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F93F659-5F78-4F06-BB6D-D629DDCA9DC6}"/>
                  </a:ext>
                </a:extLst>
              </p:cNvPr>
              <p:cNvSpPr txBox="1"/>
              <p:nvPr/>
            </p:nvSpPr>
            <p:spPr>
              <a:xfrm>
                <a:off x="2841653" y="3416209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F93F659-5F78-4F06-BB6D-D629DDCA9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653" y="3416209"/>
                <a:ext cx="348237" cy="138499"/>
              </a:xfrm>
              <a:prstGeom prst="rect">
                <a:avLst/>
              </a:prstGeom>
              <a:blipFill>
                <a:blip r:embed="rId7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FE1D44D-6797-4496-8168-87391036424D}"/>
                  </a:ext>
                </a:extLst>
              </p:cNvPr>
              <p:cNvSpPr txBox="1"/>
              <p:nvPr/>
            </p:nvSpPr>
            <p:spPr>
              <a:xfrm>
                <a:off x="2703155" y="3250507"/>
                <a:ext cx="5145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&lt;−50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FE1D44D-6797-4496-8168-873910364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155" y="3250507"/>
                <a:ext cx="514563" cy="138499"/>
              </a:xfrm>
              <a:prstGeom prst="rect">
                <a:avLst/>
              </a:prstGeom>
              <a:blipFill>
                <a:blip r:embed="rId8"/>
                <a:stretch>
                  <a:fillRect l="-2353" t="-4348" r="-1176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DBBB5EB-BD0B-441A-A0DF-986DAD2D3D6B}"/>
                  </a:ext>
                </a:extLst>
              </p:cNvPr>
              <p:cNvSpPr txBox="1"/>
              <p:nvPr/>
            </p:nvSpPr>
            <p:spPr>
              <a:xfrm>
                <a:off x="3517182" y="2900719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DBBB5EB-BD0B-441A-A0DF-986DAD2D3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82" y="2900719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2AB868BA-B605-4499-AD4B-698C19FD3EB2}"/>
              </a:ext>
            </a:extLst>
          </p:cNvPr>
          <p:cNvSpPr/>
          <p:nvPr/>
        </p:nvSpPr>
        <p:spPr>
          <a:xfrm>
            <a:off x="3222114" y="3017110"/>
            <a:ext cx="592169" cy="72660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611CFA91-571A-47A5-A8C0-213508818EE2}"/>
              </a:ext>
            </a:extLst>
          </p:cNvPr>
          <p:cNvSpPr/>
          <p:nvPr/>
        </p:nvSpPr>
        <p:spPr>
          <a:xfrm rot="18078406" flipH="1">
            <a:off x="3385966" y="2858211"/>
            <a:ext cx="266145" cy="945806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0FC483D-D50B-4084-B84E-F15C919BED1F}"/>
                  </a:ext>
                </a:extLst>
              </p:cNvPr>
              <p:cNvSpPr txBox="1"/>
              <p:nvPr/>
            </p:nvSpPr>
            <p:spPr>
              <a:xfrm>
                <a:off x="3530518" y="3020031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0FC483D-D50B-4084-B84E-F15C919BE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518" y="3020031"/>
                <a:ext cx="348237" cy="138499"/>
              </a:xfrm>
              <a:prstGeom prst="rect">
                <a:avLst/>
              </a:prstGeom>
              <a:blipFill>
                <a:blip r:embed="rId9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28B5456A-E724-47D3-A2CA-EE743FA46754}"/>
              </a:ext>
            </a:extLst>
          </p:cNvPr>
          <p:cNvSpPr/>
          <p:nvPr/>
        </p:nvSpPr>
        <p:spPr>
          <a:xfrm flipH="1">
            <a:off x="4047001" y="2998836"/>
            <a:ext cx="639249" cy="72660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89004150-4A84-4A9B-A7F7-FDED6D688EB4}"/>
              </a:ext>
            </a:extLst>
          </p:cNvPr>
          <p:cNvSpPr/>
          <p:nvPr/>
        </p:nvSpPr>
        <p:spPr>
          <a:xfrm rot="14222530" flipH="1" flipV="1">
            <a:off x="4227648" y="2910070"/>
            <a:ext cx="273993" cy="873641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64E0A7A-D24E-4A08-9716-3D882E8B791E}"/>
                  </a:ext>
                </a:extLst>
              </p:cNvPr>
              <p:cNvSpPr txBox="1"/>
              <p:nvPr/>
            </p:nvSpPr>
            <p:spPr>
              <a:xfrm>
                <a:off x="4140970" y="2869983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64E0A7A-D24E-4A08-9716-3D882E8B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970" y="2869983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C222F5D-7228-43C5-B07F-39E95501ECA5}"/>
                  </a:ext>
                </a:extLst>
              </p:cNvPr>
              <p:cNvSpPr txBox="1"/>
              <p:nvPr/>
            </p:nvSpPr>
            <p:spPr>
              <a:xfrm>
                <a:off x="4066209" y="3025288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C222F5D-7228-43C5-B07F-39E95501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209" y="3025288"/>
                <a:ext cx="348237" cy="138499"/>
              </a:xfrm>
              <a:prstGeom prst="rect">
                <a:avLst/>
              </a:prstGeom>
              <a:blipFill>
                <a:blip r:embed="rId10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6FF76DF-CF42-46C8-9E29-3021516FDD7E}"/>
                  </a:ext>
                </a:extLst>
              </p:cNvPr>
              <p:cNvSpPr txBox="1"/>
              <p:nvPr/>
            </p:nvSpPr>
            <p:spPr>
              <a:xfrm>
                <a:off x="4659494" y="3394157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6FF76DF-CF42-46C8-9E29-3021516FD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494" y="3394157"/>
                <a:ext cx="348237" cy="138499"/>
              </a:xfrm>
              <a:prstGeom prst="rect">
                <a:avLst/>
              </a:prstGeom>
              <a:blipFill>
                <a:blip r:embed="rId11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07E639D-52DC-4A30-87C4-D3BACEDAA1CD}"/>
                  </a:ext>
                </a:extLst>
              </p:cNvPr>
              <p:cNvSpPr txBox="1"/>
              <p:nvPr/>
            </p:nvSpPr>
            <p:spPr>
              <a:xfrm>
                <a:off x="4659886" y="3240729"/>
                <a:ext cx="42800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&gt;50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07E639D-52DC-4A30-87C4-D3BACEDAA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886" y="3240729"/>
                <a:ext cx="428002" cy="138499"/>
              </a:xfrm>
              <a:prstGeom prst="rect">
                <a:avLst/>
              </a:prstGeom>
              <a:blipFill>
                <a:blip r:embed="rId12"/>
                <a:stretch>
                  <a:fillRect l="-2817" t="-9091" r="-1408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7E9FBB5-3EB7-4AD2-9DD0-2C2E968D9AED}"/>
                  </a:ext>
                </a:extLst>
              </p:cNvPr>
              <p:cNvSpPr txBox="1"/>
              <p:nvPr/>
            </p:nvSpPr>
            <p:spPr>
              <a:xfrm>
                <a:off x="4258663" y="3905837"/>
                <a:ext cx="80188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′&gt;20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7E9FBB5-3EB7-4AD2-9DD0-2C2E968D9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663" y="3905837"/>
                <a:ext cx="801886" cy="138499"/>
              </a:xfrm>
              <a:prstGeom prst="rect">
                <a:avLst/>
              </a:prstGeom>
              <a:blipFill>
                <a:blip r:embed="rId13"/>
                <a:stretch>
                  <a:fillRect l="-3053" t="-9091" r="-3817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Oval 134">
            <a:extLst>
              <a:ext uri="{FF2B5EF4-FFF2-40B4-BE49-F238E27FC236}">
                <a16:creationId xmlns:a16="http://schemas.microsoft.com/office/drawing/2014/main" id="{23E395CC-C1AB-4E66-BED3-FBDABF7B21FF}"/>
              </a:ext>
            </a:extLst>
          </p:cNvPr>
          <p:cNvSpPr/>
          <p:nvPr/>
        </p:nvSpPr>
        <p:spPr>
          <a:xfrm>
            <a:off x="7096368" y="2191084"/>
            <a:ext cx="373506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Init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8F95B6D-2B08-497F-9514-3001A3D8904B}"/>
              </a:ext>
            </a:extLst>
          </p:cNvPr>
          <p:cNvCxnSpPr>
            <a:cxnSpLocks/>
            <a:stCxn id="135" idx="5"/>
            <a:endCxn id="138" idx="0"/>
          </p:cNvCxnSpPr>
          <p:nvPr/>
        </p:nvCxnSpPr>
        <p:spPr>
          <a:xfrm>
            <a:off x="7415175" y="2396399"/>
            <a:ext cx="604663" cy="40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DA544FA-C78E-47E8-87DE-0185E8905ACA}"/>
              </a:ext>
            </a:extLst>
          </p:cNvPr>
          <p:cNvCxnSpPr>
            <a:cxnSpLocks/>
            <a:endCxn id="135" idx="0"/>
          </p:cNvCxnSpPr>
          <p:nvPr/>
        </p:nvCxnSpPr>
        <p:spPr>
          <a:xfrm flipH="1">
            <a:off x="7283121" y="1835694"/>
            <a:ext cx="5726" cy="35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7C35C1B5-E066-4108-8050-A583ACEDF94F}"/>
              </a:ext>
            </a:extLst>
          </p:cNvPr>
          <p:cNvSpPr/>
          <p:nvPr/>
        </p:nvSpPr>
        <p:spPr>
          <a:xfrm>
            <a:off x="7891843" y="280191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6741B9C-B431-462F-98DC-BDEBE4CED0E2}"/>
              </a:ext>
            </a:extLst>
          </p:cNvPr>
          <p:cNvSpPr/>
          <p:nvPr/>
        </p:nvSpPr>
        <p:spPr>
          <a:xfrm>
            <a:off x="6403228" y="2810126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CE5473B-87BB-4216-A8E7-C2F501CF34A4}"/>
              </a:ext>
            </a:extLst>
          </p:cNvPr>
          <p:cNvSpPr/>
          <p:nvPr/>
        </p:nvSpPr>
        <p:spPr>
          <a:xfrm>
            <a:off x="6558446" y="3682493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CF0B302-A349-4B56-93A1-DA8DAB572BF4}"/>
              </a:ext>
            </a:extLst>
          </p:cNvPr>
          <p:cNvSpPr/>
          <p:nvPr/>
        </p:nvSpPr>
        <p:spPr>
          <a:xfrm>
            <a:off x="7469874" y="4262660"/>
            <a:ext cx="573724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Error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EAD1AA7-CAE3-4D53-B37E-209E844A5A53}"/>
              </a:ext>
            </a:extLst>
          </p:cNvPr>
          <p:cNvCxnSpPr>
            <a:cxnSpLocks/>
            <a:stCxn id="135" idx="3"/>
            <a:endCxn id="139" idx="0"/>
          </p:cNvCxnSpPr>
          <p:nvPr/>
        </p:nvCxnSpPr>
        <p:spPr>
          <a:xfrm flipH="1">
            <a:off x="6531223" y="2396399"/>
            <a:ext cx="619844" cy="413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EF5665C-1E1B-49AB-82CC-F310E7842300}"/>
              </a:ext>
            </a:extLst>
          </p:cNvPr>
          <p:cNvCxnSpPr>
            <a:cxnSpLocks/>
            <a:stCxn id="140" idx="4"/>
            <a:endCxn id="141" idx="0"/>
          </p:cNvCxnSpPr>
          <p:nvPr/>
        </p:nvCxnSpPr>
        <p:spPr>
          <a:xfrm>
            <a:off x="6686441" y="3923035"/>
            <a:ext cx="1070295" cy="33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4601635-9C8B-4406-9FC3-2329C5432ADD}"/>
              </a:ext>
            </a:extLst>
          </p:cNvPr>
          <p:cNvCxnSpPr>
            <a:cxnSpLocks/>
            <a:stCxn id="140" idx="4"/>
            <a:endCxn id="145" idx="0"/>
          </p:cNvCxnSpPr>
          <p:nvPr/>
        </p:nvCxnSpPr>
        <p:spPr>
          <a:xfrm>
            <a:off x="6686441" y="3923035"/>
            <a:ext cx="217849" cy="36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3599FB18-40D9-419E-864D-DDF4E8CFB453}"/>
              </a:ext>
            </a:extLst>
          </p:cNvPr>
          <p:cNvSpPr/>
          <p:nvPr/>
        </p:nvSpPr>
        <p:spPr>
          <a:xfrm>
            <a:off x="6776295" y="4290860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95F59E7-ADF5-4875-AED9-F744183A3B4B}"/>
                  </a:ext>
                </a:extLst>
              </p:cNvPr>
              <p:cNvSpPr txBox="1"/>
              <p:nvPr/>
            </p:nvSpPr>
            <p:spPr>
              <a:xfrm>
                <a:off x="7369885" y="1880033"/>
                <a:ext cx="932435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𝑁𝑜𝑛𝐷𝑒𝑡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95F59E7-ADF5-4875-AED9-F744183A3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885" y="1880033"/>
                <a:ext cx="932435" cy="138499"/>
              </a:xfrm>
              <a:prstGeom prst="rect">
                <a:avLst/>
              </a:prstGeom>
              <a:blipFill>
                <a:blip r:embed="rId6"/>
                <a:stretch>
                  <a:fillRect l="-1307" r="-1307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D0CEDEF-2556-42F6-AD44-8530413DC335}"/>
                  </a:ext>
                </a:extLst>
              </p:cNvPr>
              <p:cNvSpPr txBox="1"/>
              <p:nvPr/>
            </p:nvSpPr>
            <p:spPr>
              <a:xfrm>
                <a:off x="6041037" y="3416208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D0CEDEF-2556-42F6-AD44-8530413DC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037" y="3416208"/>
                <a:ext cx="348237" cy="138499"/>
              </a:xfrm>
              <a:prstGeom prst="rect">
                <a:avLst/>
              </a:prstGeom>
              <a:blipFill>
                <a:blip r:embed="rId7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44A16D7-5DF1-45C4-BA73-6070230DE17B}"/>
                  </a:ext>
                </a:extLst>
              </p:cNvPr>
              <p:cNvSpPr txBox="1"/>
              <p:nvPr/>
            </p:nvSpPr>
            <p:spPr>
              <a:xfrm>
                <a:off x="5879976" y="3240729"/>
                <a:ext cx="51456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′&lt;−50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44A16D7-5DF1-45C4-BA73-6070230D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3240729"/>
                <a:ext cx="514563" cy="138499"/>
              </a:xfrm>
              <a:prstGeom prst="rect">
                <a:avLst/>
              </a:prstGeom>
              <a:blipFill>
                <a:blip r:embed="rId14"/>
                <a:stretch>
                  <a:fillRect l="-5952" t="-9091" r="-1190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266B2E6-19BC-400B-B347-963B4FD870BD}"/>
                  </a:ext>
                </a:extLst>
              </p:cNvPr>
              <p:cNvSpPr txBox="1"/>
              <p:nvPr/>
            </p:nvSpPr>
            <p:spPr>
              <a:xfrm>
                <a:off x="6796087" y="2995413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266B2E6-19BC-400B-B347-963B4FD87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087" y="2995413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019B1CCF-AC1E-4516-B2A4-1B8A340263F2}"/>
              </a:ext>
            </a:extLst>
          </p:cNvPr>
          <p:cNvSpPr/>
          <p:nvPr/>
        </p:nvSpPr>
        <p:spPr>
          <a:xfrm rot="495639">
            <a:off x="6456880" y="3024989"/>
            <a:ext cx="222816" cy="678106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DED31F8E-8E7E-4951-9E7A-CED7B8447CC3}"/>
              </a:ext>
            </a:extLst>
          </p:cNvPr>
          <p:cNvSpPr/>
          <p:nvPr/>
        </p:nvSpPr>
        <p:spPr>
          <a:xfrm rot="19597470" flipH="1">
            <a:off x="6492829" y="2931446"/>
            <a:ext cx="273993" cy="76119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88633D7-C09C-4478-8000-CE38E37FC436}"/>
                  </a:ext>
                </a:extLst>
              </p:cNvPr>
              <p:cNvSpPr txBox="1"/>
              <p:nvPr/>
            </p:nvSpPr>
            <p:spPr>
              <a:xfrm>
                <a:off x="6809423" y="3106173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88633D7-C09C-4478-8000-CE38E37FC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423" y="3106173"/>
                <a:ext cx="348237" cy="138499"/>
              </a:xfrm>
              <a:prstGeom prst="rect">
                <a:avLst/>
              </a:prstGeom>
              <a:blipFill>
                <a:blip r:embed="rId9"/>
                <a:stretch>
                  <a:fillRect l="-7018" r="-1754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5926EFBD-F10D-4067-85CD-C00B5778EB09}"/>
              </a:ext>
            </a:extLst>
          </p:cNvPr>
          <p:cNvSpPr/>
          <p:nvPr/>
        </p:nvSpPr>
        <p:spPr>
          <a:xfrm rot="20573911" flipH="1">
            <a:off x="7905076" y="3045767"/>
            <a:ext cx="272640" cy="615521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52AEAF1E-8231-48C4-9132-48FBC399FD5E}"/>
              </a:ext>
            </a:extLst>
          </p:cNvPr>
          <p:cNvSpPr/>
          <p:nvPr/>
        </p:nvSpPr>
        <p:spPr>
          <a:xfrm rot="11781901" flipH="1" flipV="1">
            <a:off x="7871296" y="2964123"/>
            <a:ext cx="136268" cy="71126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FDBC56E-5857-4A45-BD37-2FD79E2433A9}"/>
                  </a:ext>
                </a:extLst>
              </p:cNvPr>
              <p:cNvSpPr txBox="1"/>
              <p:nvPr/>
            </p:nvSpPr>
            <p:spPr>
              <a:xfrm>
                <a:off x="7555924" y="2969969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FDBC56E-5857-4A45-BD37-2FD79E243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924" y="2969969"/>
                <a:ext cx="239809" cy="138499"/>
              </a:xfrm>
              <a:prstGeom prst="rect">
                <a:avLst/>
              </a:prstGeom>
              <a:blipFill>
                <a:blip r:embed="rId15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2A3A4F7-BBE6-40CD-8B7B-F5ADF7F1715D}"/>
                  </a:ext>
                </a:extLst>
              </p:cNvPr>
              <p:cNvSpPr txBox="1"/>
              <p:nvPr/>
            </p:nvSpPr>
            <p:spPr>
              <a:xfrm>
                <a:off x="7475391" y="3096453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2A3A4F7-BBE6-40CD-8B7B-F5ADF7F17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391" y="3096453"/>
                <a:ext cx="348237" cy="138499"/>
              </a:xfrm>
              <a:prstGeom prst="rect">
                <a:avLst/>
              </a:prstGeom>
              <a:blipFill>
                <a:blip r:embed="rId10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A1B421E-155A-435B-A121-D19B79E36178}"/>
                  </a:ext>
                </a:extLst>
              </p:cNvPr>
              <p:cNvSpPr txBox="1"/>
              <p:nvPr/>
            </p:nvSpPr>
            <p:spPr>
              <a:xfrm>
                <a:off x="6829109" y="3834135"/>
                <a:ext cx="80188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′&gt;20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A1B421E-155A-435B-A121-D19B79E36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109" y="3834135"/>
                <a:ext cx="801886" cy="138499"/>
              </a:xfrm>
              <a:prstGeom prst="rect">
                <a:avLst/>
              </a:prstGeom>
              <a:blipFill>
                <a:blip r:embed="rId16"/>
                <a:stretch>
                  <a:fillRect l="-3030" t="-4348" r="-3030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Oval 168">
            <a:extLst>
              <a:ext uri="{FF2B5EF4-FFF2-40B4-BE49-F238E27FC236}">
                <a16:creationId xmlns:a16="http://schemas.microsoft.com/office/drawing/2014/main" id="{F75CB114-CA74-415F-81D4-33FAC80B1602}"/>
              </a:ext>
            </a:extLst>
          </p:cNvPr>
          <p:cNvSpPr/>
          <p:nvPr/>
        </p:nvSpPr>
        <p:spPr>
          <a:xfrm>
            <a:off x="7806987" y="3659568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364B979-6239-43C3-9A25-E3F49FF5A83E}"/>
              </a:ext>
            </a:extLst>
          </p:cNvPr>
          <p:cNvCxnSpPr>
            <a:cxnSpLocks/>
            <a:stCxn id="169" idx="3"/>
            <a:endCxn id="145" idx="7"/>
          </p:cNvCxnSpPr>
          <p:nvPr/>
        </p:nvCxnSpPr>
        <p:spPr>
          <a:xfrm flipH="1">
            <a:off x="6994796" y="3864883"/>
            <a:ext cx="849680" cy="46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80BB57CC-408C-4E19-A2F6-081CF0148191}"/>
              </a:ext>
            </a:extLst>
          </p:cNvPr>
          <p:cNvCxnSpPr>
            <a:cxnSpLocks/>
            <a:stCxn id="169" idx="4"/>
            <a:endCxn id="141" idx="0"/>
          </p:cNvCxnSpPr>
          <p:nvPr/>
        </p:nvCxnSpPr>
        <p:spPr>
          <a:xfrm flipH="1">
            <a:off x="7756736" y="3900110"/>
            <a:ext cx="178246" cy="36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503176C-B09F-4D6C-8F74-745ECECB13DB}"/>
                  </a:ext>
                </a:extLst>
              </p:cNvPr>
              <p:cNvSpPr txBox="1"/>
              <p:nvPr/>
            </p:nvSpPr>
            <p:spPr>
              <a:xfrm>
                <a:off x="7861248" y="4033797"/>
                <a:ext cx="80188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′&gt;20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503176C-B09F-4D6C-8F74-745ECECB1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248" y="4033797"/>
                <a:ext cx="801886" cy="138499"/>
              </a:xfrm>
              <a:prstGeom prst="rect">
                <a:avLst/>
              </a:prstGeom>
              <a:blipFill>
                <a:blip r:embed="rId13"/>
                <a:stretch>
                  <a:fillRect l="-3053" t="-9091" r="-3817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797748D-8417-4043-B782-82484FDDCC60}"/>
              </a:ext>
            </a:extLst>
          </p:cNvPr>
          <p:cNvCxnSpPr>
            <a:cxnSpLocks/>
          </p:cNvCxnSpPr>
          <p:nvPr/>
        </p:nvCxnSpPr>
        <p:spPr>
          <a:xfrm>
            <a:off x="5620142" y="5383734"/>
            <a:ext cx="2528723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E50189E-99EC-4C09-914C-CB07D2C6AAF2}"/>
              </a:ext>
            </a:extLst>
          </p:cNvPr>
          <p:cNvCxnSpPr>
            <a:cxnSpLocks/>
          </p:cNvCxnSpPr>
          <p:nvPr/>
        </p:nvCxnSpPr>
        <p:spPr>
          <a:xfrm flipV="1">
            <a:off x="5822333" y="5195880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586EC6A-1C3A-471B-A508-B3C24E42FC82}"/>
              </a:ext>
            </a:extLst>
          </p:cNvPr>
          <p:cNvCxnSpPr>
            <a:cxnSpLocks/>
          </p:cNvCxnSpPr>
          <p:nvPr/>
        </p:nvCxnSpPr>
        <p:spPr>
          <a:xfrm flipV="1">
            <a:off x="6597056" y="5195880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55FBDDE-CC53-488D-81CC-F9F09E6112BA}"/>
              </a:ext>
            </a:extLst>
          </p:cNvPr>
          <p:cNvCxnSpPr>
            <a:cxnSpLocks/>
          </p:cNvCxnSpPr>
          <p:nvPr/>
        </p:nvCxnSpPr>
        <p:spPr>
          <a:xfrm flipV="1">
            <a:off x="6923110" y="5195880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9CA468D-A723-464E-ACB1-C912A22D3DF8}"/>
              </a:ext>
            </a:extLst>
          </p:cNvPr>
          <p:cNvCxnSpPr>
            <a:cxnSpLocks/>
          </p:cNvCxnSpPr>
          <p:nvPr/>
        </p:nvCxnSpPr>
        <p:spPr>
          <a:xfrm flipV="1">
            <a:off x="7538279" y="5195880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56772B2-E871-4120-8F44-C425E0061DE2}"/>
              </a:ext>
            </a:extLst>
          </p:cNvPr>
          <p:cNvSpPr txBox="1"/>
          <p:nvPr/>
        </p:nvSpPr>
        <p:spPr>
          <a:xfrm>
            <a:off x="5605004" y="5589866"/>
            <a:ext cx="434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-51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93DF56D-0975-4EDB-A7DC-4420DA9DDFA9}"/>
              </a:ext>
            </a:extLst>
          </p:cNvPr>
          <p:cNvSpPr txBox="1"/>
          <p:nvPr/>
        </p:nvSpPr>
        <p:spPr>
          <a:xfrm>
            <a:off x="6449845" y="5589866"/>
            <a:ext cx="294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E04BC7-692B-4756-AA5B-FB598DF72C6F}"/>
              </a:ext>
            </a:extLst>
          </p:cNvPr>
          <p:cNvSpPr txBox="1"/>
          <p:nvPr/>
        </p:nvSpPr>
        <p:spPr>
          <a:xfrm>
            <a:off x="6741156" y="5589866"/>
            <a:ext cx="363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19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113AE38-4311-4C66-9C83-769F2F1A4EF2}"/>
              </a:ext>
            </a:extLst>
          </p:cNvPr>
          <p:cNvSpPr txBox="1"/>
          <p:nvPr/>
        </p:nvSpPr>
        <p:spPr>
          <a:xfrm>
            <a:off x="7390394" y="5589866"/>
            <a:ext cx="363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51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A0DAF0E-0770-40D1-ABA9-F2FA739A8844}"/>
              </a:ext>
            </a:extLst>
          </p:cNvPr>
          <p:cNvSpPr txBox="1"/>
          <p:nvPr/>
        </p:nvSpPr>
        <p:spPr>
          <a:xfrm>
            <a:off x="7848246" y="5589866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x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FD5AC50-6C82-4835-9125-7B30030A1C0E}"/>
              </a:ext>
            </a:extLst>
          </p:cNvPr>
          <p:cNvSpPr txBox="1"/>
          <p:nvPr/>
        </p:nvSpPr>
        <p:spPr>
          <a:xfrm>
            <a:off x="5519459" y="5055113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48A6862-F364-4094-8C2A-0680054E24CC}"/>
              </a:ext>
            </a:extLst>
          </p:cNvPr>
          <p:cNvSpPr txBox="1"/>
          <p:nvPr/>
        </p:nvSpPr>
        <p:spPr>
          <a:xfrm>
            <a:off x="6105357" y="5055113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1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6AFDF92-D084-4DCC-8091-AB50B1170773}"/>
              </a:ext>
            </a:extLst>
          </p:cNvPr>
          <p:cNvSpPr txBox="1"/>
          <p:nvPr/>
        </p:nvSpPr>
        <p:spPr>
          <a:xfrm>
            <a:off x="6639494" y="5055113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2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04A9515-52CB-4B51-B7E7-610CD75BABDF}"/>
              </a:ext>
            </a:extLst>
          </p:cNvPr>
          <p:cNvSpPr txBox="1"/>
          <p:nvPr/>
        </p:nvSpPr>
        <p:spPr>
          <a:xfrm>
            <a:off x="6896589" y="5055113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3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F69AEAD-738C-45EB-A3EB-C50CE1577F07}"/>
              </a:ext>
            </a:extLst>
          </p:cNvPr>
          <p:cNvSpPr txBox="1"/>
          <p:nvPr/>
        </p:nvSpPr>
        <p:spPr>
          <a:xfrm>
            <a:off x="7185626" y="5055113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4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0525851-A261-4B8B-ADCA-13BD68188CE0}"/>
              </a:ext>
            </a:extLst>
          </p:cNvPr>
          <p:cNvSpPr txBox="1"/>
          <p:nvPr/>
        </p:nvSpPr>
        <p:spPr>
          <a:xfrm>
            <a:off x="7821113" y="4983386"/>
            <a:ext cx="343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x</a:t>
            </a:r>
            <a:endParaRPr lang="es-ES" sz="1800" dirty="0">
              <a:solidFill>
                <a:schemeClr val="tx2"/>
              </a:solidFill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14C78B6-32EE-42B0-AD9D-67FBDF07F988}"/>
              </a:ext>
            </a:extLst>
          </p:cNvPr>
          <p:cNvCxnSpPr>
            <a:cxnSpLocks/>
          </p:cNvCxnSpPr>
          <p:nvPr/>
        </p:nvCxnSpPr>
        <p:spPr>
          <a:xfrm flipV="1">
            <a:off x="7140300" y="5200415"/>
            <a:ext cx="0" cy="37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1F7EE65-3F35-4AB4-8DB4-621AEA5C93CD}"/>
              </a:ext>
            </a:extLst>
          </p:cNvPr>
          <p:cNvSpPr txBox="1"/>
          <p:nvPr/>
        </p:nvSpPr>
        <p:spPr>
          <a:xfrm>
            <a:off x="6958346" y="5589866"/>
            <a:ext cx="363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21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DC5C969-E329-4AA8-862E-BFC4D5B2B9DC}"/>
              </a:ext>
            </a:extLst>
          </p:cNvPr>
          <p:cNvSpPr txBox="1"/>
          <p:nvPr/>
        </p:nvSpPr>
        <p:spPr>
          <a:xfrm>
            <a:off x="7589378" y="5055113"/>
            <a:ext cx="343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5</a:t>
            </a:r>
            <a:endParaRPr lang="es-ES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5A4D2AC5-9823-410F-AEE6-1BF575CE92EA}"/>
                  </a:ext>
                </a:extLst>
              </p:cNvPr>
              <p:cNvSpPr txBox="1"/>
              <p:nvPr/>
            </p:nvSpPr>
            <p:spPr>
              <a:xfrm>
                <a:off x="6611885" y="2315577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5A4D2AC5-9823-410F-AEE6-1BF575CE9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885" y="2315577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3ED5DE9-3144-4B6A-A23D-1277F5495B0A}"/>
                  </a:ext>
                </a:extLst>
              </p:cNvPr>
              <p:cNvSpPr txBox="1"/>
              <p:nvPr/>
            </p:nvSpPr>
            <p:spPr>
              <a:xfrm>
                <a:off x="6303947" y="2466557"/>
                <a:ext cx="57573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3ED5DE9-3144-4B6A-A23D-1277F549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947" y="2466557"/>
                <a:ext cx="575734" cy="138499"/>
              </a:xfrm>
              <a:prstGeom prst="rect">
                <a:avLst/>
              </a:prstGeom>
              <a:blipFill>
                <a:blip r:embed="rId17"/>
                <a:stretch>
                  <a:fillRect l="-5263" t="-9091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BAD9C55-AD38-4747-B03A-7575FB20043E}"/>
                  </a:ext>
                </a:extLst>
              </p:cNvPr>
              <p:cNvSpPr txBox="1"/>
              <p:nvPr/>
            </p:nvSpPr>
            <p:spPr>
              <a:xfrm>
                <a:off x="7755968" y="2320560"/>
                <a:ext cx="31123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BAD9C55-AD38-4747-B03A-7575FB20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68" y="2320560"/>
                <a:ext cx="311239" cy="138499"/>
              </a:xfrm>
              <a:prstGeom prst="rect">
                <a:avLst/>
              </a:prstGeom>
              <a:blipFill>
                <a:blip r:embed="rId2"/>
                <a:stretch>
                  <a:fillRect l="-3922" r="-9804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DFE8F27C-3A24-4B94-92F2-7F0D76523106}"/>
                  </a:ext>
                </a:extLst>
              </p:cNvPr>
              <p:cNvSpPr txBox="1"/>
              <p:nvPr/>
            </p:nvSpPr>
            <p:spPr>
              <a:xfrm>
                <a:off x="7751620" y="2472960"/>
                <a:ext cx="575734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DFE8F27C-3A24-4B94-92F2-7F0D76523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620" y="2472960"/>
                <a:ext cx="575734" cy="138499"/>
              </a:xfrm>
              <a:prstGeom prst="rect">
                <a:avLst/>
              </a:prstGeom>
              <a:blipFill>
                <a:blip r:embed="rId18"/>
                <a:stretch>
                  <a:fillRect l="-5319" t="-9091" r="-1064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A5CB1DF-0B69-4DBA-A81F-1BF990493D4A}"/>
                  </a:ext>
                </a:extLst>
              </p:cNvPr>
              <p:cNvSpPr txBox="1"/>
              <p:nvPr/>
            </p:nvSpPr>
            <p:spPr>
              <a:xfrm>
                <a:off x="3435582" y="391715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A5CB1DF-0B69-4DBA-A81F-1BF990493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582" y="3917158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A8521AF-6C20-47F7-87D4-4CA1332E4B7D}"/>
                  </a:ext>
                </a:extLst>
              </p:cNvPr>
              <p:cNvSpPr txBox="1"/>
              <p:nvPr/>
            </p:nvSpPr>
            <p:spPr>
              <a:xfrm>
                <a:off x="8238196" y="3314034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A8521AF-6C20-47F7-87D4-4CA1332E4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196" y="3314034"/>
                <a:ext cx="348237" cy="138499"/>
              </a:xfrm>
              <a:prstGeom prst="rect">
                <a:avLst/>
              </a:prstGeom>
              <a:blipFill>
                <a:blip r:embed="rId11"/>
                <a:stretch>
                  <a:fillRect l="-6897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C49FA745-04B2-4A4D-B09B-27B1C01C5826}"/>
                  </a:ext>
                </a:extLst>
              </p:cNvPr>
              <p:cNvSpPr txBox="1"/>
              <p:nvPr/>
            </p:nvSpPr>
            <p:spPr>
              <a:xfrm>
                <a:off x="8238588" y="3160606"/>
                <a:ext cx="42800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&gt;50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C49FA745-04B2-4A4D-B09B-27B1C01C5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588" y="3160606"/>
                <a:ext cx="428002" cy="138499"/>
              </a:xfrm>
              <a:prstGeom prst="rect">
                <a:avLst/>
              </a:prstGeom>
              <a:blipFill>
                <a:blip r:embed="rId19"/>
                <a:stretch>
                  <a:fillRect l="-2817" t="-4348" r="-1408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204821AE-4634-4DF9-88B1-271BCF622CEB}"/>
                  </a:ext>
                </a:extLst>
              </p:cNvPr>
              <p:cNvSpPr txBox="1"/>
              <p:nvPr/>
            </p:nvSpPr>
            <p:spPr>
              <a:xfrm>
                <a:off x="6519033" y="4033796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204821AE-4634-4DF9-88B1-271BCF622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33" y="4033796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000" r="-7500"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374C1A7-17BD-4D08-90E8-A38E4215F7E6}"/>
                  </a:ext>
                </a:extLst>
              </p:cNvPr>
              <p:cNvSpPr txBox="1"/>
              <p:nvPr/>
            </p:nvSpPr>
            <p:spPr>
              <a:xfrm>
                <a:off x="7150911" y="4215246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374C1A7-17BD-4D08-90E8-A38E4215F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911" y="4215246"/>
                <a:ext cx="239809" cy="138499"/>
              </a:xfrm>
              <a:prstGeom prst="rect">
                <a:avLst/>
              </a:prstGeom>
              <a:blipFill>
                <a:blip r:embed="rId20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Oval 209">
            <a:extLst>
              <a:ext uri="{FF2B5EF4-FFF2-40B4-BE49-F238E27FC236}">
                <a16:creationId xmlns:a16="http://schemas.microsoft.com/office/drawing/2014/main" id="{926456F3-9186-416B-B78F-04D068C8D948}"/>
              </a:ext>
            </a:extLst>
          </p:cNvPr>
          <p:cNvSpPr/>
          <p:nvPr/>
        </p:nvSpPr>
        <p:spPr>
          <a:xfrm>
            <a:off x="10385512" y="2195013"/>
            <a:ext cx="373506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Init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0129BC14-1AA9-414B-9229-64F8426AEC08}"/>
              </a:ext>
            </a:extLst>
          </p:cNvPr>
          <p:cNvCxnSpPr>
            <a:cxnSpLocks/>
            <a:stCxn id="210" idx="5"/>
            <a:endCxn id="213" idx="0"/>
          </p:cNvCxnSpPr>
          <p:nvPr/>
        </p:nvCxnSpPr>
        <p:spPr>
          <a:xfrm>
            <a:off x="10704319" y="2400328"/>
            <a:ext cx="604663" cy="40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B832F973-8E4B-4BCF-8CBF-3EBFF4EC66BC}"/>
              </a:ext>
            </a:extLst>
          </p:cNvPr>
          <p:cNvCxnSpPr>
            <a:cxnSpLocks/>
            <a:endCxn id="210" idx="0"/>
          </p:cNvCxnSpPr>
          <p:nvPr/>
        </p:nvCxnSpPr>
        <p:spPr>
          <a:xfrm flipH="1">
            <a:off x="10572265" y="1839623"/>
            <a:ext cx="5726" cy="35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Oval 212">
            <a:extLst>
              <a:ext uri="{FF2B5EF4-FFF2-40B4-BE49-F238E27FC236}">
                <a16:creationId xmlns:a16="http://schemas.microsoft.com/office/drawing/2014/main" id="{34087A18-A6B4-4CCC-AD7D-9AD96A02A058}"/>
              </a:ext>
            </a:extLst>
          </p:cNvPr>
          <p:cNvSpPr/>
          <p:nvPr/>
        </p:nvSpPr>
        <p:spPr>
          <a:xfrm>
            <a:off x="11180987" y="2805842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340FA30F-989C-4CD1-917B-1E15D95F4AF1}"/>
              </a:ext>
            </a:extLst>
          </p:cNvPr>
          <p:cNvSpPr/>
          <p:nvPr/>
        </p:nvSpPr>
        <p:spPr>
          <a:xfrm>
            <a:off x="9692372" y="2814055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E06F4CBA-E1F7-4D68-A225-3009487A98F2}"/>
              </a:ext>
            </a:extLst>
          </p:cNvPr>
          <p:cNvSpPr/>
          <p:nvPr/>
        </p:nvSpPr>
        <p:spPr>
          <a:xfrm>
            <a:off x="9847590" y="3686422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956DF50E-5C47-4B77-90CF-FB8A832B0CB0}"/>
              </a:ext>
            </a:extLst>
          </p:cNvPr>
          <p:cNvSpPr/>
          <p:nvPr/>
        </p:nvSpPr>
        <p:spPr>
          <a:xfrm>
            <a:off x="10759018" y="4266589"/>
            <a:ext cx="573724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Error</a:t>
            </a: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72F5E787-90C1-4011-B0E8-3383E32422AC}"/>
              </a:ext>
            </a:extLst>
          </p:cNvPr>
          <p:cNvCxnSpPr>
            <a:cxnSpLocks/>
            <a:stCxn id="210" idx="3"/>
            <a:endCxn id="214" idx="0"/>
          </p:cNvCxnSpPr>
          <p:nvPr/>
        </p:nvCxnSpPr>
        <p:spPr>
          <a:xfrm flipH="1">
            <a:off x="9820367" y="2400328"/>
            <a:ext cx="619844" cy="413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497B1EFD-D231-4B93-8715-9FF429E70804}"/>
              </a:ext>
            </a:extLst>
          </p:cNvPr>
          <p:cNvCxnSpPr>
            <a:cxnSpLocks/>
            <a:stCxn id="215" idx="4"/>
            <a:endCxn id="216" idx="0"/>
          </p:cNvCxnSpPr>
          <p:nvPr/>
        </p:nvCxnSpPr>
        <p:spPr>
          <a:xfrm>
            <a:off x="9975585" y="3926964"/>
            <a:ext cx="1070295" cy="33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0A8B740F-11B0-4D9D-92E5-5FCA94B1F063}"/>
              </a:ext>
            </a:extLst>
          </p:cNvPr>
          <p:cNvCxnSpPr>
            <a:cxnSpLocks/>
            <a:stCxn id="215" idx="4"/>
            <a:endCxn id="220" idx="0"/>
          </p:cNvCxnSpPr>
          <p:nvPr/>
        </p:nvCxnSpPr>
        <p:spPr>
          <a:xfrm>
            <a:off x="9975585" y="3926964"/>
            <a:ext cx="217849" cy="36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Oval 219">
            <a:extLst>
              <a:ext uri="{FF2B5EF4-FFF2-40B4-BE49-F238E27FC236}">
                <a16:creationId xmlns:a16="http://schemas.microsoft.com/office/drawing/2014/main" id="{E91FDA5E-4988-4F01-8C96-4B4CCFF9D2A5}"/>
              </a:ext>
            </a:extLst>
          </p:cNvPr>
          <p:cNvSpPr/>
          <p:nvPr/>
        </p:nvSpPr>
        <p:spPr>
          <a:xfrm>
            <a:off x="10065439" y="4294789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C066F7EB-0451-4EA7-A147-F4EEC9CCF8A8}"/>
                  </a:ext>
                </a:extLst>
              </p:cNvPr>
              <p:cNvSpPr txBox="1"/>
              <p:nvPr/>
            </p:nvSpPr>
            <p:spPr>
              <a:xfrm>
                <a:off x="10659029" y="1883962"/>
                <a:ext cx="932435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𝑁𝑜𝑛𝐷𝑒𝑡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𝐼𝑛𝑡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C066F7EB-0451-4EA7-A147-F4EEC9CCF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029" y="1883962"/>
                <a:ext cx="932435" cy="138499"/>
              </a:xfrm>
              <a:prstGeom prst="rect">
                <a:avLst/>
              </a:prstGeom>
              <a:blipFill>
                <a:blip r:embed="rId6"/>
                <a:stretch>
                  <a:fillRect l="-1316" r="-1974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0639F28D-68EC-4606-BF84-386469550625}"/>
                  </a:ext>
                </a:extLst>
              </p:cNvPr>
              <p:cNvSpPr txBox="1"/>
              <p:nvPr/>
            </p:nvSpPr>
            <p:spPr>
              <a:xfrm>
                <a:off x="9330181" y="3420137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0639F28D-68EC-4606-BF84-386469550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181" y="3420137"/>
                <a:ext cx="348237" cy="138499"/>
              </a:xfrm>
              <a:prstGeom prst="rect">
                <a:avLst/>
              </a:prstGeom>
              <a:blipFill>
                <a:blip r:embed="rId7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B7DCD332-FF1B-4106-8305-A12AD0953235}"/>
                  </a:ext>
                </a:extLst>
              </p:cNvPr>
              <p:cNvSpPr txBox="1"/>
              <p:nvPr/>
            </p:nvSpPr>
            <p:spPr>
              <a:xfrm>
                <a:off x="9192344" y="3244658"/>
                <a:ext cx="48756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&lt;−51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B7DCD332-FF1B-4106-8305-A12AD0953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344" y="3244658"/>
                <a:ext cx="487569" cy="138499"/>
              </a:xfrm>
              <a:prstGeom prst="rect">
                <a:avLst/>
              </a:prstGeom>
              <a:blipFill>
                <a:blip r:embed="rId21"/>
                <a:stretch>
                  <a:fillRect l="-2500" r="-1250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BD8310DA-7B65-4568-8A6E-72161286D4EC}"/>
                  </a:ext>
                </a:extLst>
              </p:cNvPr>
              <p:cNvSpPr txBox="1"/>
              <p:nvPr/>
            </p:nvSpPr>
            <p:spPr>
              <a:xfrm>
                <a:off x="10085231" y="2999342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BD8310DA-7B65-4568-8A6E-72161286D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231" y="2999342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5F3D59D8-915B-462F-8034-59EAE196E913}"/>
              </a:ext>
            </a:extLst>
          </p:cNvPr>
          <p:cNvSpPr/>
          <p:nvPr/>
        </p:nvSpPr>
        <p:spPr>
          <a:xfrm rot="495639">
            <a:off x="9746024" y="3028918"/>
            <a:ext cx="222816" cy="678106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9A09F150-EDEE-4717-B80D-3563F19C76C5}"/>
              </a:ext>
            </a:extLst>
          </p:cNvPr>
          <p:cNvSpPr/>
          <p:nvPr/>
        </p:nvSpPr>
        <p:spPr>
          <a:xfrm rot="19597470" flipH="1">
            <a:off x="9781973" y="2935375"/>
            <a:ext cx="273993" cy="76119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8EB0DEAC-3085-492C-AC9A-7327B4F36355}"/>
                  </a:ext>
                </a:extLst>
              </p:cNvPr>
              <p:cNvSpPr txBox="1"/>
              <p:nvPr/>
            </p:nvSpPr>
            <p:spPr>
              <a:xfrm>
                <a:off x="10098567" y="3110102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8EB0DEAC-3085-492C-AC9A-7327B4F36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567" y="3110102"/>
                <a:ext cx="348237" cy="138499"/>
              </a:xfrm>
              <a:prstGeom prst="rect">
                <a:avLst/>
              </a:prstGeom>
              <a:blipFill>
                <a:blip r:embed="rId9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BAC33A81-392D-4833-A80F-C4C01421D070}"/>
              </a:ext>
            </a:extLst>
          </p:cNvPr>
          <p:cNvSpPr/>
          <p:nvPr/>
        </p:nvSpPr>
        <p:spPr>
          <a:xfrm rot="20573911" flipH="1">
            <a:off x="11194220" y="3049696"/>
            <a:ext cx="272640" cy="615521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2F32DBAF-4AFA-4C22-A48E-72B982DD33BE}"/>
              </a:ext>
            </a:extLst>
          </p:cNvPr>
          <p:cNvSpPr/>
          <p:nvPr/>
        </p:nvSpPr>
        <p:spPr>
          <a:xfrm rot="11781901" flipH="1" flipV="1">
            <a:off x="11160440" y="2968052"/>
            <a:ext cx="136268" cy="711264"/>
          </a:xfrm>
          <a:custGeom>
            <a:avLst/>
            <a:gdLst>
              <a:gd name="connsiteX0" fmla="*/ 0 w 297180"/>
              <a:gd name="connsiteY0" fmla="*/ 0 h 670560"/>
              <a:gd name="connsiteX1" fmla="*/ 68580 w 297180"/>
              <a:gd name="connsiteY1" fmla="*/ 487680 h 670560"/>
              <a:gd name="connsiteX2" fmla="*/ 297180 w 297180"/>
              <a:gd name="connsiteY2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80" h="670560">
                <a:moveTo>
                  <a:pt x="0" y="0"/>
                </a:moveTo>
                <a:cubicBezTo>
                  <a:pt x="9525" y="187960"/>
                  <a:pt x="19050" y="375920"/>
                  <a:pt x="68580" y="487680"/>
                </a:cubicBezTo>
                <a:cubicBezTo>
                  <a:pt x="118110" y="599440"/>
                  <a:pt x="207645" y="635000"/>
                  <a:pt x="297180" y="67056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A5D13A1-DB5E-451F-96BE-E2CE6818312B}"/>
                  </a:ext>
                </a:extLst>
              </p:cNvPr>
              <p:cNvSpPr txBox="1"/>
              <p:nvPr/>
            </p:nvSpPr>
            <p:spPr>
              <a:xfrm>
                <a:off x="10845068" y="2973898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A5D13A1-DB5E-451F-96BE-E2CE6818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068" y="2973898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BF77CA2-9271-4FEE-812D-117B0D15499B}"/>
                  </a:ext>
                </a:extLst>
              </p:cNvPr>
              <p:cNvSpPr txBox="1"/>
              <p:nvPr/>
            </p:nvSpPr>
            <p:spPr>
              <a:xfrm>
                <a:off x="10764535" y="3100382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BF77CA2-9271-4FEE-812D-117B0D154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4535" y="3100382"/>
                <a:ext cx="348237" cy="138499"/>
              </a:xfrm>
              <a:prstGeom prst="rect">
                <a:avLst/>
              </a:prstGeom>
              <a:blipFill>
                <a:blip r:embed="rId10"/>
                <a:stretch>
                  <a:fillRect l="-7018" r="-1754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8C12A50C-B5A9-4334-A5D8-258DF3CB1602}"/>
                  </a:ext>
                </a:extLst>
              </p:cNvPr>
              <p:cNvSpPr txBox="1"/>
              <p:nvPr/>
            </p:nvSpPr>
            <p:spPr>
              <a:xfrm>
                <a:off x="10118253" y="3838064"/>
                <a:ext cx="77489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=0∧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&gt;19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8C12A50C-B5A9-4334-A5D8-258DF3CB1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253" y="3838064"/>
                <a:ext cx="774892" cy="138499"/>
              </a:xfrm>
              <a:prstGeom prst="rect">
                <a:avLst/>
              </a:prstGeom>
              <a:blipFill>
                <a:blip r:embed="rId22"/>
                <a:stretch>
                  <a:fillRect l="-3150" r="-3937" b="-3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Oval 232">
            <a:extLst>
              <a:ext uri="{FF2B5EF4-FFF2-40B4-BE49-F238E27FC236}">
                <a16:creationId xmlns:a16="http://schemas.microsoft.com/office/drawing/2014/main" id="{44F48D2D-A7EB-4D07-866F-3D811BD0EFA4}"/>
              </a:ext>
            </a:extLst>
          </p:cNvPr>
          <p:cNvSpPr/>
          <p:nvPr/>
        </p:nvSpPr>
        <p:spPr>
          <a:xfrm>
            <a:off x="11096131" y="3663497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2"/>
              </a:solidFill>
            </a:endParaRPr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BC199D0-9CAC-499F-A384-6EE2ADE1C787}"/>
              </a:ext>
            </a:extLst>
          </p:cNvPr>
          <p:cNvCxnSpPr>
            <a:cxnSpLocks/>
            <a:stCxn id="233" idx="3"/>
            <a:endCxn id="220" idx="7"/>
          </p:cNvCxnSpPr>
          <p:nvPr/>
        </p:nvCxnSpPr>
        <p:spPr>
          <a:xfrm flipH="1">
            <a:off x="10283940" y="3868812"/>
            <a:ext cx="849680" cy="46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737C05A6-B79A-490F-80F7-E202A90D2969}"/>
              </a:ext>
            </a:extLst>
          </p:cNvPr>
          <p:cNvCxnSpPr>
            <a:cxnSpLocks/>
            <a:stCxn id="233" idx="4"/>
            <a:endCxn id="216" idx="0"/>
          </p:cNvCxnSpPr>
          <p:nvPr/>
        </p:nvCxnSpPr>
        <p:spPr>
          <a:xfrm flipH="1">
            <a:off x="11045880" y="3904039"/>
            <a:ext cx="178246" cy="362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7788B1D7-A1B9-4854-BBCD-15AE8A163E04}"/>
                  </a:ext>
                </a:extLst>
              </p:cNvPr>
              <p:cNvSpPr txBox="1"/>
              <p:nvPr/>
            </p:nvSpPr>
            <p:spPr>
              <a:xfrm>
                <a:off x="11150392" y="4037726"/>
                <a:ext cx="74283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9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9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=0∧</m:t>
                    </m:r>
                    <m:r>
                      <a:rPr lang="es-ES" sz="9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9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s-ES" sz="900" dirty="0">
                    <a:solidFill>
                      <a:schemeClr val="tx2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7788B1D7-A1B9-4854-BBCD-15AE8A163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392" y="4037726"/>
                <a:ext cx="742832" cy="138499"/>
              </a:xfrm>
              <a:prstGeom prst="rect">
                <a:avLst/>
              </a:prstGeom>
              <a:blipFill>
                <a:blip r:embed="rId23"/>
                <a:stretch>
                  <a:fillRect l="-5738" t="-30435" r="-9016" b="-478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9A36C34B-2725-413F-870E-273D92602DB5}"/>
                  </a:ext>
                </a:extLst>
              </p:cNvPr>
              <p:cNvSpPr txBox="1"/>
              <p:nvPr/>
            </p:nvSpPr>
            <p:spPr>
              <a:xfrm>
                <a:off x="9901029" y="2319506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9A36C34B-2725-413F-870E-273D92602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029" y="2319506"/>
                <a:ext cx="239809" cy="138499"/>
              </a:xfrm>
              <a:prstGeom prst="rect">
                <a:avLst/>
              </a:prstGeom>
              <a:blipFill>
                <a:blip r:embed="rId20"/>
                <a:stretch>
                  <a:fillRect l="-10000" r="-7500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7DB90B92-6BAC-4333-A0BA-14BC3DA2A63D}"/>
                  </a:ext>
                </a:extLst>
              </p:cNvPr>
              <p:cNvSpPr txBox="1"/>
              <p:nvPr/>
            </p:nvSpPr>
            <p:spPr>
              <a:xfrm>
                <a:off x="11045112" y="2324489"/>
                <a:ext cx="31123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7DB90B92-6BAC-4333-A0BA-14BC3DA2A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112" y="2324489"/>
                <a:ext cx="311239" cy="138499"/>
              </a:xfrm>
              <a:prstGeom prst="rect">
                <a:avLst/>
              </a:prstGeom>
              <a:blipFill>
                <a:blip r:embed="rId2"/>
                <a:stretch>
                  <a:fillRect l="-3922" r="-9804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296350C-37E9-483E-A49C-F6BC13AF3972}"/>
                  </a:ext>
                </a:extLst>
              </p:cNvPr>
              <p:cNvSpPr txBox="1"/>
              <p:nvPr/>
            </p:nvSpPr>
            <p:spPr>
              <a:xfrm>
                <a:off x="11527340" y="3317963"/>
                <a:ext cx="34823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9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296350C-37E9-483E-A49C-F6BC13AF3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7340" y="3317963"/>
                <a:ext cx="348237" cy="138499"/>
              </a:xfrm>
              <a:prstGeom prst="rect">
                <a:avLst/>
              </a:prstGeom>
              <a:blipFill>
                <a:blip r:embed="rId11"/>
                <a:stretch>
                  <a:fillRect l="-7018" r="-1754" b="-2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9430D83-1482-4BEC-9833-40A9E8E3538F}"/>
                  </a:ext>
                </a:extLst>
              </p:cNvPr>
              <p:cNvSpPr txBox="1"/>
              <p:nvPr/>
            </p:nvSpPr>
            <p:spPr>
              <a:xfrm>
                <a:off x="11527732" y="3164535"/>
                <a:ext cx="401007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&gt;51 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9430D83-1482-4BEC-9833-40A9E8E35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7732" y="3164535"/>
                <a:ext cx="401007" cy="138499"/>
              </a:xfrm>
              <a:prstGeom prst="rect">
                <a:avLst/>
              </a:prstGeom>
              <a:blipFill>
                <a:blip r:embed="rId24"/>
                <a:stretch>
                  <a:fillRect l="-3030" r="-1515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5A720426-80B4-4441-BA9B-DC36FEB4D3AD}"/>
                  </a:ext>
                </a:extLst>
              </p:cNvPr>
              <p:cNvSpPr txBox="1"/>
              <p:nvPr/>
            </p:nvSpPr>
            <p:spPr>
              <a:xfrm>
                <a:off x="9808177" y="4037725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5A720426-80B4-4441-BA9B-DC36FEB4D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8177" y="4037725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348D8F09-E4E8-4A21-AF87-F7226B679E15}"/>
                  </a:ext>
                </a:extLst>
              </p:cNvPr>
              <p:cNvSpPr txBox="1"/>
              <p:nvPr/>
            </p:nvSpPr>
            <p:spPr>
              <a:xfrm>
                <a:off x="10440055" y="4219175"/>
                <a:ext cx="23980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9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s-ES" sz="9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348D8F09-E4E8-4A21-AF87-F7226B679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55" y="4219175"/>
                <a:ext cx="239809" cy="138499"/>
              </a:xfrm>
              <a:prstGeom prst="rect">
                <a:avLst/>
              </a:prstGeom>
              <a:blipFill>
                <a:blip r:embed="rId4"/>
                <a:stretch>
                  <a:fillRect l="-10256" r="-10256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Arrow: Right 244">
            <a:extLst>
              <a:ext uri="{FF2B5EF4-FFF2-40B4-BE49-F238E27FC236}">
                <a16:creationId xmlns:a16="http://schemas.microsoft.com/office/drawing/2014/main" id="{BC947E84-91E7-49A1-8FC3-9689BEB312C0}"/>
              </a:ext>
            </a:extLst>
          </p:cNvPr>
          <p:cNvSpPr/>
          <p:nvPr/>
        </p:nvSpPr>
        <p:spPr>
          <a:xfrm>
            <a:off x="5078411" y="5272423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6" name="Arrow: Right 245">
            <a:extLst>
              <a:ext uri="{FF2B5EF4-FFF2-40B4-BE49-F238E27FC236}">
                <a16:creationId xmlns:a16="http://schemas.microsoft.com/office/drawing/2014/main" id="{A04C3080-EFA9-4D5C-88E8-BEE255A4ACC2}"/>
              </a:ext>
            </a:extLst>
          </p:cNvPr>
          <p:cNvSpPr/>
          <p:nvPr/>
        </p:nvSpPr>
        <p:spPr>
          <a:xfrm>
            <a:off x="2423592" y="5294366"/>
            <a:ext cx="328773" cy="236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7" name="Rectangle: Rounded Corners 30">
            <a:extLst>
              <a:ext uri="{FF2B5EF4-FFF2-40B4-BE49-F238E27FC236}">
                <a16:creationId xmlns:a16="http://schemas.microsoft.com/office/drawing/2014/main" id="{CF2F8F75-C73A-4C61-B47F-815863031EC7}"/>
              </a:ext>
            </a:extLst>
          </p:cNvPr>
          <p:cNvSpPr/>
          <p:nvPr/>
        </p:nvSpPr>
        <p:spPr>
          <a:xfrm>
            <a:off x="2913537" y="5189664"/>
            <a:ext cx="200501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Conditional pattern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248" name="Rectangle: Rounded Corners 30">
            <a:extLst>
              <a:ext uri="{FF2B5EF4-FFF2-40B4-BE49-F238E27FC236}">
                <a16:creationId xmlns:a16="http://schemas.microsoft.com/office/drawing/2014/main" id="{9249DBEF-5B1D-4F0F-B9DE-93E316FFA7E6}"/>
              </a:ext>
            </a:extLst>
          </p:cNvPr>
          <p:cNvSpPr/>
          <p:nvPr/>
        </p:nvSpPr>
        <p:spPr>
          <a:xfrm>
            <a:off x="8456600" y="5157554"/>
            <a:ext cx="3521253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From 65536 possible values to 6</a:t>
            </a: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9F45718B-06C6-4A4E-8794-D3E259E37B39}"/>
              </a:ext>
            </a:extLst>
          </p:cNvPr>
          <p:cNvSpPr/>
          <p:nvPr/>
        </p:nvSpPr>
        <p:spPr>
          <a:xfrm>
            <a:off x="4345424" y="2379255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1970081A-F426-409D-8ABE-2AA031AF2CA8}"/>
              </a:ext>
            </a:extLst>
          </p:cNvPr>
          <p:cNvSpPr/>
          <p:nvPr/>
        </p:nvSpPr>
        <p:spPr>
          <a:xfrm>
            <a:off x="2854750" y="2380213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D86F8ADC-9428-4D74-B05C-22697D52DC68}"/>
              </a:ext>
            </a:extLst>
          </p:cNvPr>
          <p:cNvSpPr/>
          <p:nvPr/>
        </p:nvSpPr>
        <p:spPr>
          <a:xfrm>
            <a:off x="3544301" y="3532656"/>
            <a:ext cx="760771" cy="4336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771F2F10-E884-4066-B8A7-B28A3A18F8DE}"/>
              </a:ext>
            </a:extLst>
          </p:cNvPr>
          <p:cNvSpPr/>
          <p:nvPr/>
        </p:nvSpPr>
        <p:spPr>
          <a:xfrm>
            <a:off x="6306046" y="3475313"/>
            <a:ext cx="2037661" cy="612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D2DE45AD-EADD-407C-BA24-ED9B52D28EFC}"/>
              </a:ext>
            </a:extLst>
          </p:cNvPr>
          <p:cNvSpPr/>
          <p:nvPr/>
        </p:nvSpPr>
        <p:spPr>
          <a:xfrm>
            <a:off x="9069567" y="3167407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48145A51-F3CA-4A3D-922C-717448310A15}"/>
              </a:ext>
            </a:extLst>
          </p:cNvPr>
          <p:cNvSpPr/>
          <p:nvPr/>
        </p:nvSpPr>
        <p:spPr>
          <a:xfrm>
            <a:off x="11302895" y="3089637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85A83DDE-DC70-4D50-9322-FFAA25DB41D2}"/>
              </a:ext>
            </a:extLst>
          </p:cNvPr>
          <p:cNvSpPr/>
          <p:nvPr/>
        </p:nvSpPr>
        <p:spPr>
          <a:xfrm>
            <a:off x="10301724" y="3763739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A7D1B6FF-A949-4D28-ADAA-B23B7CB6A30A}"/>
              </a:ext>
            </a:extLst>
          </p:cNvPr>
          <p:cNvSpPr/>
          <p:nvPr/>
        </p:nvSpPr>
        <p:spPr>
          <a:xfrm>
            <a:off x="11312148" y="3965782"/>
            <a:ext cx="735432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357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40" grpId="0" animBg="1"/>
      <p:bldP spid="41" grpId="0" animBg="1"/>
      <p:bldP spid="42" grpId="0" animBg="1"/>
      <p:bldP spid="44" grpId="0" animBg="1"/>
      <p:bldP spid="48" grpId="0" animBg="1"/>
      <p:bldP spid="49" grpId="0" animBg="1"/>
      <p:bldP spid="50" grpId="0" animBg="1"/>
      <p:bldP spid="51" grpId="0" animBg="1"/>
      <p:bldP spid="71" grpId="0" animBg="1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104" grpId="0" animBg="1"/>
      <p:bldP spid="105" grpId="0" animBg="1"/>
      <p:bldP spid="106" grpId="0"/>
      <p:bldP spid="108" grpId="0" animBg="1"/>
      <p:bldP spid="109" grpId="0" animBg="1"/>
      <p:bldP spid="111" grpId="0"/>
      <p:bldP spid="112" grpId="0"/>
      <p:bldP spid="113" grpId="0"/>
      <p:bldP spid="114" grpId="0"/>
      <p:bldP spid="115" grpId="0"/>
      <p:bldP spid="135" grpId="0" animBg="1"/>
      <p:bldP spid="138" grpId="0" animBg="1"/>
      <p:bldP spid="139" grpId="0" animBg="1"/>
      <p:bldP spid="140" grpId="0" animBg="1"/>
      <p:bldP spid="141" grpId="0" animBg="1"/>
      <p:bldP spid="145" grpId="0" animBg="1"/>
      <p:bldP spid="150" grpId="0"/>
      <p:bldP spid="151" grpId="0"/>
      <p:bldP spid="152" grpId="0"/>
      <p:bldP spid="153" grpId="0"/>
      <p:bldP spid="154" grpId="0" animBg="1"/>
      <p:bldP spid="155" grpId="0" animBg="1"/>
      <p:bldP spid="156" grpId="0"/>
      <p:bldP spid="157" grpId="0" animBg="1"/>
      <p:bldP spid="158" grpId="0" animBg="1"/>
      <p:bldP spid="159" grpId="0"/>
      <p:bldP spid="160" grpId="0"/>
      <p:bldP spid="163" grpId="0"/>
      <p:bldP spid="169" grpId="0" animBg="1"/>
      <p:bldP spid="107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3" grpId="0"/>
      <p:bldP spid="134" grpId="0"/>
      <p:bldP spid="164" grpId="0"/>
      <p:bldP spid="165" grpId="0"/>
      <p:bldP spid="166" grpId="0"/>
      <p:bldP spid="167" grpId="0"/>
      <p:bldP spid="168" grpId="0"/>
      <p:bldP spid="171" grpId="0"/>
      <p:bldP spid="172" grpId="0"/>
      <p:bldP spid="174" grpId="0"/>
      <p:bldP spid="175" grpId="0"/>
      <p:bldP spid="210" grpId="0" animBg="1"/>
      <p:bldP spid="213" grpId="0" animBg="1"/>
      <p:bldP spid="214" grpId="0" animBg="1"/>
      <p:bldP spid="215" grpId="0" animBg="1"/>
      <p:bldP spid="216" grpId="0" animBg="1"/>
      <p:bldP spid="220" grpId="0" animBg="1"/>
      <p:bldP spid="221" grpId="0"/>
      <p:bldP spid="222" grpId="0"/>
      <p:bldP spid="223" grpId="0"/>
      <p:bldP spid="224" grpId="0"/>
      <p:bldP spid="225" grpId="0" animBg="1"/>
      <p:bldP spid="226" grpId="0" animBg="1"/>
      <p:bldP spid="227" grpId="0"/>
      <p:bldP spid="228" grpId="0" animBg="1"/>
      <p:bldP spid="229" grpId="0" animBg="1"/>
      <p:bldP spid="230" grpId="0"/>
      <p:bldP spid="231" grpId="0"/>
      <p:bldP spid="232" grpId="0"/>
      <p:bldP spid="233" grpId="0" animBg="1"/>
      <p:bldP spid="236" grpId="0"/>
      <p:bldP spid="237" grpId="0"/>
      <p:bldP spid="239" grpId="0"/>
      <p:bldP spid="241" grpId="0"/>
      <p:bldP spid="242" grpId="0"/>
      <p:bldP spid="243" grpId="0"/>
      <p:bldP spid="244" grpId="0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Variable simplification – Experiments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7B2F113-D915-486B-976F-2169CD9B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357" y="1484784"/>
            <a:ext cx="1219196" cy="75561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99F8A-8B4D-4805-867F-1A4FDDF2C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239" y="4080571"/>
            <a:ext cx="1443042" cy="436635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FC45920-B9AA-4D71-A56B-F219E9E7803A}"/>
              </a:ext>
            </a:extLst>
          </p:cNvPr>
          <p:cNvGrpSpPr/>
          <p:nvPr/>
        </p:nvGrpSpPr>
        <p:grpSpPr>
          <a:xfrm>
            <a:off x="5744285" y="2766017"/>
            <a:ext cx="1538950" cy="662983"/>
            <a:chOff x="7000918" y="4719130"/>
            <a:chExt cx="1538950" cy="66298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0AEFBC-E32D-4784-A734-B63787B46AED}"/>
                </a:ext>
              </a:extLst>
            </p:cNvPr>
            <p:cNvSpPr txBox="1"/>
            <p:nvPr/>
          </p:nvSpPr>
          <p:spPr>
            <a:xfrm>
              <a:off x="7552713" y="4819790"/>
              <a:ext cx="987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/>
                <a:t>Theta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2E13690-AB3B-4CF2-B81C-997F08ED6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0918" y="4719130"/>
              <a:ext cx="649453" cy="662983"/>
            </a:xfrm>
            <a:prstGeom prst="rect">
              <a:avLst/>
            </a:prstGeom>
          </p:spPr>
        </p:pic>
      </p:grpSp>
      <p:sp>
        <p:nvSpPr>
          <p:cNvPr id="23" name="Rectangle: Rounded Corners 30">
            <a:extLst>
              <a:ext uri="{FF2B5EF4-FFF2-40B4-BE49-F238E27FC236}">
                <a16:creationId xmlns:a16="http://schemas.microsoft.com/office/drawing/2014/main" id="{14DBB130-F560-4BB0-9C74-12BE3CE92A27}"/>
              </a:ext>
            </a:extLst>
          </p:cNvPr>
          <p:cNvSpPr/>
          <p:nvPr/>
        </p:nvSpPr>
        <p:spPr>
          <a:xfrm>
            <a:off x="1180298" y="1709039"/>
            <a:ext cx="2033179" cy="75561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Three state-of-the-art model checkers</a:t>
            </a:r>
          </a:p>
        </p:txBody>
      </p:sp>
      <p:sp>
        <p:nvSpPr>
          <p:cNvPr id="24" name="Rectangle: Rounded Corners 30">
            <a:extLst>
              <a:ext uri="{FF2B5EF4-FFF2-40B4-BE49-F238E27FC236}">
                <a16:creationId xmlns:a16="http://schemas.microsoft.com/office/drawing/2014/main" id="{B0B43049-9206-4859-BC1E-257681C6BA0A}"/>
              </a:ext>
            </a:extLst>
          </p:cNvPr>
          <p:cNvSpPr/>
          <p:nvPr/>
        </p:nvSpPr>
        <p:spPr>
          <a:xfrm>
            <a:off x="1209012" y="2878536"/>
            <a:ext cx="2033179" cy="75561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/>
              <a:t>Different CFAs</a:t>
            </a:r>
          </a:p>
        </p:txBody>
      </p:sp>
      <p:sp>
        <p:nvSpPr>
          <p:cNvPr id="25" name="Rectangle: Rounded Corners 30">
            <a:extLst>
              <a:ext uri="{FF2B5EF4-FFF2-40B4-BE49-F238E27FC236}">
                <a16:creationId xmlns:a16="http://schemas.microsoft.com/office/drawing/2014/main" id="{DF544257-7AEB-485F-98A7-307076E0C429}"/>
              </a:ext>
            </a:extLst>
          </p:cNvPr>
          <p:cNvSpPr/>
          <p:nvPr/>
        </p:nvSpPr>
        <p:spPr>
          <a:xfrm>
            <a:off x="1195832" y="4048033"/>
            <a:ext cx="2033179" cy="75561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/>
              <a:t>Several executions to have significant results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CE1D27-88AC-44BF-A351-E4F31A38FAD3}"/>
              </a:ext>
            </a:extLst>
          </p:cNvPr>
          <p:cNvSpPr txBox="1"/>
          <p:nvPr/>
        </p:nvSpPr>
        <p:spPr>
          <a:xfrm>
            <a:off x="6021110" y="2276872"/>
            <a:ext cx="527845" cy="383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marL="0" indent="0">
              <a:buNone/>
            </a:pPr>
            <a:r>
              <a:rPr lang="en-US" sz="1400" b="0" i="1" dirty="0"/>
              <a:t>BDD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3C7FA6-64C3-4C98-B0CC-E75A6A8D7839}"/>
              </a:ext>
            </a:extLst>
          </p:cNvPr>
          <p:cNvSpPr txBox="1"/>
          <p:nvPr/>
        </p:nvSpPr>
        <p:spPr>
          <a:xfrm>
            <a:off x="6021110" y="3429000"/>
            <a:ext cx="1443042" cy="383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marL="0" indent="0">
              <a:buNone/>
            </a:pPr>
            <a:r>
              <a:rPr lang="en-US" sz="1400" b="0" i="1" dirty="0"/>
              <a:t>SMT, CEGAR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679A0B-8B8A-478C-9751-37E63D89BB89}"/>
              </a:ext>
            </a:extLst>
          </p:cNvPr>
          <p:cNvSpPr txBox="1"/>
          <p:nvPr/>
        </p:nvSpPr>
        <p:spPr>
          <a:xfrm>
            <a:off x="6021110" y="4557986"/>
            <a:ext cx="527845" cy="383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marL="0" indent="0">
              <a:buNone/>
            </a:pPr>
            <a:r>
              <a:rPr lang="en-US" sz="1400" b="0" i="1" dirty="0"/>
              <a:t>SAT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65D96CC-0FD2-444B-8C4C-A9BD11D42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960" y="1425616"/>
            <a:ext cx="1276641" cy="10657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8B614A3-66DE-4F71-B8E1-30541CBABB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868" y="1313048"/>
            <a:ext cx="1276641" cy="1395872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0925A25-2432-4444-8D73-22325882BA3C}"/>
              </a:ext>
            </a:extLst>
          </p:cNvPr>
          <p:cNvGrpSpPr/>
          <p:nvPr/>
        </p:nvGrpSpPr>
        <p:grpSpPr>
          <a:xfrm>
            <a:off x="5896566" y="2942011"/>
            <a:ext cx="1576666" cy="2212043"/>
            <a:chOff x="7543670" y="2942011"/>
            <a:chExt cx="1576666" cy="2212043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67D5113-92EC-4131-A437-CDDD54FB4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43670" y="2942011"/>
              <a:ext cx="1419321" cy="2212043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5EEBEEE-C92F-480E-80BF-B2810CB6F126}"/>
                </a:ext>
              </a:extLst>
            </p:cNvPr>
            <p:cNvSpPr/>
            <p:nvPr/>
          </p:nvSpPr>
          <p:spPr>
            <a:xfrm>
              <a:off x="8832304" y="3634150"/>
              <a:ext cx="288032" cy="365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0B2537-FA21-41E9-B64F-F84F48F729B0}"/>
              </a:ext>
            </a:extLst>
          </p:cNvPr>
          <p:cNvGrpSpPr/>
          <p:nvPr/>
        </p:nvGrpSpPr>
        <p:grpSpPr>
          <a:xfrm>
            <a:off x="7689257" y="2852936"/>
            <a:ext cx="1469084" cy="2212043"/>
            <a:chOff x="9336360" y="2821459"/>
            <a:chExt cx="1629209" cy="2453148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391F095-1EB0-4179-B5DB-86F8F1BBD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49102" y="2821459"/>
              <a:ext cx="1616467" cy="2453148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5F39C75-18B5-47BE-A929-34E436BA2D08}"/>
                </a:ext>
              </a:extLst>
            </p:cNvPr>
            <p:cNvSpPr/>
            <p:nvPr/>
          </p:nvSpPr>
          <p:spPr>
            <a:xfrm>
              <a:off x="9336360" y="3280992"/>
              <a:ext cx="116084" cy="103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723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35" grpId="0"/>
      <p:bldP spid="35" grpId="1"/>
      <p:bldP spid="36" grpId="0"/>
      <p:bldP spid="36" grpId="1"/>
      <p:bldP spid="37" grpId="0"/>
      <p:bldP spid="3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Conclusions – Results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CC842EF-2B11-456B-8A86-706F7634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350" y="3177442"/>
            <a:ext cx="1219196" cy="75561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4CD91B1-5F3D-4B73-9CCA-A639B2A64487}"/>
              </a:ext>
            </a:extLst>
          </p:cNvPr>
          <p:cNvGrpSpPr/>
          <p:nvPr/>
        </p:nvGrpSpPr>
        <p:grpSpPr>
          <a:xfrm>
            <a:off x="1160308" y="4278185"/>
            <a:ext cx="1538950" cy="662983"/>
            <a:chOff x="7000918" y="4719130"/>
            <a:chExt cx="1538950" cy="66298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1F9F9D-F235-46CB-80A9-329CAB0BF8A0}"/>
                </a:ext>
              </a:extLst>
            </p:cNvPr>
            <p:cNvSpPr txBox="1"/>
            <p:nvPr/>
          </p:nvSpPr>
          <p:spPr>
            <a:xfrm>
              <a:off x="7552713" y="4819790"/>
              <a:ext cx="987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/>
                <a:t>Theta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46E8C19-BA8C-4E2A-97BC-D632F4649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0918" y="4719130"/>
              <a:ext cx="649453" cy="662983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74C8A4D-C15F-4139-AC41-B0CA86CCE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27" y="5373216"/>
            <a:ext cx="1443042" cy="4366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3DC026-CF42-468E-B00D-A2252A7F86FF}"/>
              </a:ext>
            </a:extLst>
          </p:cNvPr>
          <p:cNvSpPr txBox="1"/>
          <p:nvPr/>
        </p:nvSpPr>
        <p:spPr>
          <a:xfrm>
            <a:off x="3261388" y="3307248"/>
            <a:ext cx="6096000" cy="5944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b="0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>
              <a:spcAft>
                <a:spcPts val="0"/>
              </a:spcAft>
            </a:pPr>
            <a:r>
              <a:rPr lang="en-US" dirty="0"/>
              <a:t>Speed-ups of </a:t>
            </a:r>
            <a:r>
              <a:rPr lang="en-US" b="1" dirty="0"/>
              <a:t>two orders </a:t>
            </a:r>
            <a:r>
              <a:rPr lang="en-US" dirty="0"/>
              <a:t>of magnitude.</a:t>
            </a:r>
          </a:p>
          <a:p>
            <a:pPr>
              <a:spcBef>
                <a:spcPts val="600"/>
              </a:spcBef>
            </a:pPr>
            <a:r>
              <a:rPr lang="en-US" dirty="0"/>
              <a:t>Terminating now programs that timed out.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CFF164-7596-480F-B9B7-B47B490A1460}"/>
              </a:ext>
            </a:extLst>
          </p:cNvPr>
          <p:cNvGrpSpPr/>
          <p:nvPr/>
        </p:nvGrpSpPr>
        <p:grpSpPr>
          <a:xfrm>
            <a:off x="7215836" y="1110997"/>
            <a:ext cx="2672514" cy="886132"/>
            <a:chOff x="174882" y="1121810"/>
            <a:chExt cx="2672514" cy="8861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1880F9-48BD-4E7C-99E6-F12628365D97}"/>
                </a:ext>
              </a:extLst>
            </p:cNvPr>
            <p:cNvCxnSpPr>
              <a:cxnSpLocks/>
            </p:cNvCxnSpPr>
            <p:nvPr/>
          </p:nvCxnSpPr>
          <p:spPr>
            <a:xfrm>
              <a:off x="275565" y="1522158"/>
              <a:ext cx="2528723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DA82B3-404B-45A8-A30A-A5AA7882E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756" y="1334304"/>
              <a:ext cx="0" cy="3757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815343C-ED68-4894-B75C-2478DDD20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479" y="1334304"/>
              <a:ext cx="0" cy="3757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4A20CE0-A49C-40EF-AE31-B72C8D2A9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8533" y="1334304"/>
              <a:ext cx="0" cy="3757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575914E-B0E5-448E-8A2A-5F0C1EBB8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6056" y="1334304"/>
              <a:ext cx="0" cy="3757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5D2B7C-7BDA-4550-88CC-47D587DE5815}"/>
                </a:ext>
              </a:extLst>
            </p:cNvPr>
            <p:cNvSpPr txBox="1"/>
            <p:nvPr/>
          </p:nvSpPr>
          <p:spPr>
            <a:xfrm>
              <a:off x="260427" y="1730943"/>
              <a:ext cx="43465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-50</a:t>
              </a:r>
              <a:endParaRPr lang="es-ES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25484D-E1CC-4832-AB8B-D1A789DA11E8}"/>
                </a:ext>
              </a:extLst>
            </p:cNvPr>
            <p:cNvSpPr txBox="1"/>
            <p:nvPr/>
          </p:nvSpPr>
          <p:spPr>
            <a:xfrm>
              <a:off x="1105268" y="1730943"/>
              <a:ext cx="2944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0</a:t>
              </a:r>
              <a:endParaRPr lang="es-ES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3E2DE4-F3F8-42AA-B3D8-15D52C5F3F2F}"/>
                </a:ext>
              </a:extLst>
            </p:cNvPr>
            <p:cNvSpPr txBox="1"/>
            <p:nvPr/>
          </p:nvSpPr>
          <p:spPr>
            <a:xfrm>
              <a:off x="1396579" y="1730943"/>
              <a:ext cx="3639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20</a:t>
              </a:r>
              <a:endParaRPr lang="es-ES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268C82-6D19-40B2-9CDA-729AAB9BB757}"/>
                </a:ext>
              </a:extLst>
            </p:cNvPr>
            <p:cNvSpPr txBox="1"/>
            <p:nvPr/>
          </p:nvSpPr>
          <p:spPr>
            <a:xfrm>
              <a:off x="1854102" y="1730943"/>
              <a:ext cx="3639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50</a:t>
              </a:r>
              <a:endParaRPr lang="es-ES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7564174-95CE-45DE-B962-17DB32E0CB1C}"/>
                </a:ext>
              </a:extLst>
            </p:cNvPr>
            <p:cNvSpPr txBox="1"/>
            <p:nvPr/>
          </p:nvSpPr>
          <p:spPr>
            <a:xfrm>
              <a:off x="2503669" y="1728290"/>
              <a:ext cx="3437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x</a:t>
              </a:r>
              <a:endParaRPr lang="es-ES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F7E6D1-71C1-459B-90BA-0658D6809A47}"/>
                </a:ext>
              </a:extLst>
            </p:cNvPr>
            <p:cNvSpPr txBox="1"/>
            <p:nvPr/>
          </p:nvSpPr>
          <p:spPr>
            <a:xfrm>
              <a:off x="174882" y="1202813"/>
              <a:ext cx="3437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0</a:t>
              </a:r>
              <a:endParaRPr lang="es-E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DFC6F34-73C6-4D9E-AD40-DDCFD7F0EBA9}"/>
                </a:ext>
              </a:extLst>
            </p:cNvPr>
            <p:cNvSpPr txBox="1"/>
            <p:nvPr/>
          </p:nvSpPr>
          <p:spPr>
            <a:xfrm>
              <a:off x="760780" y="1202813"/>
              <a:ext cx="3437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1</a:t>
              </a:r>
              <a:endParaRPr lang="es-ES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C7A800-1231-4D99-AAF5-3DFD6F59FB38}"/>
                </a:ext>
              </a:extLst>
            </p:cNvPr>
            <p:cNvSpPr txBox="1"/>
            <p:nvPr/>
          </p:nvSpPr>
          <p:spPr>
            <a:xfrm>
              <a:off x="1294917" y="1202813"/>
              <a:ext cx="3437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2</a:t>
              </a:r>
              <a:endParaRPr lang="es-ES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0BE4E9-EE8C-4875-B050-AD08EACE5B4E}"/>
                </a:ext>
              </a:extLst>
            </p:cNvPr>
            <p:cNvSpPr txBox="1"/>
            <p:nvPr/>
          </p:nvSpPr>
          <p:spPr>
            <a:xfrm>
              <a:off x="1656756" y="1202813"/>
              <a:ext cx="3437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3</a:t>
              </a:r>
              <a:endParaRPr lang="es-E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C31B20-0EC0-4277-8F4B-3A795EA5828F}"/>
                </a:ext>
              </a:extLst>
            </p:cNvPr>
            <p:cNvSpPr txBox="1"/>
            <p:nvPr/>
          </p:nvSpPr>
          <p:spPr>
            <a:xfrm>
              <a:off x="2095256" y="1202813"/>
              <a:ext cx="3437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4</a:t>
              </a:r>
              <a:endParaRPr lang="es-E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71EAA6-2C22-43ED-8A85-E5A6E0CE469B}"/>
                </a:ext>
              </a:extLst>
            </p:cNvPr>
            <p:cNvSpPr txBox="1"/>
            <p:nvPr/>
          </p:nvSpPr>
          <p:spPr>
            <a:xfrm>
              <a:off x="2476536" y="1121810"/>
              <a:ext cx="3437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x</a:t>
              </a:r>
              <a:endParaRPr lang="es-ES" sz="18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AB3EBA1-81D3-4D7D-A739-62211A462141}"/>
              </a:ext>
            </a:extLst>
          </p:cNvPr>
          <p:cNvSpPr txBox="1"/>
          <p:nvPr/>
        </p:nvSpPr>
        <p:spPr>
          <a:xfrm>
            <a:off x="3261388" y="2369216"/>
            <a:ext cx="6096000" cy="341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b="0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en-US" b="1" dirty="0"/>
              <a:t>Agnostic</a:t>
            </a:r>
            <a:r>
              <a:rPr lang="en-US" dirty="0"/>
              <a:t> to the model checker.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9ED6F71-DA11-4B33-84C3-7B3B331DFE37}"/>
              </a:ext>
            </a:extLst>
          </p:cNvPr>
          <p:cNvGrpSpPr/>
          <p:nvPr/>
        </p:nvGrpSpPr>
        <p:grpSpPr>
          <a:xfrm>
            <a:off x="621041" y="1700808"/>
            <a:ext cx="3055609" cy="1599777"/>
            <a:chOff x="466971" y="1729216"/>
            <a:chExt cx="3457092" cy="2170401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6C99C45-A7BB-4664-AE34-BAA9996ACC46}"/>
                </a:ext>
              </a:extLst>
            </p:cNvPr>
            <p:cNvSpPr/>
            <p:nvPr/>
          </p:nvSpPr>
          <p:spPr>
            <a:xfrm>
              <a:off x="1456125" y="1735656"/>
              <a:ext cx="575796" cy="2405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/>
                <a:t>init</a:t>
              </a:r>
              <a:endParaRPr lang="en-GB" sz="70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EACCB2F-E86C-407A-AA4D-82D994C91468}"/>
                </a:ext>
              </a:extLst>
            </p:cNvPr>
            <p:cNvSpPr/>
            <p:nvPr/>
          </p:nvSpPr>
          <p:spPr>
            <a:xfrm>
              <a:off x="1331132" y="2736870"/>
              <a:ext cx="407679" cy="2405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/>
                <a:t>l1</a:t>
              </a:r>
              <a:endParaRPr lang="en-GB" sz="70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0F09A0D-D987-4D48-BDE7-7AFB0D91C8C2}"/>
                </a:ext>
              </a:extLst>
            </p:cNvPr>
            <p:cNvSpPr/>
            <p:nvPr/>
          </p:nvSpPr>
          <p:spPr>
            <a:xfrm>
              <a:off x="1785564" y="2732739"/>
              <a:ext cx="423859" cy="2405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/>
                <a:t>l2</a:t>
              </a:r>
              <a:endParaRPr lang="en-GB" sz="70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59022BD-3610-4796-A587-5110279C6560}"/>
                </a:ext>
              </a:extLst>
            </p:cNvPr>
            <p:cNvSpPr/>
            <p:nvPr/>
          </p:nvSpPr>
          <p:spPr>
            <a:xfrm>
              <a:off x="1545970" y="3579239"/>
              <a:ext cx="409704" cy="2405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/>
                <a:t>l3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F3DDB64-CC67-436C-A339-3652F6B2D4CA}"/>
                </a:ext>
              </a:extLst>
            </p:cNvPr>
            <p:cNvCxnSpPr>
              <a:cxnSpLocks/>
              <a:stCxn id="50" idx="4"/>
              <a:endCxn id="37" idx="0"/>
            </p:cNvCxnSpPr>
            <p:nvPr/>
          </p:nvCxnSpPr>
          <p:spPr>
            <a:xfrm flipH="1">
              <a:off x="1534972" y="2477342"/>
              <a:ext cx="208860" cy="259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F1A0EB5-77C2-4AF4-AE2B-E158583AE5A5}"/>
                </a:ext>
              </a:extLst>
            </p:cNvPr>
            <p:cNvCxnSpPr>
              <a:cxnSpLocks/>
              <a:stCxn id="50" idx="4"/>
              <a:endCxn id="38" idx="0"/>
            </p:cNvCxnSpPr>
            <p:nvPr/>
          </p:nvCxnSpPr>
          <p:spPr>
            <a:xfrm>
              <a:off x="1743832" y="2477342"/>
              <a:ext cx="253662" cy="2553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D7CE86B-893A-43B0-A5B8-8897E5A0F22D}"/>
                </a:ext>
              </a:extLst>
            </p:cNvPr>
            <p:cNvCxnSpPr>
              <a:cxnSpLocks/>
              <a:stCxn id="37" idx="4"/>
              <a:endCxn id="39" idx="0"/>
            </p:cNvCxnSpPr>
            <p:nvPr/>
          </p:nvCxnSpPr>
          <p:spPr>
            <a:xfrm>
              <a:off x="1534972" y="2977412"/>
              <a:ext cx="215850" cy="6018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5EC3DB8-F03D-44CF-A49F-4E7E8ED0B2F2}"/>
                </a:ext>
              </a:extLst>
            </p:cNvPr>
            <p:cNvSpPr txBox="1"/>
            <p:nvPr/>
          </p:nvSpPr>
          <p:spPr>
            <a:xfrm>
              <a:off x="1017318" y="2417454"/>
              <a:ext cx="677619" cy="321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2"/>
                  </a:solidFill>
                </a:defRPr>
              </a:lvl1pPr>
            </a:lstStyle>
            <a:p>
              <a:r>
                <a:rPr lang="en-GB" sz="1000" dirty="0"/>
                <a:t>in&gt;10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9BFE67-EC25-4947-A6B0-0304E5264F1B}"/>
                </a:ext>
              </a:extLst>
            </p:cNvPr>
            <p:cNvSpPr txBox="1"/>
            <p:nvPr/>
          </p:nvSpPr>
          <p:spPr>
            <a:xfrm>
              <a:off x="614043" y="3120377"/>
              <a:ext cx="1131118" cy="331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00" dirty="0">
                  <a:solidFill>
                    <a:schemeClr val="tx2"/>
                  </a:solidFill>
                  <a:sym typeface="Wingdings" panose="05000000000000000000" pitchFamily="2" charset="2"/>
                </a:rPr>
                <a:t>out1  </a:t>
              </a:r>
              <a:r>
                <a:rPr lang="en-GB" sz="1000" dirty="0">
                  <a:solidFill>
                    <a:schemeClr val="tx2"/>
                  </a:solidFill>
                </a:rPr>
                <a:t>False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03F2856-CE5F-4F12-BC11-14F8676B5FC3}"/>
                </a:ext>
              </a:extLst>
            </p:cNvPr>
            <p:cNvSpPr txBox="1"/>
            <p:nvPr/>
          </p:nvSpPr>
          <p:spPr>
            <a:xfrm>
              <a:off x="1973230" y="3117192"/>
              <a:ext cx="1064567" cy="331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00" dirty="0">
                  <a:solidFill>
                    <a:schemeClr val="tx2"/>
                  </a:solidFill>
                </a:rPr>
                <a:t>out1 </a:t>
              </a:r>
              <a:r>
                <a:rPr lang="en-GB" sz="1000" dirty="0">
                  <a:solidFill>
                    <a:schemeClr val="tx2"/>
                  </a:solidFill>
                  <a:sym typeface="Wingdings" panose="05000000000000000000" pitchFamily="2" charset="2"/>
                </a:rPr>
                <a:t></a:t>
              </a:r>
              <a:r>
                <a:rPr lang="en-GB" sz="1000" dirty="0">
                  <a:solidFill>
                    <a:schemeClr val="tx2"/>
                  </a:solidFill>
                </a:rPr>
                <a:t> True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D5C748-73D8-450D-A300-9B6DBD1378BB}"/>
                </a:ext>
              </a:extLst>
            </p:cNvPr>
            <p:cNvSpPr txBox="1"/>
            <p:nvPr/>
          </p:nvSpPr>
          <p:spPr>
            <a:xfrm>
              <a:off x="1961802" y="2410046"/>
              <a:ext cx="575672" cy="321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00" dirty="0">
                  <a:solidFill>
                    <a:schemeClr val="tx2"/>
                  </a:solidFill>
                </a:rPr>
                <a:t>in</a:t>
              </a:r>
              <a:r>
                <a:rPr lang="en-US" sz="1000" dirty="0">
                  <a:solidFill>
                    <a:schemeClr val="tx2"/>
                  </a:solidFill>
                </a:rPr>
                <a:t>≤1</a:t>
              </a:r>
              <a:r>
                <a:rPr lang="en-GB" sz="1000" dirty="0">
                  <a:solidFill>
                    <a:schemeClr val="tx2"/>
                  </a:solidFill>
                </a:rPr>
                <a:t>0</a:t>
              </a:r>
              <a:endParaRPr lang="en-GB" sz="10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48F1B83-43B6-46B5-AD6A-3AB38A6EABC9}"/>
                </a:ext>
              </a:extLst>
            </p:cNvPr>
            <p:cNvCxnSpPr>
              <a:cxnSpLocks/>
              <a:stCxn id="38" idx="4"/>
              <a:endCxn id="39" idx="0"/>
            </p:cNvCxnSpPr>
            <p:nvPr/>
          </p:nvCxnSpPr>
          <p:spPr>
            <a:xfrm flipH="1">
              <a:off x="1750822" y="2973281"/>
              <a:ext cx="246672" cy="605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5EBD3B0-8569-4E2F-AB95-BD4DBEACE258}"/>
                </a:ext>
              </a:extLst>
            </p:cNvPr>
            <p:cNvSpPr txBox="1"/>
            <p:nvPr/>
          </p:nvSpPr>
          <p:spPr>
            <a:xfrm>
              <a:off x="647956" y="3312777"/>
              <a:ext cx="1047311" cy="321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00" dirty="0">
                  <a:solidFill>
                    <a:schemeClr val="tx2"/>
                  </a:solidFill>
                  <a:sym typeface="Wingdings" panose="05000000000000000000" pitchFamily="2" charset="2"/>
                </a:rPr>
                <a:t>out2  </a:t>
              </a:r>
              <a:r>
                <a:rPr lang="en-GB" sz="1000" dirty="0">
                  <a:solidFill>
                    <a:schemeClr val="tx2"/>
                  </a:solidFill>
                </a:rPr>
                <a:t>True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C2290F-F107-492E-84F8-0615BAB943B3}"/>
                </a:ext>
              </a:extLst>
            </p:cNvPr>
            <p:cNvSpPr txBox="1"/>
            <p:nvPr/>
          </p:nvSpPr>
          <p:spPr>
            <a:xfrm>
              <a:off x="1908394" y="3305912"/>
              <a:ext cx="1127360" cy="331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00" dirty="0">
                  <a:solidFill>
                    <a:schemeClr val="tx2"/>
                  </a:solidFill>
                </a:rPr>
                <a:t>out2 </a:t>
              </a:r>
              <a:r>
                <a:rPr lang="en-GB" sz="1000" dirty="0">
                  <a:solidFill>
                    <a:schemeClr val="tx2"/>
                  </a:solidFill>
                  <a:sym typeface="Wingdings" panose="05000000000000000000" pitchFamily="2" charset="2"/>
                </a:rPr>
                <a:t></a:t>
              </a:r>
              <a:r>
                <a:rPr lang="en-GB" sz="1000" dirty="0">
                  <a:solidFill>
                    <a:schemeClr val="tx2"/>
                  </a:solidFill>
                </a:rPr>
                <a:t> False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6792800-3C2B-4CE2-A5B6-26103D26FFA9}"/>
                </a:ext>
              </a:extLst>
            </p:cNvPr>
            <p:cNvSpPr/>
            <p:nvPr/>
          </p:nvSpPr>
          <p:spPr>
            <a:xfrm>
              <a:off x="1539992" y="2236800"/>
              <a:ext cx="407679" cy="2405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/>
                <a:t>l0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6A2FAB7-36A5-4EFE-9F49-1F0C422DF6C1}"/>
                </a:ext>
              </a:extLst>
            </p:cNvPr>
            <p:cNvCxnSpPr>
              <a:cxnSpLocks/>
              <a:stCxn id="36" idx="4"/>
              <a:endCxn id="50" idx="0"/>
            </p:cNvCxnSpPr>
            <p:nvPr/>
          </p:nvCxnSpPr>
          <p:spPr>
            <a:xfrm flipH="1">
              <a:off x="1743832" y="1976198"/>
              <a:ext cx="191" cy="260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29ED3C-85BA-47F6-BFD0-2D4A58AC11CE}"/>
                </a:ext>
              </a:extLst>
            </p:cNvPr>
            <p:cNvSpPr txBox="1"/>
            <p:nvPr/>
          </p:nvSpPr>
          <p:spPr>
            <a:xfrm>
              <a:off x="1745160" y="1953659"/>
              <a:ext cx="2178903" cy="3340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000" dirty="0">
                  <a:solidFill>
                    <a:schemeClr val="tx2"/>
                  </a:solidFill>
                </a:rPr>
                <a:t>in </a:t>
              </a:r>
              <a:r>
                <a:rPr lang="en-GB" sz="1000" dirty="0">
                  <a:solidFill>
                    <a:schemeClr val="tx2"/>
                  </a:solidFill>
                  <a:sym typeface="Wingdings" panose="05000000000000000000" pitchFamily="2" charset="2"/>
                </a:rPr>
                <a:t> </a:t>
              </a:r>
              <a:r>
                <a:rPr lang="en-GB" sz="1000" dirty="0" err="1">
                  <a:solidFill>
                    <a:schemeClr val="tx2"/>
                  </a:solidFill>
                  <a:sym typeface="Wingdings" panose="05000000000000000000" pitchFamily="2" charset="2"/>
                </a:rPr>
                <a:t>IntNonDet</a:t>
              </a:r>
              <a:r>
                <a:rPr lang="en-GB" sz="1000" dirty="0">
                  <a:solidFill>
                    <a:schemeClr val="tx2"/>
                  </a:solidFill>
                  <a:sym typeface="Wingdings" panose="05000000000000000000" pitchFamily="2" charset="2"/>
                </a:rPr>
                <a:t> ()</a:t>
              </a:r>
              <a:endParaRPr lang="en-GB" sz="100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FE74B4D-A181-4A4A-936B-D9CD66508F51}"/>
                </a:ext>
              </a:extLst>
            </p:cNvPr>
            <p:cNvSpPr/>
            <p:nvPr/>
          </p:nvSpPr>
          <p:spPr>
            <a:xfrm>
              <a:off x="466971" y="1729216"/>
              <a:ext cx="1278470" cy="2170401"/>
            </a:xfrm>
            <a:custGeom>
              <a:avLst/>
              <a:gdLst>
                <a:gd name="connsiteX0" fmla="*/ 1278470 w 1278470"/>
                <a:gd name="connsiteY0" fmla="*/ 2116741 h 2198299"/>
                <a:gd name="connsiteX1" fmla="*/ 651937 w 1278470"/>
                <a:gd name="connsiteY1" fmla="*/ 2159074 h 2198299"/>
                <a:gd name="connsiteX2" fmla="*/ 3 w 1278470"/>
                <a:gd name="connsiteY2" fmla="*/ 1625674 h 2198299"/>
                <a:gd name="connsiteX3" fmla="*/ 660403 w 1278470"/>
                <a:gd name="connsiteY3" fmla="*/ 194808 h 2198299"/>
                <a:gd name="connsiteX4" fmla="*/ 1024470 w 1278470"/>
                <a:gd name="connsiteY4" fmla="*/ 50874 h 2198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470" h="2198299">
                  <a:moveTo>
                    <a:pt x="1278470" y="2116741"/>
                  </a:moveTo>
                  <a:cubicBezTo>
                    <a:pt x="1071742" y="2178829"/>
                    <a:pt x="865015" y="2240918"/>
                    <a:pt x="651937" y="2159074"/>
                  </a:cubicBezTo>
                  <a:cubicBezTo>
                    <a:pt x="438859" y="2077230"/>
                    <a:pt x="-1408" y="1953052"/>
                    <a:pt x="3" y="1625674"/>
                  </a:cubicBezTo>
                  <a:cubicBezTo>
                    <a:pt x="1414" y="1298296"/>
                    <a:pt x="489659" y="457275"/>
                    <a:pt x="660403" y="194808"/>
                  </a:cubicBezTo>
                  <a:cubicBezTo>
                    <a:pt x="831147" y="-67659"/>
                    <a:pt x="927808" y="-8393"/>
                    <a:pt x="1024470" y="50874"/>
                  </a:cubicBezTo>
                </a:path>
              </a:pathLst>
            </a:custGeom>
            <a:noFill/>
            <a:ln w="9525"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EB365AE-A81C-4A67-8901-B07949553965}"/>
              </a:ext>
            </a:extLst>
          </p:cNvPr>
          <p:cNvSpPr txBox="1"/>
          <p:nvPr/>
        </p:nvSpPr>
        <p:spPr>
          <a:xfrm>
            <a:off x="3256799" y="1389634"/>
            <a:ext cx="4104456" cy="3831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en-US" sz="1800" b="0" dirty="0"/>
              <a:t>Richer </a:t>
            </a:r>
            <a:r>
              <a:rPr lang="en-US" sz="1800" dirty="0"/>
              <a:t>counterexamples</a:t>
            </a:r>
            <a:r>
              <a:rPr lang="en-US" sz="1800" b="0" dirty="0"/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8AD21D-5B2A-461F-83C2-D8557C869750}"/>
              </a:ext>
            </a:extLst>
          </p:cNvPr>
          <p:cNvSpPr txBox="1"/>
          <p:nvPr/>
        </p:nvSpPr>
        <p:spPr>
          <a:xfrm>
            <a:off x="3251760" y="4498120"/>
            <a:ext cx="6095999" cy="2786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>
              <a:spcAft>
                <a:spcPts val="0"/>
              </a:spcAft>
            </a:pPr>
            <a:r>
              <a:rPr lang="en-US" sz="1800" b="0" dirty="0"/>
              <a:t>Speed-ups of up to </a:t>
            </a:r>
            <a:r>
              <a:rPr lang="en-US" sz="1800" dirty="0"/>
              <a:t>17x</a:t>
            </a:r>
            <a:r>
              <a:rPr lang="en-US" sz="1800" b="0" dirty="0"/>
              <a:t> when the property is satisfied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9BE223-385F-4CEA-AA29-98A3B7E6DDA0}"/>
              </a:ext>
            </a:extLst>
          </p:cNvPr>
          <p:cNvSpPr txBox="1"/>
          <p:nvPr/>
        </p:nvSpPr>
        <p:spPr>
          <a:xfrm>
            <a:off x="3261388" y="5373216"/>
            <a:ext cx="6096000" cy="5765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2100" b="1">
                <a:solidFill>
                  <a:schemeClr val="tx2">
                    <a:lumMod val="50000"/>
                  </a:schemeClr>
                </a:solidFill>
              </a:defRPr>
            </a:lvl1pPr>
            <a:lvl2pPr marL="666900" lvl="1" indent="-3429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>
                <a:solidFill>
                  <a:schemeClr val="tx2">
                    <a:lumMod val="50000"/>
                  </a:schemeClr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accent6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>
              <a:spcAft>
                <a:spcPts val="0"/>
              </a:spcAft>
            </a:pPr>
            <a:r>
              <a:rPr lang="en-US" sz="1800" b="0" dirty="0"/>
              <a:t>Small speed-ups</a:t>
            </a:r>
          </a:p>
          <a:p>
            <a:pPr>
              <a:spcBef>
                <a:spcPts val="600"/>
              </a:spcBef>
            </a:pPr>
            <a:r>
              <a:rPr lang="en-US" sz="1800" b="0" dirty="0"/>
              <a:t>Worse results when the CFA includes </a:t>
            </a:r>
            <a:r>
              <a:rPr lang="en-US" sz="1800" dirty="0"/>
              <a:t>complex</a:t>
            </a:r>
            <a:r>
              <a:rPr lang="en-US" sz="1800" b="0" dirty="0"/>
              <a:t> patterns</a:t>
            </a:r>
          </a:p>
        </p:txBody>
      </p:sp>
    </p:spTree>
    <p:extLst>
      <p:ext uri="{BB962C8B-B14F-4D97-AF65-F5344CB8AC3E}">
        <p14:creationId xmlns:p14="http://schemas.microsoft.com/office/powerpoint/2010/main" val="330058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3" grpId="0"/>
      <p:bldP spid="54" grpId="0"/>
      <p:bldP spid="56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Conclusions – Future work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D5186483-C937-42A6-B3C8-B944E523DDCF}"/>
              </a:ext>
            </a:extLst>
          </p:cNvPr>
          <p:cNvSpPr/>
          <p:nvPr/>
        </p:nvSpPr>
        <p:spPr>
          <a:xfrm>
            <a:off x="1163450" y="1556792"/>
            <a:ext cx="4212469" cy="60579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Implement in </a:t>
            </a:r>
            <a:r>
              <a:rPr lang="en-US" sz="1600" dirty="0" err="1"/>
              <a:t>PLCverif</a:t>
            </a:r>
            <a:endParaRPr lang="en-US" sz="1600" dirty="0"/>
          </a:p>
        </p:txBody>
      </p:sp>
      <p:sp>
        <p:nvSpPr>
          <p:cNvPr id="10" name="Rectangle: Rounded Corners 30">
            <a:extLst>
              <a:ext uri="{FF2B5EF4-FFF2-40B4-BE49-F238E27FC236}">
                <a16:creationId xmlns:a16="http://schemas.microsoft.com/office/drawing/2014/main" id="{D7CA0095-898C-469A-8CD7-D039E1BAAE60}"/>
              </a:ext>
            </a:extLst>
          </p:cNvPr>
          <p:cNvSpPr/>
          <p:nvPr/>
        </p:nvSpPr>
        <p:spPr>
          <a:xfrm>
            <a:off x="1163451" y="2393060"/>
            <a:ext cx="4212469" cy="241118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Automate</a:t>
            </a:r>
            <a:r>
              <a:rPr lang="en-US" sz="1700" dirty="0">
                <a:solidFill>
                  <a:schemeClr val="tx2"/>
                </a:solidFill>
              </a:rPr>
              <a:t> the transformation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Estimate the </a:t>
            </a:r>
            <a:r>
              <a:rPr lang="en-US" sz="1700" b="1" dirty="0">
                <a:solidFill>
                  <a:schemeClr val="tx2"/>
                </a:solidFill>
              </a:rPr>
              <a:t>computational cost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More efficient discretization </a:t>
            </a:r>
            <a:r>
              <a:rPr lang="en-US" sz="1700" b="1" dirty="0">
                <a:solidFill>
                  <a:schemeClr val="tx2"/>
                </a:solidFill>
              </a:rPr>
              <a:t>encoding</a:t>
            </a:r>
          </a:p>
        </p:txBody>
      </p:sp>
      <p:sp>
        <p:nvSpPr>
          <p:cNvPr id="17" name="Rectangle: Rounded Corners 30">
            <a:extLst>
              <a:ext uri="{FF2B5EF4-FFF2-40B4-BE49-F238E27FC236}">
                <a16:creationId xmlns:a16="http://schemas.microsoft.com/office/drawing/2014/main" id="{34559CBE-4B4E-44D2-9E3F-28A1B6EC0138}"/>
              </a:ext>
            </a:extLst>
          </p:cNvPr>
          <p:cNvSpPr/>
          <p:nvPr/>
        </p:nvSpPr>
        <p:spPr>
          <a:xfrm>
            <a:off x="6600056" y="1556792"/>
            <a:ext cx="4212468" cy="60579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Other</a:t>
            </a:r>
          </a:p>
        </p:txBody>
      </p:sp>
      <p:sp>
        <p:nvSpPr>
          <p:cNvPr id="18" name="Rectangle: Rounded Corners 30">
            <a:extLst>
              <a:ext uri="{FF2B5EF4-FFF2-40B4-BE49-F238E27FC236}">
                <a16:creationId xmlns:a16="http://schemas.microsoft.com/office/drawing/2014/main" id="{065A6F8A-0A21-4E13-8E33-5DA6AAD5257E}"/>
              </a:ext>
            </a:extLst>
          </p:cNvPr>
          <p:cNvSpPr/>
          <p:nvPr/>
        </p:nvSpPr>
        <p:spPr>
          <a:xfrm>
            <a:off x="6600056" y="2393061"/>
            <a:ext cx="4212469" cy="241118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Extend it to other programming </a:t>
            </a:r>
            <a:r>
              <a:rPr lang="en-US" sz="1700" b="1" dirty="0">
                <a:solidFill>
                  <a:schemeClr val="tx2"/>
                </a:solidFill>
              </a:rPr>
              <a:t>languages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Study it for </a:t>
            </a:r>
            <a:r>
              <a:rPr lang="en-US" sz="1700" b="1" dirty="0">
                <a:solidFill>
                  <a:schemeClr val="tx2"/>
                </a:solidFill>
              </a:rPr>
              <a:t>unbounded</a:t>
            </a:r>
            <a:r>
              <a:rPr lang="en-US" sz="1700" dirty="0">
                <a:solidFill>
                  <a:schemeClr val="tx2"/>
                </a:solidFill>
              </a:rPr>
              <a:t> loops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Include this technique in other fields:</a:t>
            </a:r>
          </a:p>
          <a:p>
            <a:pPr marL="742950" lvl="1" indent="-28575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sz="1700" i="1" dirty="0">
                <a:solidFill>
                  <a:schemeClr val="tx2"/>
                </a:solidFill>
              </a:rPr>
              <a:t>Formal verification of neural networks</a:t>
            </a:r>
          </a:p>
          <a:p>
            <a:pPr marL="742950" lvl="1" indent="-28575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sz="1700" i="1" dirty="0">
                <a:solidFill>
                  <a:schemeClr val="tx2"/>
                </a:solidFill>
              </a:rPr>
              <a:t>Safe reinforcement learning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805A4661-6AA9-458F-BF0B-E7F6AA95A88D}"/>
              </a:ext>
            </a:extLst>
          </p:cNvPr>
          <p:cNvSpPr/>
          <p:nvPr/>
        </p:nvSpPr>
        <p:spPr>
          <a:xfrm>
            <a:off x="1163449" y="2393060"/>
            <a:ext cx="4212469" cy="241118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22" name="Rectangle: Rounded Corners 30">
            <a:extLst>
              <a:ext uri="{FF2B5EF4-FFF2-40B4-BE49-F238E27FC236}">
                <a16:creationId xmlns:a16="http://schemas.microsoft.com/office/drawing/2014/main" id="{69FD4C0C-92B1-45AE-A23F-321C65F27A03}"/>
              </a:ext>
            </a:extLst>
          </p:cNvPr>
          <p:cNvSpPr/>
          <p:nvPr/>
        </p:nvSpPr>
        <p:spPr>
          <a:xfrm>
            <a:off x="6600056" y="2396435"/>
            <a:ext cx="4212469" cy="241118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83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6E6B013-B9CC-4674-B369-4CBF12128ABF}"/>
              </a:ext>
            </a:extLst>
          </p:cNvPr>
          <p:cNvSpPr txBox="1">
            <a:spLocks/>
          </p:cNvSpPr>
          <p:nvPr/>
        </p:nvSpPr>
        <p:spPr>
          <a:xfrm>
            <a:off x="407989" y="373593"/>
            <a:ext cx="11376024" cy="106574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3397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6D1F-2672-B14F-B46E-63288B34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A5A-BC32-A742-B11B-8E7414D5B53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B40731-33FF-9A40-95C3-6EBD36737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353" y="1304231"/>
            <a:ext cx="4289599" cy="45010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Context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CERN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Safety-critical industrial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Model checking for PLCs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Motivation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Standard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Variable transformation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Model checking challenges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State of the art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Contribution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Conditional pattern example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Experiments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A7A7A7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23772B-3B2C-F343-9923-A3D494D1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39A8C-436B-E64F-BE4A-AE05E877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EA7A-1474-FF44-ADE2-A4A8BEDF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A592570-4F62-4653-9BE4-5A3C9C33F735}"/>
              </a:ext>
            </a:extLst>
          </p:cNvPr>
          <p:cNvSpPr txBox="1">
            <a:spLocks/>
          </p:cNvSpPr>
          <p:nvPr/>
        </p:nvSpPr>
        <p:spPr>
          <a:xfrm>
            <a:off x="6744693" y="1304230"/>
            <a:ext cx="3671787" cy="45010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4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SzPct val="100000"/>
              <a:buFont typeface="Arial" charset="0"/>
              <a:buChar char="•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charset="0"/>
              <a:buChar char="•"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Conclusions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Results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Future work</a:t>
            </a:r>
          </a:p>
          <a:p>
            <a:pPr marL="666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7A7A7"/>
                </a:solidFill>
              </a:rPr>
              <a:t>Remark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F2F2F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870078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Model Checking for PLCs - </a:t>
            </a:r>
            <a:r>
              <a:rPr lang="en-US" dirty="0" err="1"/>
              <a:t>PLCverif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9F1524-0E5E-4DCE-A5E6-E41192AC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516" y="2858689"/>
            <a:ext cx="1219196" cy="75561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E7239C-DFF3-43B2-BDF0-E105D1EE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93" y="4021440"/>
            <a:ext cx="1443042" cy="4366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Box 21">
            <a:extLst>
              <a:ext uri="{FF2B5EF4-FFF2-40B4-BE49-F238E27FC236}">
                <a16:creationId xmlns:a16="http://schemas.microsoft.com/office/drawing/2014/main" id="{C3976348-A457-437D-B56B-E8CAAEAC08E2}"/>
              </a:ext>
            </a:extLst>
          </p:cNvPr>
          <p:cNvSpPr txBox="1"/>
          <p:nvPr/>
        </p:nvSpPr>
        <p:spPr>
          <a:xfrm>
            <a:off x="917349" y="5491202"/>
            <a:ext cx="2057400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If </a:t>
            </a:r>
            <a:r>
              <a:rPr lang="en-GB" sz="1600" b="1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Out1</a:t>
            </a:r>
            <a:r>
              <a:rPr lang="en-GB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 is FALSE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then </a:t>
            </a:r>
            <a:r>
              <a:rPr lang="en-GB" sz="1600" b="1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Out2</a:t>
            </a:r>
            <a:r>
              <a:rPr lang="en-GB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 is TRUE </a:t>
            </a: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C30A052F-4E2B-4107-9643-93A1B0BBBF44}"/>
              </a:ext>
            </a:extLst>
          </p:cNvPr>
          <p:cNvSpPr txBox="1"/>
          <p:nvPr/>
        </p:nvSpPr>
        <p:spPr>
          <a:xfrm>
            <a:off x="3580713" y="5683881"/>
            <a:ext cx="266700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AG (!Out1</a:t>
            </a:r>
            <a:r>
              <a:rPr lang="fr-CH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 → </a:t>
            </a:r>
            <a:r>
              <a:rPr lang="en-US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Out2</a:t>
            </a:r>
            <a:r>
              <a:rPr lang="fr-CH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)</a:t>
            </a:r>
            <a:endParaRPr lang="en-GB" sz="1600" b="0" i="1" u="none" strike="noStrike" kern="1200" cap="none" spc="0" baseline="0" dirty="0">
              <a:solidFill>
                <a:srgbClr val="44546A"/>
              </a:solidFill>
              <a:uFillTx/>
              <a:latin typeface="Calibri"/>
            </a:endParaRPr>
          </a:p>
        </p:txBody>
      </p:sp>
      <p:sp>
        <p:nvSpPr>
          <p:cNvPr id="13" name="Rectangle: Rounded Corners 26">
            <a:extLst>
              <a:ext uri="{FF2B5EF4-FFF2-40B4-BE49-F238E27FC236}">
                <a16:creationId xmlns:a16="http://schemas.microsoft.com/office/drawing/2014/main" id="{BE5AFB40-8DA0-4C66-B091-A510A608E127}"/>
              </a:ext>
            </a:extLst>
          </p:cNvPr>
          <p:cNvSpPr/>
          <p:nvPr/>
        </p:nvSpPr>
        <p:spPr>
          <a:xfrm>
            <a:off x="3892487" y="5078274"/>
            <a:ext cx="1742901" cy="52056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</a:rPr>
              <a:t>Formalized requirements</a:t>
            </a:r>
            <a:endParaRPr lang="en-GB" sz="1600">
              <a:solidFill>
                <a:schemeClr val="lt1"/>
              </a:solidFill>
            </a:endParaRP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ACD4EB9B-FC01-460F-B241-A4760CDFF82A}"/>
              </a:ext>
            </a:extLst>
          </p:cNvPr>
          <p:cNvSpPr txBox="1"/>
          <p:nvPr/>
        </p:nvSpPr>
        <p:spPr>
          <a:xfrm>
            <a:off x="3546249" y="1681069"/>
            <a:ext cx="266700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Control Flow </a:t>
            </a:r>
            <a:r>
              <a:rPr lang="es-ES" sz="1600" b="0" i="1" u="none" strike="noStrike" kern="1200" cap="none" spc="0" baseline="0" dirty="0" err="1">
                <a:solidFill>
                  <a:srgbClr val="44546A"/>
                </a:solidFill>
                <a:uFillTx/>
                <a:latin typeface="Calibri"/>
              </a:rPr>
              <a:t>Automaton</a:t>
            </a:r>
            <a:endParaRPr lang="en-GB" sz="1600" b="0" i="1" u="none" strike="noStrike" kern="1200" cap="none" spc="0" baseline="0" dirty="0">
              <a:solidFill>
                <a:srgbClr val="44546A"/>
              </a:solidFill>
              <a:uFillTx/>
              <a:latin typeface="Calibri"/>
            </a:endParaRPr>
          </a:p>
        </p:txBody>
      </p:sp>
      <p:sp>
        <p:nvSpPr>
          <p:cNvPr id="15" name="Arrow: Down 33">
            <a:extLst>
              <a:ext uri="{FF2B5EF4-FFF2-40B4-BE49-F238E27FC236}">
                <a16:creationId xmlns:a16="http://schemas.microsoft.com/office/drawing/2014/main" id="{CBC5FBF4-4713-483E-B17F-4518B295D465}"/>
              </a:ext>
            </a:extLst>
          </p:cNvPr>
          <p:cNvSpPr/>
          <p:nvPr/>
        </p:nvSpPr>
        <p:spPr>
          <a:xfrm rot="16200004">
            <a:off x="3186287" y="5052332"/>
            <a:ext cx="396877" cy="515145"/>
          </a:xfrm>
          <a:custGeom>
            <a:avLst>
              <a:gd name="f0" fmla="val 1328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solidFill>
                <a:schemeClr val="lt1"/>
              </a:solidFill>
            </a:endParaRPr>
          </a:p>
        </p:txBody>
      </p:sp>
      <p:sp>
        <p:nvSpPr>
          <p:cNvPr id="16" name="Arrow: Down 35">
            <a:extLst>
              <a:ext uri="{FF2B5EF4-FFF2-40B4-BE49-F238E27FC236}">
                <a16:creationId xmlns:a16="http://schemas.microsoft.com/office/drawing/2014/main" id="{A1DB534C-AA8B-4459-8930-DCA7DA7C9E8E}"/>
              </a:ext>
            </a:extLst>
          </p:cNvPr>
          <p:cNvSpPr/>
          <p:nvPr/>
        </p:nvSpPr>
        <p:spPr>
          <a:xfrm rot="16200004">
            <a:off x="3186287" y="2852424"/>
            <a:ext cx="396877" cy="515145"/>
          </a:xfrm>
          <a:custGeom>
            <a:avLst>
              <a:gd name="f0" fmla="val 1328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solidFill>
                <a:schemeClr val="lt1"/>
              </a:solidFill>
            </a:endParaRPr>
          </a:p>
        </p:txBody>
      </p:sp>
      <p:sp>
        <p:nvSpPr>
          <p:cNvPr id="17" name="Arrow: Down 36">
            <a:extLst>
              <a:ext uri="{FF2B5EF4-FFF2-40B4-BE49-F238E27FC236}">
                <a16:creationId xmlns:a16="http://schemas.microsoft.com/office/drawing/2014/main" id="{1B21659C-9877-4999-99AE-99649D7D016B}"/>
              </a:ext>
            </a:extLst>
          </p:cNvPr>
          <p:cNvSpPr/>
          <p:nvPr/>
        </p:nvSpPr>
        <p:spPr>
          <a:xfrm rot="13695105">
            <a:off x="6401800" y="4764704"/>
            <a:ext cx="396877" cy="515145"/>
          </a:xfrm>
          <a:custGeom>
            <a:avLst>
              <a:gd name="f0" fmla="val 1328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solidFill>
                <a:schemeClr val="lt1"/>
              </a:solidFill>
            </a:endParaRPr>
          </a:p>
        </p:txBody>
      </p:sp>
      <p:sp>
        <p:nvSpPr>
          <p:cNvPr id="18" name="Arrow: Down 37">
            <a:extLst>
              <a:ext uri="{FF2B5EF4-FFF2-40B4-BE49-F238E27FC236}">
                <a16:creationId xmlns:a16="http://schemas.microsoft.com/office/drawing/2014/main" id="{900BF57E-50C7-44AC-BED6-4A21E32456AD}"/>
              </a:ext>
            </a:extLst>
          </p:cNvPr>
          <p:cNvSpPr/>
          <p:nvPr/>
        </p:nvSpPr>
        <p:spPr>
          <a:xfrm rot="18281490">
            <a:off x="6381826" y="3408903"/>
            <a:ext cx="396877" cy="515145"/>
          </a:xfrm>
          <a:custGeom>
            <a:avLst>
              <a:gd name="f0" fmla="val 1328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solidFill>
                <a:schemeClr val="lt1"/>
              </a:solidFill>
            </a:endParaRPr>
          </a:p>
        </p:txBody>
      </p:sp>
      <p:grpSp>
        <p:nvGrpSpPr>
          <p:cNvPr id="19" name="Group 34">
            <a:extLst>
              <a:ext uri="{FF2B5EF4-FFF2-40B4-BE49-F238E27FC236}">
                <a16:creationId xmlns:a16="http://schemas.microsoft.com/office/drawing/2014/main" id="{4EEBE72C-0C2A-4CCC-B0BA-CD393F952F5C}"/>
              </a:ext>
            </a:extLst>
          </p:cNvPr>
          <p:cNvGrpSpPr/>
          <p:nvPr/>
        </p:nvGrpSpPr>
        <p:grpSpPr>
          <a:xfrm>
            <a:off x="9907153" y="4841480"/>
            <a:ext cx="1393326" cy="948223"/>
            <a:chOff x="8156466" y="4633100"/>
            <a:chExt cx="1393326" cy="948223"/>
          </a:xfrm>
        </p:grpSpPr>
        <p:sp>
          <p:nvSpPr>
            <p:cNvPr id="20" name="TextBox 36">
              <a:extLst>
                <a:ext uri="{FF2B5EF4-FFF2-40B4-BE49-F238E27FC236}">
                  <a16:creationId xmlns:a16="http://schemas.microsoft.com/office/drawing/2014/main" id="{5EACB119-1129-44BE-9C7F-1C3B2F88FDB3}"/>
                </a:ext>
              </a:extLst>
            </p:cNvPr>
            <p:cNvSpPr txBox="1"/>
            <p:nvPr/>
          </p:nvSpPr>
          <p:spPr>
            <a:xfrm>
              <a:off x="8610603" y="4633100"/>
              <a:ext cx="588626" cy="70788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4000" b="1" i="0" u="none" strike="noStrike" kern="1200" cap="none" spc="0" baseline="0">
                  <a:solidFill>
                    <a:srgbClr val="00B050"/>
                  </a:solidFill>
                  <a:uFillTx/>
                  <a:latin typeface="Wingdings"/>
                </a:rPr>
                <a:t></a:t>
              </a:r>
              <a:endParaRPr lang="en-US" sz="4000" b="1" i="0" u="none" strike="noStrike" kern="1200" cap="none" spc="0" baseline="0">
                <a:solidFill>
                  <a:srgbClr val="00B050"/>
                </a:solidFill>
                <a:uFillTx/>
                <a:latin typeface="Arial"/>
              </a:endParaRPr>
            </a:p>
          </p:txBody>
        </p:sp>
        <p:sp>
          <p:nvSpPr>
            <p:cNvPr id="21" name="TextBox 37">
              <a:extLst>
                <a:ext uri="{FF2B5EF4-FFF2-40B4-BE49-F238E27FC236}">
                  <a16:creationId xmlns:a16="http://schemas.microsoft.com/office/drawing/2014/main" id="{D3E8FB7B-4434-49D6-B88C-D87E0DF30E60}"/>
                </a:ext>
              </a:extLst>
            </p:cNvPr>
            <p:cNvSpPr txBox="1"/>
            <p:nvPr/>
          </p:nvSpPr>
          <p:spPr>
            <a:xfrm>
              <a:off x="8156466" y="5242767"/>
              <a:ext cx="1393326" cy="33855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i="0" u="none" strike="noStrike" kern="1200" cap="none" spc="0" baseline="0" dirty="0">
                  <a:solidFill>
                    <a:srgbClr val="0055A0"/>
                  </a:solidFill>
                  <a:uFillTx/>
                  <a:latin typeface="Arial" pitchFamily="34"/>
                  <a:cs typeface="Arial" pitchFamily="34"/>
                </a:rPr>
                <a:t>Property OK</a:t>
              </a:r>
            </a:p>
          </p:txBody>
        </p:sp>
      </p:grpSp>
      <p:sp>
        <p:nvSpPr>
          <p:cNvPr id="22" name="Arrow: Down 36">
            <a:extLst>
              <a:ext uri="{FF2B5EF4-FFF2-40B4-BE49-F238E27FC236}">
                <a16:creationId xmlns:a16="http://schemas.microsoft.com/office/drawing/2014/main" id="{4B7D8D90-C482-4E8A-9D75-6A645D02ED17}"/>
              </a:ext>
            </a:extLst>
          </p:cNvPr>
          <p:cNvSpPr/>
          <p:nvPr/>
        </p:nvSpPr>
        <p:spPr>
          <a:xfrm rot="13304149">
            <a:off x="9080646" y="3384722"/>
            <a:ext cx="396877" cy="515145"/>
          </a:xfrm>
          <a:custGeom>
            <a:avLst>
              <a:gd name="f0" fmla="val 1328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solidFill>
                <a:schemeClr val="lt1"/>
              </a:solidFill>
            </a:endParaRPr>
          </a:p>
        </p:txBody>
      </p:sp>
      <p:sp>
        <p:nvSpPr>
          <p:cNvPr id="23" name="Arrow: Down 37">
            <a:extLst>
              <a:ext uri="{FF2B5EF4-FFF2-40B4-BE49-F238E27FC236}">
                <a16:creationId xmlns:a16="http://schemas.microsoft.com/office/drawing/2014/main" id="{307048A6-B55E-4617-B4C8-7900D2B1C8CF}"/>
              </a:ext>
            </a:extLst>
          </p:cNvPr>
          <p:cNvSpPr/>
          <p:nvPr/>
        </p:nvSpPr>
        <p:spPr>
          <a:xfrm rot="18281490">
            <a:off x="9103583" y="4891023"/>
            <a:ext cx="396877" cy="515145"/>
          </a:xfrm>
          <a:custGeom>
            <a:avLst>
              <a:gd name="f0" fmla="val 1328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solidFill>
                <a:schemeClr val="lt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3DA0C8-07DC-4CE6-81F6-7E54B96F74E0}"/>
              </a:ext>
            </a:extLst>
          </p:cNvPr>
          <p:cNvGrpSpPr/>
          <p:nvPr/>
        </p:nvGrpSpPr>
        <p:grpSpPr>
          <a:xfrm>
            <a:off x="7156639" y="4836576"/>
            <a:ext cx="1538950" cy="662983"/>
            <a:chOff x="7000918" y="4719130"/>
            <a:chExt cx="1538950" cy="6629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8AA427-9E4C-4B93-BA38-085996FC8628}"/>
                </a:ext>
              </a:extLst>
            </p:cNvPr>
            <p:cNvSpPr txBox="1"/>
            <p:nvPr/>
          </p:nvSpPr>
          <p:spPr>
            <a:xfrm>
              <a:off x="7552713" y="4819790"/>
              <a:ext cx="987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/>
                <a:t>Theta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1F6F851-B522-4567-88A5-90E71FF50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0918" y="4719130"/>
              <a:ext cx="649453" cy="662983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372811-1DDF-4B98-A666-EED229487FD7}"/>
              </a:ext>
            </a:extLst>
          </p:cNvPr>
          <p:cNvSpPr txBox="1"/>
          <p:nvPr/>
        </p:nvSpPr>
        <p:spPr>
          <a:xfrm>
            <a:off x="1174888" y="1954964"/>
            <a:ext cx="156172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FUNCTION_BLOCK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VAR_INPUT</a:t>
            </a:r>
          </a:p>
          <a:p>
            <a:pPr algn="l"/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 in :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END_VAR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VAR_OUTPUT</a:t>
            </a:r>
          </a:p>
          <a:p>
            <a:pPr algn="l"/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 out1 :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BOOL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 out2 :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BOOL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END_VAR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BEGIN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IF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in&gt;10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THEN</a:t>
            </a:r>
          </a:p>
          <a:p>
            <a:pPr algn="l"/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 out1 :=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out2 :=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ELSE</a:t>
            </a:r>
          </a:p>
          <a:p>
            <a:pPr algn="l"/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 out1 :=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 out2 := </a:t>
            </a:r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 END_IF</a:t>
            </a:r>
            <a:r>
              <a:rPr lang="es-ES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000" b="1" dirty="0">
                <a:solidFill>
                  <a:srgbClr val="7F0055"/>
                </a:solidFill>
                <a:latin typeface="Consolas" panose="020B0609020204030204" pitchFamily="49" charset="0"/>
              </a:rPr>
              <a:t>END_FUNCTION_BLOCK</a:t>
            </a:r>
            <a:endParaRPr lang="es-ES" sz="1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FF5114D-270C-4963-B76D-6637FE18AC51}"/>
              </a:ext>
            </a:extLst>
          </p:cNvPr>
          <p:cNvSpPr/>
          <p:nvPr/>
        </p:nvSpPr>
        <p:spPr>
          <a:xfrm>
            <a:off x="4562084" y="2193263"/>
            <a:ext cx="575796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init</a:t>
            </a:r>
            <a:endParaRPr lang="en-GB" sz="10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A36F35-F845-445F-989B-098E2BD0ADC0}"/>
              </a:ext>
            </a:extLst>
          </p:cNvPr>
          <p:cNvSpPr/>
          <p:nvPr/>
        </p:nvSpPr>
        <p:spPr>
          <a:xfrm>
            <a:off x="4437091" y="3194477"/>
            <a:ext cx="407679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l1</a:t>
            </a:r>
            <a:endParaRPr lang="en-GB" sz="10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362A137-F06A-40D8-A4C7-39E89989B1CF}"/>
              </a:ext>
            </a:extLst>
          </p:cNvPr>
          <p:cNvSpPr/>
          <p:nvPr/>
        </p:nvSpPr>
        <p:spPr>
          <a:xfrm>
            <a:off x="4891523" y="3190346"/>
            <a:ext cx="423859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l2</a:t>
            </a:r>
            <a:endParaRPr lang="en-GB" sz="10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342577-CA3C-4A1E-B213-1BDE31517B6A}"/>
              </a:ext>
            </a:extLst>
          </p:cNvPr>
          <p:cNvSpPr/>
          <p:nvPr/>
        </p:nvSpPr>
        <p:spPr>
          <a:xfrm>
            <a:off x="4651929" y="4036846"/>
            <a:ext cx="409704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l3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8FE6C52-BFD0-485A-8721-D3D50B3BA074}"/>
              </a:ext>
            </a:extLst>
          </p:cNvPr>
          <p:cNvCxnSpPr>
            <a:cxnSpLocks/>
            <a:stCxn id="44" idx="4"/>
            <a:endCxn id="29" idx="0"/>
          </p:cNvCxnSpPr>
          <p:nvPr/>
        </p:nvCxnSpPr>
        <p:spPr>
          <a:xfrm flipH="1">
            <a:off x="4640931" y="2934949"/>
            <a:ext cx="208860" cy="25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B01A93-EA44-4BD6-89C4-ECF5449D2F3F}"/>
              </a:ext>
            </a:extLst>
          </p:cNvPr>
          <p:cNvCxnSpPr>
            <a:cxnSpLocks/>
            <a:stCxn id="44" idx="4"/>
            <a:endCxn id="30" idx="0"/>
          </p:cNvCxnSpPr>
          <p:nvPr/>
        </p:nvCxnSpPr>
        <p:spPr>
          <a:xfrm>
            <a:off x="4849791" y="2934949"/>
            <a:ext cx="253662" cy="255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BD934C-7DBC-444C-8B0A-0B735896E5D3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>
          <a:xfrm>
            <a:off x="4640931" y="3435019"/>
            <a:ext cx="215850" cy="601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8D00E8E-90B3-44DD-BC19-F2EEF08CE590}"/>
              </a:ext>
            </a:extLst>
          </p:cNvPr>
          <p:cNvSpPr txBox="1"/>
          <p:nvPr/>
        </p:nvSpPr>
        <p:spPr>
          <a:xfrm>
            <a:off x="4123277" y="2875061"/>
            <a:ext cx="6776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 sz="1200" dirty="0"/>
              <a:t>in&gt;10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B6CE58-5B95-46DC-9872-5662D518AFF9}"/>
              </a:ext>
            </a:extLst>
          </p:cNvPr>
          <p:cNvSpPr txBox="1"/>
          <p:nvPr/>
        </p:nvSpPr>
        <p:spPr>
          <a:xfrm>
            <a:off x="3720002" y="3577984"/>
            <a:ext cx="1131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  <a:sym typeface="Wingdings" panose="05000000000000000000" pitchFamily="2" charset="2"/>
              </a:rPr>
              <a:t>out1  </a:t>
            </a:r>
            <a:r>
              <a:rPr lang="en-GB" sz="1200" dirty="0">
                <a:solidFill>
                  <a:schemeClr val="tx2"/>
                </a:solidFill>
              </a:rPr>
              <a:t>False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758C40-B2A6-40E5-934B-0D3AD0EF9681}"/>
              </a:ext>
            </a:extLst>
          </p:cNvPr>
          <p:cNvSpPr txBox="1"/>
          <p:nvPr/>
        </p:nvSpPr>
        <p:spPr>
          <a:xfrm>
            <a:off x="5079189" y="3574799"/>
            <a:ext cx="10645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</a:rPr>
              <a:t>out1 </a:t>
            </a:r>
            <a:r>
              <a:rPr lang="en-GB" sz="1200" dirty="0">
                <a:solidFill>
                  <a:schemeClr val="tx2"/>
                </a:solidFill>
                <a:sym typeface="Wingdings" panose="05000000000000000000" pitchFamily="2" charset="2"/>
              </a:rPr>
              <a:t></a:t>
            </a:r>
            <a:r>
              <a:rPr lang="en-GB" sz="1200" dirty="0">
                <a:solidFill>
                  <a:schemeClr val="tx2"/>
                </a:solidFill>
              </a:rPr>
              <a:t> True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4DDCFE-E9F4-41B5-A220-B0E74D5A1448}"/>
              </a:ext>
            </a:extLst>
          </p:cNvPr>
          <p:cNvSpPr txBox="1"/>
          <p:nvPr/>
        </p:nvSpPr>
        <p:spPr>
          <a:xfrm>
            <a:off x="5067761" y="2867654"/>
            <a:ext cx="575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</a:rPr>
              <a:t>in</a:t>
            </a:r>
            <a:r>
              <a:rPr lang="en-US" sz="1200" dirty="0">
                <a:solidFill>
                  <a:schemeClr val="tx2"/>
                </a:solidFill>
              </a:rPr>
              <a:t>≤1</a:t>
            </a:r>
            <a:r>
              <a:rPr lang="en-GB" sz="1200" dirty="0">
                <a:solidFill>
                  <a:schemeClr val="tx2"/>
                </a:solidFill>
              </a:rPr>
              <a:t>0</a:t>
            </a:r>
            <a:endParaRPr lang="en-GB" sz="12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C1F06A-5F16-44A9-91DA-D3A0D7858804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 flipH="1">
            <a:off x="4856781" y="3430888"/>
            <a:ext cx="246672" cy="605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27">
            <a:extLst>
              <a:ext uri="{FF2B5EF4-FFF2-40B4-BE49-F238E27FC236}">
                <a16:creationId xmlns:a16="http://schemas.microsoft.com/office/drawing/2014/main" id="{16D33450-36EE-49E9-96EA-26D857343B51}"/>
              </a:ext>
            </a:extLst>
          </p:cNvPr>
          <p:cNvSpPr txBox="1"/>
          <p:nvPr/>
        </p:nvSpPr>
        <p:spPr>
          <a:xfrm>
            <a:off x="3378427" y="4323659"/>
            <a:ext cx="2667003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Non-</a:t>
            </a:r>
            <a:r>
              <a:rPr lang="es-ES" sz="1600" b="0" i="1" u="none" strike="noStrike" kern="1200" cap="none" spc="0" baseline="0" dirty="0" err="1">
                <a:solidFill>
                  <a:srgbClr val="44546A"/>
                </a:solidFill>
                <a:uFillTx/>
                <a:latin typeface="Calibri"/>
              </a:rPr>
              <a:t>deterministic</a:t>
            </a:r>
            <a:r>
              <a:rPr lang="es-ES" sz="1600" b="0" i="1" u="none" strike="noStrike" kern="1200" cap="none" spc="0" baseline="0" dirty="0">
                <a:solidFill>
                  <a:srgbClr val="44546A"/>
                </a:solidFill>
                <a:uFillTx/>
                <a:latin typeface="Calibri"/>
              </a:rPr>
              <a:t> input variables</a:t>
            </a:r>
            <a:endParaRPr lang="en-GB" sz="1600" b="0" i="1" u="none" strike="noStrike" kern="1200" cap="none" spc="0" baseline="0" dirty="0">
              <a:solidFill>
                <a:srgbClr val="44546A"/>
              </a:solidFill>
              <a:uFillTx/>
              <a:latin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173D5F-71B8-42A6-9FDB-1DEFDDFF722F}"/>
              </a:ext>
            </a:extLst>
          </p:cNvPr>
          <p:cNvSpPr txBox="1"/>
          <p:nvPr/>
        </p:nvSpPr>
        <p:spPr>
          <a:xfrm>
            <a:off x="3753915" y="3770384"/>
            <a:ext cx="1047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  <a:sym typeface="Wingdings" panose="05000000000000000000" pitchFamily="2" charset="2"/>
              </a:rPr>
              <a:t>out2  </a:t>
            </a:r>
            <a:r>
              <a:rPr lang="en-GB" sz="12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6E793E-BC21-4AB7-909A-D052D68EB253}"/>
              </a:ext>
            </a:extLst>
          </p:cNvPr>
          <p:cNvSpPr txBox="1"/>
          <p:nvPr/>
        </p:nvSpPr>
        <p:spPr>
          <a:xfrm>
            <a:off x="5014353" y="3763519"/>
            <a:ext cx="1127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</a:rPr>
              <a:t>out2 </a:t>
            </a:r>
            <a:r>
              <a:rPr lang="en-GB" sz="1200" dirty="0">
                <a:solidFill>
                  <a:schemeClr val="tx2"/>
                </a:solidFill>
                <a:sym typeface="Wingdings" panose="05000000000000000000" pitchFamily="2" charset="2"/>
              </a:rPr>
              <a:t></a:t>
            </a:r>
            <a:r>
              <a:rPr lang="en-GB" sz="1200" dirty="0">
                <a:solidFill>
                  <a:schemeClr val="tx2"/>
                </a:solidFill>
              </a:rPr>
              <a:t> False</a:t>
            </a:r>
          </a:p>
        </p:txBody>
      </p:sp>
      <p:sp>
        <p:nvSpPr>
          <p:cNvPr id="43" name="Rectangle: Rounded Corners 30">
            <a:extLst>
              <a:ext uri="{FF2B5EF4-FFF2-40B4-BE49-F238E27FC236}">
                <a16:creationId xmlns:a16="http://schemas.microsoft.com/office/drawing/2014/main" id="{97C23AF9-F9FC-49EE-B84B-601C343C37A6}"/>
              </a:ext>
            </a:extLst>
          </p:cNvPr>
          <p:cNvSpPr/>
          <p:nvPr/>
        </p:nvSpPr>
        <p:spPr>
          <a:xfrm>
            <a:off x="983835" y="5114090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Requirements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14DCDD6-468B-42C2-A27F-CA094608DDCF}"/>
              </a:ext>
            </a:extLst>
          </p:cNvPr>
          <p:cNvSpPr/>
          <p:nvPr/>
        </p:nvSpPr>
        <p:spPr>
          <a:xfrm>
            <a:off x="4645951" y="2694407"/>
            <a:ext cx="407679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l0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15BD39F-2D05-42D5-960C-29DF4827C38F}"/>
              </a:ext>
            </a:extLst>
          </p:cNvPr>
          <p:cNvCxnSpPr>
            <a:cxnSpLocks/>
            <a:stCxn id="28" idx="4"/>
            <a:endCxn id="44" idx="0"/>
          </p:cNvCxnSpPr>
          <p:nvPr/>
        </p:nvCxnSpPr>
        <p:spPr>
          <a:xfrm flipH="1">
            <a:off x="4849791" y="2433805"/>
            <a:ext cx="191" cy="260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7F53536-C0A6-4EFB-8A45-E820F0459604}"/>
              </a:ext>
            </a:extLst>
          </p:cNvPr>
          <p:cNvSpPr txBox="1"/>
          <p:nvPr/>
        </p:nvSpPr>
        <p:spPr>
          <a:xfrm>
            <a:off x="4851119" y="2411266"/>
            <a:ext cx="21789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</a:rPr>
              <a:t>in </a:t>
            </a:r>
            <a:r>
              <a:rPr lang="en-GB" sz="1200" dirty="0">
                <a:solidFill>
                  <a:schemeClr val="tx2"/>
                </a:solidFill>
                <a:sym typeface="Wingdings" panose="05000000000000000000" pitchFamily="2" charset="2"/>
              </a:rPr>
              <a:t> </a:t>
            </a:r>
            <a:r>
              <a:rPr lang="en-GB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IntNonDeterministic</a:t>
            </a:r>
            <a:r>
              <a:rPr lang="en-GB" sz="1200" dirty="0">
                <a:solidFill>
                  <a:schemeClr val="tx2"/>
                </a:solidFill>
                <a:sym typeface="Wingdings" panose="05000000000000000000" pitchFamily="2" charset="2"/>
              </a:rPr>
              <a:t>()</a:t>
            </a:r>
            <a:endParaRPr lang="en-GB" sz="1200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35D09F4-EAB9-46BF-A5D8-AF63DA42F905}"/>
              </a:ext>
            </a:extLst>
          </p:cNvPr>
          <p:cNvSpPr/>
          <p:nvPr/>
        </p:nvSpPr>
        <p:spPr>
          <a:xfrm>
            <a:off x="3572930" y="2186823"/>
            <a:ext cx="1278470" cy="2170401"/>
          </a:xfrm>
          <a:custGeom>
            <a:avLst/>
            <a:gdLst>
              <a:gd name="connsiteX0" fmla="*/ 1278470 w 1278470"/>
              <a:gd name="connsiteY0" fmla="*/ 2116741 h 2198299"/>
              <a:gd name="connsiteX1" fmla="*/ 651937 w 1278470"/>
              <a:gd name="connsiteY1" fmla="*/ 2159074 h 2198299"/>
              <a:gd name="connsiteX2" fmla="*/ 3 w 1278470"/>
              <a:gd name="connsiteY2" fmla="*/ 1625674 h 2198299"/>
              <a:gd name="connsiteX3" fmla="*/ 660403 w 1278470"/>
              <a:gd name="connsiteY3" fmla="*/ 194808 h 2198299"/>
              <a:gd name="connsiteX4" fmla="*/ 1024470 w 1278470"/>
              <a:gd name="connsiteY4" fmla="*/ 50874 h 219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8470" h="2198299">
                <a:moveTo>
                  <a:pt x="1278470" y="2116741"/>
                </a:moveTo>
                <a:cubicBezTo>
                  <a:pt x="1071742" y="2178829"/>
                  <a:pt x="865015" y="2240918"/>
                  <a:pt x="651937" y="2159074"/>
                </a:cubicBezTo>
                <a:cubicBezTo>
                  <a:pt x="438859" y="2077230"/>
                  <a:pt x="-1408" y="1953052"/>
                  <a:pt x="3" y="1625674"/>
                </a:cubicBezTo>
                <a:cubicBezTo>
                  <a:pt x="1414" y="1298296"/>
                  <a:pt x="489659" y="457275"/>
                  <a:pt x="660403" y="194808"/>
                </a:cubicBezTo>
                <a:cubicBezTo>
                  <a:pt x="831147" y="-67659"/>
                  <a:pt x="927808" y="-8393"/>
                  <a:pt x="1024470" y="50874"/>
                </a:cubicBezTo>
              </a:path>
            </a:pathLst>
          </a:custGeom>
          <a:noFill/>
          <a:ln w="952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8" name="Group 39">
            <a:extLst>
              <a:ext uri="{FF2B5EF4-FFF2-40B4-BE49-F238E27FC236}">
                <a16:creationId xmlns:a16="http://schemas.microsoft.com/office/drawing/2014/main" id="{101543CD-E4B0-4257-90F9-A267963BE02E}"/>
              </a:ext>
            </a:extLst>
          </p:cNvPr>
          <p:cNvGrpSpPr/>
          <p:nvPr/>
        </p:nvGrpSpPr>
        <p:grpSpPr>
          <a:xfrm>
            <a:off x="9279084" y="2212482"/>
            <a:ext cx="2790319" cy="1165915"/>
            <a:chOff x="2676878" y="4514520"/>
            <a:chExt cx="2790319" cy="1165915"/>
          </a:xfrm>
        </p:grpSpPr>
        <p:sp>
          <p:nvSpPr>
            <p:cNvPr id="49" name="TextBox 39">
              <a:extLst>
                <a:ext uri="{FF2B5EF4-FFF2-40B4-BE49-F238E27FC236}">
                  <a16:creationId xmlns:a16="http://schemas.microsoft.com/office/drawing/2014/main" id="{03B35FB4-5341-4965-9460-5FD7C3B71878}"/>
                </a:ext>
              </a:extLst>
            </p:cNvPr>
            <p:cNvSpPr txBox="1"/>
            <p:nvPr/>
          </p:nvSpPr>
          <p:spPr>
            <a:xfrm>
              <a:off x="3711586" y="4514520"/>
              <a:ext cx="575797" cy="83099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4800" b="1" i="0" u="none" strike="noStrike" kern="1200" cap="none" spc="0" baseline="0">
                  <a:solidFill>
                    <a:srgbClr val="C00000"/>
                  </a:solidFill>
                  <a:uFillTx/>
                  <a:latin typeface="Wingdings"/>
                </a:rPr>
                <a:t></a:t>
              </a:r>
              <a:endParaRPr lang="en-US" sz="4000" b="1" i="0" u="none" strike="noStrike" kern="1200" cap="none" spc="0" baseline="0">
                <a:solidFill>
                  <a:srgbClr val="C00000"/>
                </a:solidFill>
                <a:uFillTx/>
                <a:latin typeface="Arial"/>
              </a:endParaRPr>
            </a:p>
          </p:txBody>
        </p:sp>
        <p:sp>
          <p:nvSpPr>
            <p:cNvPr id="50" name="TextBox 40">
              <a:extLst>
                <a:ext uri="{FF2B5EF4-FFF2-40B4-BE49-F238E27FC236}">
                  <a16:creationId xmlns:a16="http://schemas.microsoft.com/office/drawing/2014/main" id="{15D4ABA9-6D2B-466A-B58B-FB81A42C89B2}"/>
                </a:ext>
              </a:extLst>
            </p:cNvPr>
            <p:cNvSpPr txBox="1"/>
            <p:nvPr/>
          </p:nvSpPr>
          <p:spPr>
            <a:xfrm>
              <a:off x="2676878" y="5095658"/>
              <a:ext cx="2790319" cy="584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1" i="0" u="none" strike="noStrike" kern="1200" cap="none" spc="0" baseline="0" dirty="0">
                  <a:solidFill>
                    <a:srgbClr val="0055A0"/>
                  </a:solidFill>
                  <a:uFillTx/>
                  <a:latin typeface="Arial" pitchFamily="34"/>
                  <a:cs typeface="Arial" pitchFamily="34"/>
                </a:rPr>
                <a:t>Property failed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1" u="none" strike="noStrike" kern="1200" cap="none" spc="0" baseline="0" dirty="0">
                  <a:solidFill>
                    <a:srgbClr val="0055A0"/>
                  </a:solidFill>
                  <a:uFillTx/>
                  <a:latin typeface="Arial" pitchFamily="34"/>
                  <a:cs typeface="Arial" pitchFamily="34"/>
                </a:rPr>
                <a:t>Trace leading to the violation</a:t>
              </a:r>
            </a:p>
          </p:txBody>
        </p:sp>
      </p:grpSp>
      <p:sp>
        <p:nvSpPr>
          <p:cNvPr id="51" name="Rectangle: Rounded Corners 30">
            <a:extLst>
              <a:ext uri="{FF2B5EF4-FFF2-40B4-BE49-F238E27FC236}">
                <a16:creationId xmlns:a16="http://schemas.microsoft.com/office/drawing/2014/main" id="{324155C9-AC01-45B4-AD4A-8F67D11093AA}"/>
              </a:ext>
            </a:extLst>
          </p:cNvPr>
          <p:cNvSpPr/>
          <p:nvPr/>
        </p:nvSpPr>
        <p:spPr>
          <a:xfrm>
            <a:off x="975560" y="1315238"/>
            <a:ext cx="1873239" cy="40112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PLC program</a:t>
            </a:r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52" name="Rectangle: Rounded Corners 28">
            <a:extLst>
              <a:ext uri="{FF2B5EF4-FFF2-40B4-BE49-F238E27FC236}">
                <a16:creationId xmlns:a16="http://schemas.microsoft.com/office/drawing/2014/main" id="{ACC8F0B9-A41D-4982-B6BD-13C32D77143F}"/>
              </a:ext>
            </a:extLst>
          </p:cNvPr>
          <p:cNvSpPr/>
          <p:nvPr/>
        </p:nvSpPr>
        <p:spPr>
          <a:xfrm>
            <a:off x="3888482" y="1315245"/>
            <a:ext cx="1982547" cy="40290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Intermediate Model</a:t>
            </a:r>
            <a:endParaRPr lang="en-GB" sz="1600" dirty="0"/>
          </a:p>
        </p:txBody>
      </p:sp>
      <p:sp>
        <p:nvSpPr>
          <p:cNvPr id="53" name="Rectangle: Rounded Corners 32">
            <a:extLst>
              <a:ext uri="{FF2B5EF4-FFF2-40B4-BE49-F238E27FC236}">
                <a16:creationId xmlns:a16="http://schemas.microsoft.com/office/drawing/2014/main" id="{5DEF11DD-214F-4086-B4FF-9AB50DB7D752}"/>
              </a:ext>
            </a:extLst>
          </p:cNvPr>
          <p:cNvSpPr/>
          <p:nvPr/>
        </p:nvSpPr>
        <p:spPr>
          <a:xfrm>
            <a:off x="7030022" y="1315238"/>
            <a:ext cx="1873239" cy="40290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</a:rPr>
              <a:t>Model </a:t>
            </a:r>
            <a:r>
              <a:rPr lang="en-US" sz="1600" dirty="0"/>
              <a:t>checker</a:t>
            </a:r>
            <a:endParaRPr lang="es-ES" sz="1600" dirty="0">
              <a:solidFill>
                <a:schemeClr val="lt1"/>
              </a:solidFill>
            </a:endParaRPr>
          </a:p>
        </p:txBody>
      </p:sp>
      <p:cxnSp>
        <p:nvCxnSpPr>
          <p:cNvPr id="54" name="7 Conector angular">
            <a:extLst>
              <a:ext uri="{FF2B5EF4-FFF2-40B4-BE49-F238E27FC236}">
                <a16:creationId xmlns:a16="http://schemas.microsoft.com/office/drawing/2014/main" id="{083F12FD-D249-438F-AD90-4E2A76AD23EF}"/>
              </a:ext>
            </a:extLst>
          </p:cNvPr>
          <p:cNvCxnSpPr>
            <a:cxnSpLocks/>
            <a:stCxn id="63" idx="2"/>
            <a:endCxn id="56" idx="0"/>
          </p:cNvCxnSpPr>
          <p:nvPr/>
        </p:nvCxnSpPr>
        <p:spPr>
          <a:xfrm rot="5400000">
            <a:off x="10748467" y="614399"/>
            <a:ext cx="731915" cy="2807"/>
          </a:xfrm>
          <a:prstGeom prst="bentConnector3">
            <a:avLst>
              <a:gd name="adj1" fmla="val 50000"/>
            </a:avLst>
          </a:prstGeom>
          <a:noFill/>
          <a:ln w="38103" cap="flat">
            <a:solidFill>
              <a:schemeClr val="accent1"/>
            </a:solidFill>
            <a:prstDash val="solid"/>
            <a:miter/>
            <a:tailEnd type="arrow"/>
          </a:ln>
        </p:spPr>
      </p:cxnSp>
      <p:cxnSp>
        <p:nvCxnSpPr>
          <p:cNvPr id="55" name="8 Conector angular">
            <a:extLst>
              <a:ext uri="{FF2B5EF4-FFF2-40B4-BE49-F238E27FC236}">
                <a16:creationId xmlns:a16="http://schemas.microsoft.com/office/drawing/2014/main" id="{20984ED5-B2E3-47EB-BD39-F948E57E17D5}"/>
              </a:ext>
            </a:extLst>
          </p:cNvPr>
          <p:cNvCxnSpPr>
            <a:cxnSpLocks/>
            <a:stCxn id="64" idx="0"/>
            <a:endCxn id="56" idx="2"/>
          </p:cNvCxnSpPr>
          <p:nvPr/>
        </p:nvCxnSpPr>
        <p:spPr>
          <a:xfrm rot="16200000" flipV="1">
            <a:off x="10807581" y="1731601"/>
            <a:ext cx="610880" cy="1"/>
          </a:xfrm>
          <a:prstGeom prst="bentConnector3">
            <a:avLst>
              <a:gd name="adj1" fmla="val 50000"/>
            </a:avLst>
          </a:prstGeom>
          <a:noFill/>
          <a:ln w="38103" cap="flat">
            <a:solidFill>
              <a:schemeClr val="accent1"/>
            </a:solidFill>
            <a:prstDash val="solid"/>
            <a:miter/>
            <a:tailEnd type="arrow"/>
          </a:ln>
        </p:spPr>
      </p:cxnSp>
      <p:pic>
        <p:nvPicPr>
          <p:cNvPr id="56" name="Picture 6" descr="http://acesolutions.fr/images/engrenage.gif">
            <a:extLst>
              <a:ext uri="{FF2B5EF4-FFF2-40B4-BE49-F238E27FC236}">
                <a16:creationId xmlns:a16="http://schemas.microsoft.com/office/drawing/2014/main" id="{09C4F59F-AB41-4514-964C-C019624AE1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881924" y="981760"/>
            <a:ext cx="462191" cy="4444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7" name="TextBox 36">
            <a:extLst>
              <a:ext uri="{FF2B5EF4-FFF2-40B4-BE49-F238E27FC236}">
                <a16:creationId xmlns:a16="http://schemas.microsoft.com/office/drawing/2014/main" id="{5F040693-0EFC-4A78-8E30-E33FAE80A3DB}"/>
              </a:ext>
            </a:extLst>
          </p:cNvPr>
          <p:cNvSpPr txBox="1"/>
          <p:nvPr/>
        </p:nvSpPr>
        <p:spPr>
          <a:xfrm>
            <a:off x="11696580" y="1299816"/>
            <a:ext cx="273457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00B050"/>
                </a:solidFill>
                <a:uFillTx/>
                <a:latin typeface="Wingdings"/>
              </a:rPr>
              <a:t></a:t>
            </a:r>
            <a:endParaRPr lang="en-US" sz="1400" b="1" i="0" u="none" strike="noStrike" kern="1200" cap="none" spc="0" baseline="0" dirty="0">
              <a:solidFill>
                <a:srgbClr val="00B050"/>
              </a:solidFill>
              <a:uFillTx/>
              <a:latin typeface="Arial"/>
            </a:endParaRPr>
          </a:p>
        </p:txBody>
      </p:sp>
      <p:sp>
        <p:nvSpPr>
          <p:cNvPr id="58" name="TextBox 39">
            <a:extLst>
              <a:ext uri="{FF2B5EF4-FFF2-40B4-BE49-F238E27FC236}">
                <a16:creationId xmlns:a16="http://schemas.microsoft.com/office/drawing/2014/main" id="{A217AA68-9719-4E36-8FCD-99DE00C88A8E}"/>
              </a:ext>
            </a:extLst>
          </p:cNvPr>
          <p:cNvSpPr txBox="1"/>
          <p:nvPr/>
        </p:nvSpPr>
        <p:spPr>
          <a:xfrm>
            <a:off x="11701313" y="780707"/>
            <a:ext cx="2805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C00000"/>
                </a:solidFill>
                <a:uFillTx/>
                <a:latin typeface="Wingdings"/>
              </a:rPr>
              <a:t></a:t>
            </a:r>
            <a:endParaRPr lang="en-US" sz="1400" b="1" i="0" u="none" strike="noStrike" kern="1200" cap="none" spc="0" baseline="0" dirty="0">
              <a:solidFill>
                <a:srgbClr val="C00000"/>
              </a:solidFill>
              <a:uFillTx/>
              <a:latin typeface="Arial"/>
            </a:endParaRPr>
          </a:p>
        </p:txBody>
      </p:sp>
      <p:cxnSp>
        <p:nvCxnSpPr>
          <p:cNvPr id="59" name="Straight Arrow Connector 41">
            <a:extLst>
              <a:ext uri="{FF2B5EF4-FFF2-40B4-BE49-F238E27FC236}">
                <a16:creationId xmlns:a16="http://schemas.microsoft.com/office/drawing/2014/main" id="{AE91A79C-8777-4A30-8C55-66B105635B4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11344115" y="965373"/>
            <a:ext cx="357198" cy="238588"/>
          </a:xfrm>
          <a:prstGeom prst="straightConnector1">
            <a:avLst/>
          </a:prstGeom>
          <a:noFill/>
          <a:ln w="38103" cap="flat">
            <a:solidFill>
              <a:schemeClr val="accent1"/>
            </a:solidFill>
            <a:prstDash val="solid"/>
            <a:miter/>
            <a:tailEnd type="arrow"/>
          </a:ln>
        </p:spPr>
      </p:cxnSp>
      <p:cxnSp>
        <p:nvCxnSpPr>
          <p:cNvPr id="60" name="Straight Arrow Connector 42">
            <a:extLst>
              <a:ext uri="{FF2B5EF4-FFF2-40B4-BE49-F238E27FC236}">
                <a16:creationId xmlns:a16="http://schemas.microsoft.com/office/drawing/2014/main" id="{DF8E2D40-3014-4359-A30C-1E0A49CB6AB0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11344115" y="1203961"/>
            <a:ext cx="352465" cy="249744"/>
          </a:xfrm>
          <a:prstGeom prst="straightConnector1">
            <a:avLst/>
          </a:prstGeom>
          <a:noFill/>
          <a:ln w="38103" cap="flat">
            <a:solidFill>
              <a:schemeClr val="accent1"/>
            </a:solidFill>
            <a:prstDash val="solid"/>
            <a:miter/>
            <a:tailEnd type="arrow"/>
          </a:ln>
        </p:spPr>
      </p:cxnSp>
      <p:pic>
        <p:nvPicPr>
          <p:cNvPr id="61" name="Picture 44" descr="http://www.fao.org/DOCREP/003/X6510E/X651003.gif">
            <a:extLst>
              <a:ext uri="{FF2B5EF4-FFF2-40B4-BE49-F238E27FC236}">
                <a16:creationId xmlns:a16="http://schemas.microsoft.com/office/drawing/2014/main" id="{97C77405-38CE-4CA6-8884-539F7DE2EC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82264" y="315202"/>
            <a:ext cx="846956" cy="35520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2" name="Picture 10" descr="http://www.mcrl2.org/mcrl2/wiki/images/1/1f/Text_File_Icon.png">
            <a:extLst>
              <a:ext uri="{FF2B5EF4-FFF2-40B4-BE49-F238E27FC236}">
                <a16:creationId xmlns:a16="http://schemas.microsoft.com/office/drawing/2014/main" id="{11567F48-6EA8-40F6-A0DC-ED174B6FF2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633798" y="1676937"/>
            <a:ext cx="333341" cy="347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3" name="Rectangle: Rounded Corners 27">
            <a:extLst>
              <a:ext uri="{FF2B5EF4-FFF2-40B4-BE49-F238E27FC236}">
                <a16:creationId xmlns:a16="http://schemas.microsoft.com/office/drawing/2014/main" id="{8D63C203-2AF4-4876-B0AC-71010BA40B15}"/>
              </a:ext>
            </a:extLst>
          </p:cNvPr>
          <p:cNvSpPr/>
          <p:nvPr/>
        </p:nvSpPr>
        <p:spPr>
          <a:xfrm>
            <a:off x="10625335" y="60402"/>
            <a:ext cx="980984" cy="18944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lt1"/>
                </a:solidFill>
              </a:rPr>
              <a:t>Formal model</a:t>
            </a:r>
            <a:endParaRPr lang="es-ES" sz="700" dirty="0">
              <a:solidFill>
                <a:schemeClr val="lt1"/>
              </a:solidFill>
            </a:endParaRPr>
          </a:p>
        </p:txBody>
      </p:sp>
      <p:sp>
        <p:nvSpPr>
          <p:cNvPr id="64" name="Rectangle: Rounded Corners 50">
            <a:extLst>
              <a:ext uri="{FF2B5EF4-FFF2-40B4-BE49-F238E27FC236}">
                <a16:creationId xmlns:a16="http://schemas.microsoft.com/office/drawing/2014/main" id="{F3041865-6A77-4019-91A9-1474AC107580}"/>
              </a:ext>
            </a:extLst>
          </p:cNvPr>
          <p:cNvSpPr/>
          <p:nvPr/>
        </p:nvSpPr>
        <p:spPr>
          <a:xfrm>
            <a:off x="10593304" y="2037042"/>
            <a:ext cx="1039433" cy="18944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lt1"/>
                </a:solidFill>
              </a:rPr>
              <a:t>Formal requirement</a:t>
            </a:r>
            <a:endParaRPr lang="es-ES" sz="700" dirty="0">
              <a:solidFill>
                <a:schemeClr val="lt1"/>
              </a:solidFill>
            </a:endParaRP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30339258-E33B-48FE-B5C7-D01604ADF39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374562" y="334589"/>
            <a:ext cx="481323" cy="267718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66" name="Straight Arrow Connector 8">
            <a:extLst>
              <a:ext uri="{FF2B5EF4-FFF2-40B4-BE49-F238E27FC236}">
                <a16:creationId xmlns:a16="http://schemas.microsoft.com/office/drawing/2014/main" id="{0DC418DC-4A68-4527-8A39-1049004447E5}"/>
              </a:ext>
            </a:extLst>
          </p:cNvPr>
          <p:cNvCxnSpPr>
            <a:cxnSpLocks/>
          </p:cNvCxnSpPr>
          <p:nvPr/>
        </p:nvCxnSpPr>
        <p:spPr>
          <a:xfrm flipH="1">
            <a:off x="11317081" y="1538725"/>
            <a:ext cx="8561" cy="191005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  <a:tailEnd type="arrow"/>
          </a:ln>
        </p:spPr>
      </p:cxnSp>
      <p:cxnSp>
        <p:nvCxnSpPr>
          <p:cNvPr id="67" name="Straight Arrow Connector 52">
            <a:extLst>
              <a:ext uri="{FF2B5EF4-FFF2-40B4-BE49-F238E27FC236}">
                <a16:creationId xmlns:a16="http://schemas.microsoft.com/office/drawing/2014/main" id="{07D5ECB6-9C26-4D04-BD3B-A61DB85E9AC2}"/>
              </a:ext>
            </a:extLst>
          </p:cNvPr>
          <p:cNvCxnSpPr>
            <a:cxnSpLocks/>
          </p:cNvCxnSpPr>
          <p:nvPr/>
        </p:nvCxnSpPr>
        <p:spPr>
          <a:xfrm>
            <a:off x="11318017" y="1546425"/>
            <a:ext cx="117331" cy="193742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  <a:tailEnd type="arrow"/>
          </a:ln>
        </p:spPr>
      </p:cxnSp>
      <p:cxnSp>
        <p:nvCxnSpPr>
          <p:cNvPr id="68" name="Straight Arrow Connector 53">
            <a:extLst>
              <a:ext uri="{FF2B5EF4-FFF2-40B4-BE49-F238E27FC236}">
                <a16:creationId xmlns:a16="http://schemas.microsoft.com/office/drawing/2014/main" id="{5EBC3205-5E04-4667-A94F-7250D4F1F5E9}"/>
              </a:ext>
            </a:extLst>
          </p:cNvPr>
          <p:cNvCxnSpPr>
            <a:cxnSpLocks/>
          </p:cNvCxnSpPr>
          <p:nvPr/>
        </p:nvCxnSpPr>
        <p:spPr>
          <a:xfrm>
            <a:off x="11308392" y="1769637"/>
            <a:ext cx="117336" cy="193741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  <a:tailEnd type="arrow"/>
          </a:ln>
        </p:spPr>
      </p:cxnSp>
      <p:cxnSp>
        <p:nvCxnSpPr>
          <p:cNvPr id="69" name="Straight Arrow Connector 54">
            <a:extLst>
              <a:ext uri="{FF2B5EF4-FFF2-40B4-BE49-F238E27FC236}">
                <a16:creationId xmlns:a16="http://schemas.microsoft.com/office/drawing/2014/main" id="{A7C82E27-8396-4397-B95E-6255FD085757}"/>
              </a:ext>
            </a:extLst>
          </p:cNvPr>
          <p:cNvCxnSpPr>
            <a:cxnSpLocks/>
          </p:cNvCxnSpPr>
          <p:nvPr/>
        </p:nvCxnSpPr>
        <p:spPr>
          <a:xfrm flipH="1">
            <a:off x="11306657" y="1775742"/>
            <a:ext cx="4784" cy="183488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  <a:tailEnd type="arrow"/>
          </a:ln>
        </p:spPr>
      </p:cxnSp>
      <p:sp>
        <p:nvSpPr>
          <p:cNvPr id="70" name="Oval 12">
            <a:extLst>
              <a:ext uri="{FF2B5EF4-FFF2-40B4-BE49-F238E27FC236}">
                <a16:creationId xmlns:a16="http://schemas.microsoft.com/office/drawing/2014/main" id="{7F216F7B-31C8-40AA-A6A7-BC02E925C81B}"/>
              </a:ext>
            </a:extLst>
          </p:cNvPr>
          <p:cNvSpPr/>
          <p:nvPr/>
        </p:nvSpPr>
        <p:spPr>
          <a:xfrm>
            <a:off x="11299957" y="1522086"/>
            <a:ext cx="45719" cy="5087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B05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1" name="Oval 55">
            <a:extLst>
              <a:ext uri="{FF2B5EF4-FFF2-40B4-BE49-F238E27FC236}">
                <a16:creationId xmlns:a16="http://schemas.microsoft.com/office/drawing/2014/main" id="{D52C81A4-00DE-4C9B-AD56-1B0C38B504F2}"/>
              </a:ext>
            </a:extLst>
          </p:cNvPr>
          <p:cNvSpPr/>
          <p:nvPr/>
        </p:nvSpPr>
        <p:spPr>
          <a:xfrm>
            <a:off x="11293383" y="1722411"/>
            <a:ext cx="45719" cy="5087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B05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2" name="Oval 56">
            <a:extLst>
              <a:ext uri="{FF2B5EF4-FFF2-40B4-BE49-F238E27FC236}">
                <a16:creationId xmlns:a16="http://schemas.microsoft.com/office/drawing/2014/main" id="{A218D361-D383-4BD1-8713-D24D39FED26B}"/>
              </a:ext>
            </a:extLst>
          </p:cNvPr>
          <p:cNvSpPr/>
          <p:nvPr/>
        </p:nvSpPr>
        <p:spPr>
          <a:xfrm>
            <a:off x="11277777" y="1956205"/>
            <a:ext cx="45719" cy="5087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B05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3" name="Oval 57">
            <a:extLst>
              <a:ext uri="{FF2B5EF4-FFF2-40B4-BE49-F238E27FC236}">
                <a16:creationId xmlns:a16="http://schemas.microsoft.com/office/drawing/2014/main" id="{E3BDCEAA-AD64-426F-846C-26823ABAD660}"/>
              </a:ext>
            </a:extLst>
          </p:cNvPr>
          <p:cNvSpPr/>
          <p:nvPr/>
        </p:nvSpPr>
        <p:spPr>
          <a:xfrm>
            <a:off x="11424434" y="1957546"/>
            <a:ext cx="45719" cy="5087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B05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4" name="Oval 58">
            <a:extLst>
              <a:ext uri="{FF2B5EF4-FFF2-40B4-BE49-F238E27FC236}">
                <a16:creationId xmlns:a16="http://schemas.microsoft.com/office/drawing/2014/main" id="{E211E21D-79B4-4340-8F8E-E9B218EC2AB0}"/>
              </a:ext>
            </a:extLst>
          </p:cNvPr>
          <p:cNvSpPr/>
          <p:nvPr/>
        </p:nvSpPr>
        <p:spPr>
          <a:xfrm>
            <a:off x="11440132" y="1723379"/>
            <a:ext cx="45719" cy="5087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F3B2DC5-901A-494A-AD8E-DE088D1E3EB8}"/>
              </a:ext>
            </a:extLst>
          </p:cNvPr>
          <p:cNvSpPr/>
          <p:nvPr/>
        </p:nvSpPr>
        <p:spPr>
          <a:xfrm>
            <a:off x="10182264" y="258450"/>
            <a:ext cx="872502" cy="482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1FD5115-C8FA-44F0-8064-6ED9DCD4D527}"/>
              </a:ext>
            </a:extLst>
          </p:cNvPr>
          <p:cNvSpPr/>
          <p:nvPr/>
        </p:nvSpPr>
        <p:spPr>
          <a:xfrm>
            <a:off x="10179002" y="1561760"/>
            <a:ext cx="892665" cy="506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FFA553-D170-474E-90AF-18EE581EBF8F}"/>
              </a:ext>
            </a:extLst>
          </p:cNvPr>
          <p:cNvSpPr/>
          <p:nvPr/>
        </p:nvSpPr>
        <p:spPr>
          <a:xfrm>
            <a:off x="11136593" y="245188"/>
            <a:ext cx="892665" cy="506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8F1DD9C-12C7-4FF2-BC0B-1E252F4654E2}"/>
              </a:ext>
            </a:extLst>
          </p:cNvPr>
          <p:cNvSpPr/>
          <p:nvPr/>
        </p:nvSpPr>
        <p:spPr>
          <a:xfrm>
            <a:off x="11140596" y="1517731"/>
            <a:ext cx="892665" cy="506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C034AB4-5726-4248-A20F-E35CB99C52EE}"/>
              </a:ext>
            </a:extLst>
          </p:cNvPr>
          <p:cNvSpPr/>
          <p:nvPr/>
        </p:nvSpPr>
        <p:spPr>
          <a:xfrm>
            <a:off x="10651169" y="970920"/>
            <a:ext cx="892665" cy="506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EE9EF71-F5C0-4A86-A048-74E5C281A079}"/>
              </a:ext>
            </a:extLst>
          </p:cNvPr>
          <p:cNvSpPr/>
          <p:nvPr/>
        </p:nvSpPr>
        <p:spPr>
          <a:xfrm>
            <a:off x="11361238" y="882179"/>
            <a:ext cx="708165" cy="6565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0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8" grpId="0" animBg="1"/>
      <p:bldP spid="29" grpId="0" animBg="1"/>
      <p:bldP spid="30" grpId="0" animBg="1"/>
      <p:bldP spid="31" grpId="0" animBg="1"/>
      <p:bldP spid="35" grpId="0"/>
      <p:bldP spid="36" grpId="0"/>
      <p:bldP spid="37" grpId="0"/>
      <p:bldP spid="38" grpId="0"/>
      <p:bldP spid="40" grpId="0"/>
      <p:bldP spid="41" grpId="0"/>
      <p:bldP spid="42" grpId="0"/>
      <p:bldP spid="44" grpId="0" animBg="1"/>
      <p:bldP spid="46" grpId="0"/>
      <p:bldP spid="47" grpId="0" animBg="1"/>
      <p:bldP spid="52" grpId="0" animBg="1"/>
      <p:bldP spid="53" grpId="0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Model checking – Example (SAT-based)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8A72083-82AF-41D2-BD4C-6DB81733B77D}"/>
              </a:ext>
            </a:extLst>
          </p:cNvPr>
          <p:cNvSpPr txBox="1">
            <a:spLocks/>
          </p:cNvSpPr>
          <p:nvPr/>
        </p:nvSpPr>
        <p:spPr>
          <a:xfrm>
            <a:off x="85808" y="2476521"/>
            <a:ext cx="2419854" cy="19113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/>
                </a:solidFill>
              </a:rPr>
              <a:t>x = BoolNonDeterministic()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tx2"/>
                </a:solidFill>
              </a:rPr>
              <a:t>if x=True then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tx2"/>
                </a:solidFill>
              </a:rPr>
              <a:t>   </a:t>
            </a:r>
            <a:r>
              <a:rPr lang="en-US" sz="1400"/>
              <a:t>y := False</a:t>
            </a:r>
          </a:p>
          <a:p>
            <a:pPr>
              <a:spcBef>
                <a:spcPts val="600"/>
              </a:spcBef>
            </a:pPr>
            <a:r>
              <a:rPr lang="en-US" sz="1400"/>
              <a:t>else</a:t>
            </a:r>
          </a:p>
          <a:p>
            <a:pPr>
              <a:spcBef>
                <a:spcPts val="600"/>
              </a:spcBef>
            </a:pPr>
            <a:r>
              <a:rPr lang="en-US" sz="1400"/>
              <a:t>   y := True</a:t>
            </a:r>
          </a:p>
          <a:p>
            <a:pPr>
              <a:spcBef>
                <a:spcPts val="600"/>
              </a:spcBef>
            </a:pPr>
            <a:r>
              <a:rPr lang="en-US" sz="1400"/>
              <a:t>Assert: y=True</a:t>
            </a:r>
            <a:endParaRPr lang="en-US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000AB5-50BB-4618-85C8-2B93008A8FD9}"/>
              </a:ext>
            </a:extLst>
          </p:cNvPr>
          <p:cNvSpPr/>
          <p:nvPr/>
        </p:nvSpPr>
        <p:spPr>
          <a:xfrm>
            <a:off x="5936421" y="1051047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E42F9A-F042-45FC-848D-DD23052B18DB}"/>
              </a:ext>
            </a:extLst>
          </p:cNvPr>
          <p:cNvSpPr/>
          <p:nvPr/>
        </p:nvSpPr>
        <p:spPr>
          <a:xfrm>
            <a:off x="5369778" y="1573481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EBB71F-0B23-4781-B504-131E909492E9}"/>
              </a:ext>
            </a:extLst>
          </p:cNvPr>
          <p:cNvSpPr/>
          <p:nvPr/>
        </p:nvSpPr>
        <p:spPr>
          <a:xfrm>
            <a:off x="6503064" y="1568778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E7B48D-0A7D-4F49-AF11-94CB391C8A56}"/>
              </a:ext>
            </a:extLst>
          </p:cNvPr>
          <p:cNvSpPr/>
          <p:nvPr/>
        </p:nvSpPr>
        <p:spPr>
          <a:xfrm>
            <a:off x="5932072" y="2106177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9B77ED-4F9E-4B98-9B67-369C3B3AA1F9}"/>
              </a:ext>
            </a:extLst>
          </p:cNvPr>
          <p:cNvCxnSpPr>
            <a:cxnSpLocks/>
            <a:stCxn id="9" idx="4"/>
            <a:endCxn id="10" idx="7"/>
          </p:cNvCxnSpPr>
          <p:nvPr/>
        </p:nvCxnSpPr>
        <p:spPr>
          <a:xfrm flipH="1">
            <a:off x="5588279" y="1291589"/>
            <a:ext cx="476137" cy="317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022182-4EBA-4A77-B4A7-35788184E388}"/>
              </a:ext>
            </a:extLst>
          </p:cNvPr>
          <p:cNvCxnSpPr>
            <a:cxnSpLocks/>
            <a:stCxn id="9" idx="4"/>
            <a:endCxn id="11" idx="1"/>
          </p:cNvCxnSpPr>
          <p:nvPr/>
        </p:nvCxnSpPr>
        <p:spPr>
          <a:xfrm>
            <a:off x="6064416" y="1291589"/>
            <a:ext cx="476137" cy="312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5ECBB8-F714-4763-858A-4B7D0BE2079C}"/>
              </a:ext>
            </a:extLst>
          </p:cNvPr>
          <p:cNvCxnSpPr>
            <a:cxnSpLocks/>
            <a:stCxn id="10" idx="5"/>
            <a:endCxn id="12" idx="1"/>
          </p:cNvCxnSpPr>
          <p:nvPr/>
        </p:nvCxnSpPr>
        <p:spPr>
          <a:xfrm>
            <a:off x="5588279" y="1778796"/>
            <a:ext cx="381282" cy="36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1E0F35-C93F-4C09-BF0A-0782EC4FB32D}"/>
              </a:ext>
            </a:extLst>
          </p:cNvPr>
          <p:cNvSpPr txBox="1"/>
          <p:nvPr/>
        </p:nvSpPr>
        <p:spPr>
          <a:xfrm>
            <a:off x="5519613" y="1223868"/>
            <a:ext cx="376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x</a:t>
            </a:r>
            <a:endParaRPr 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7E039D-4604-425D-8DFE-CE795DBCAC2D}"/>
              </a:ext>
            </a:extLst>
          </p:cNvPr>
          <p:cNvSpPr txBox="1"/>
          <p:nvPr/>
        </p:nvSpPr>
        <p:spPr>
          <a:xfrm>
            <a:off x="4855581" y="1830693"/>
            <a:ext cx="1212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  <a:sym typeface="Wingdings" panose="05000000000000000000" pitchFamily="2" charset="2"/>
              </a:rPr>
              <a:t>y  </a:t>
            </a:r>
            <a:r>
              <a:rPr lang="en-US" sz="1400">
                <a:solidFill>
                  <a:schemeClr val="tx2"/>
                </a:solidFill>
              </a:rPr>
              <a:t>False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6FF6C3-3A75-4B76-A8E2-F73E7C3CC929}"/>
              </a:ext>
            </a:extLst>
          </p:cNvPr>
          <p:cNvSpPr txBox="1"/>
          <p:nvPr/>
        </p:nvSpPr>
        <p:spPr>
          <a:xfrm>
            <a:off x="6348255" y="1837737"/>
            <a:ext cx="108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y </a:t>
            </a:r>
            <a:r>
              <a:rPr lang="en-US" sz="1400" dirty="0">
                <a:solidFill>
                  <a:schemeClr val="tx2"/>
                </a:solidFill>
                <a:sym typeface="Wingdings" panose="05000000000000000000" pitchFamily="2" charset="2"/>
              </a:rPr>
              <a:t></a:t>
            </a:r>
            <a:r>
              <a:rPr lang="en-US" sz="1400" dirty="0">
                <a:solidFill>
                  <a:schemeClr val="tx2"/>
                </a:solidFill>
              </a:rPr>
              <a:t> True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B4BCD-AFA6-485D-90F1-90CC672D3DE3}"/>
              </a:ext>
            </a:extLst>
          </p:cNvPr>
          <p:cNvSpPr txBox="1"/>
          <p:nvPr/>
        </p:nvSpPr>
        <p:spPr>
          <a:xfrm>
            <a:off x="6229886" y="1181516"/>
            <a:ext cx="893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¬x</a:t>
            </a:r>
            <a:endParaRPr lang="en-US" sz="140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68381C2-2DDD-49D0-905F-6EF8129EBFC4}"/>
              </a:ext>
            </a:extLst>
          </p:cNvPr>
          <p:cNvSpPr txBox="1">
            <a:spLocks/>
          </p:cNvSpPr>
          <p:nvPr/>
        </p:nvSpPr>
        <p:spPr>
          <a:xfrm>
            <a:off x="3472289" y="3528360"/>
            <a:ext cx="4094648" cy="3166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(x AND ¬y AND ¬y) OR (¬x AND y AND ¬y) </a:t>
            </a:r>
            <a:endParaRPr lang="en-US" sz="1400" i="1">
              <a:solidFill>
                <a:schemeClr val="tx2"/>
              </a:solidFill>
            </a:endParaRP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3786BD60-8C08-43A0-8C92-CCE3D39D4DEE}"/>
              </a:ext>
            </a:extLst>
          </p:cNvPr>
          <p:cNvSpPr/>
          <p:nvPr/>
        </p:nvSpPr>
        <p:spPr>
          <a:xfrm>
            <a:off x="7253066" y="3574595"/>
            <a:ext cx="486834" cy="17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700"/>
              <a:t>CNF</a:t>
            </a:r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584762-ADC5-41BD-972B-1301284FF01C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>
          <a:xfrm flipH="1">
            <a:off x="5618760" y="2346719"/>
            <a:ext cx="441307" cy="34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B3E71A3-F46E-4D14-9050-416A210B1F18}"/>
              </a:ext>
            </a:extLst>
          </p:cNvPr>
          <p:cNvSpPr/>
          <p:nvPr/>
        </p:nvSpPr>
        <p:spPr>
          <a:xfrm>
            <a:off x="5490765" y="2691481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E5176-BA5E-4BD0-92D1-C87FA3A93846}"/>
              </a:ext>
            </a:extLst>
          </p:cNvPr>
          <p:cNvSpPr txBox="1"/>
          <p:nvPr/>
        </p:nvSpPr>
        <p:spPr>
          <a:xfrm>
            <a:off x="5580355" y="2226448"/>
            <a:ext cx="340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y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231FC7-93F3-40E0-8722-AC1FBB1D3B98}"/>
              </a:ext>
            </a:extLst>
          </p:cNvPr>
          <p:cNvCxnSpPr>
            <a:cxnSpLocks/>
            <a:stCxn id="11" idx="4"/>
            <a:endCxn id="12" idx="7"/>
          </p:cNvCxnSpPr>
          <p:nvPr/>
        </p:nvCxnSpPr>
        <p:spPr>
          <a:xfrm flipH="1">
            <a:off x="6150573" y="1809320"/>
            <a:ext cx="480486" cy="33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05AB64-8C45-4E64-ACCC-A381010A5AE8}"/>
              </a:ext>
            </a:extLst>
          </p:cNvPr>
          <p:cNvSpPr txBox="1"/>
          <p:nvPr/>
        </p:nvSpPr>
        <p:spPr>
          <a:xfrm>
            <a:off x="6159610" y="2269770"/>
            <a:ext cx="380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¬y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6D3A700-EB34-48E0-91C7-38E71163CD17}"/>
              </a:ext>
            </a:extLst>
          </p:cNvPr>
          <p:cNvSpPr txBox="1">
            <a:spLocks/>
          </p:cNvSpPr>
          <p:nvPr/>
        </p:nvSpPr>
        <p:spPr>
          <a:xfrm>
            <a:off x="7917716" y="3528360"/>
            <a:ext cx="2352859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(¬y) AND (x)</a:t>
            </a:r>
            <a:endParaRPr lang="en-US" sz="1400" i="1">
              <a:solidFill>
                <a:schemeClr val="tx2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B7B6E86-DD35-4FB3-A9A1-C800BBAF16BD}"/>
              </a:ext>
            </a:extLst>
          </p:cNvPr>
          <p:cNvSpPr txBox="1">
            <a:spLocks/>
          </p:cNvSpPr>
          <p:nvPr/>
        </p:nvSpPr>
        <p:spPr>
          <a:xfrm>
            <a:off x="3373217" y="5748081"/>
            <a:ext cx="1259061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(¬y) </a:t>
            </a:r>
            <a:r>
              <a:rPr lang="en-US" sz="1400" dirty="0">
                <a:solidFill>
                  <a:schemeClr val="tx2"/>
                </a:solidFill>
              </a:rPr>
              <a:t>AND (x)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1FA393-E593-4FC0-8107-C56C664B2CFD}"/>
              </a:ext>
            </a:extLst>
          </p:cNvPr>
          <p:cNvSpPr txBox="1"/>
          <p:nvPr/>
        </p:nvSpPr>
        <p:spPr>
          <a:xfrm>
            <a:off x="9313641" y="3413936"/>
            <a:ext cx="1517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2 variables (x, y)</a:t>
            </a:r>
          </a:p>
          <a:p>
            <a:r>
              <a:rPr lang="en-US" sz="1400" dirty="0">
                <a:solidFill>
                  <a:schemeClr val="tx2"/>
                </a:solidFill>
              </a:rPr>
              <a:t>2 clauses (¬y, x)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EA0162E-91D9-4E9C-A202-992B8904F845}"/>
              </a:ext>
            </a:extLst>
          </p:cNvPr>
          <p:cNvSpPr txBox="1">
            <a:spLocks/>
          </p:cNvSpPr>
          <p:nvPr/>
        </p:nvSpPr>
        <p:spPr>
          <a:xfrm>
            <a:off x="8453111" y="5686212"/>
            <a:ext cx="3076039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Counterexample:   x=True, y=False</a:t>
            </a:r>
            <a:endParaRPr lang="en-US" sz="1400" i="1">
              <a:solidFill>
                <a:schemeClr val="tx2"/>
              </a:solidFill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191CC47-0316-471C-A0A2-36D9424626A1}"/>
              </a:ext>
            </a:extLst>
          </p:cNvPr>
          <p:cNvSpPr txBox="1">
            <a:spLocks/>
          </p:cNvSpPr>
          <p:nvPr/>
        </p:nvSpPr>
        <p:spPr>
          <a:xfrm>
            <a:off x="5943490" y="5680776"/>
            <a:ext cx="1214295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(¬y) </a:t>
            </a:r>
            <a:r>
              <a:rPr lang="en-US" sz="1400" dirty="0">
                <a:solidFill>
                  <a:schemeClr val="tx2"/>
                </a:solidFill>
              </a:rPr>
              <a:t>AND </a:t>
            </a:r>
            <a:r>
              <a:rPr lang="en-US" sz="1400" dirty="0">
                <a:solidFill>
                  <a:srgbClr val="00B050"/>
                </a:solidFill>
              </a:rPr>
              <a:t>(x) 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56F97E1C-3E6B-47CA-9D8C-0342ADC1E619}"/>
              </a:ext>
            </a:extLst>
          </p:cNvPr>
          <p:cNvSpPr/>
          <p:nvPr/>
        </p:nvSpPr>
        <p:spPr>
          <a:xfrm>
            <a:off x="2487106" y="1454867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BA35D7-5D15-4A1A-89E6-5640AEC16252}"/>
              </a:ext>
            </a:extLst>
          </p:cNvPr>
          <p:cNvSpPr/>
          <p:nvPr/>
        </p:nvSpPr>
        <p:spPr>
          <a:xfrm>
            <a:off x="2408423" y="1206593"/>
            <a:ext cx="87064" cy="4445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28F2CD50-3B4E-4A7B-A97B-74AD626FDB89}"/>
              </a:ext>
            </a:extLst>
          </p:cNvPr>
          <p:cNvSpPr/>
          <p:nvPr/>
        </p:nvSpPr>
        <p:spPr>
          <a:xfrm>
            <a:off x="2487770" y="3432329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CB4E45A-96B6-4F34-A5A9-A0288E324BA4}"/>
              </a:ext>
            </a:extLst>
          </p:cNvPr>
          <p:cNvSpPr/>
          <p:nvPr/>
        </p:nvSpPr>
        <p:spPr>
          <a:xfrm>
            <a:off x="2488690" y="5145871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B7D185-55A6-4EA4-804B-CABFF1541926}"/>
              </a:ext>
            </a:extLst>
          </p:cNvPr>
          <p:cNvSpPr txBox="1"/>
          <p:nvPr/>
        </p:nvSpPr>
        <p:spPr>
          <a:xfrm>
            <a:off x="2507724" y="1085535"/>
            <a:ext cx="2056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1. Program graph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1BD4F-551F-4AD0-92A6-88641F3D5AAE}"/>
              </a:ext>
            </a:extLst>
          </p:cNvPr>
          <p:cNvSpPr txBox="1"/>
          <p:nvPr/>
        </p:nvSpPr>
        <p:spPr>
          <a:xfrm>
            <a:off x="2228389" y="3026401"/>
            <a:ext cx="3740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2. Satisfiable (SAT) formula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C0C1E6-EF38-4E07-A30E-F3AD7ED27BF2}"/>
              </a:ext>
            </a:extLst>
          </p:cNvPr>
          <p:cNvSpPr txBox="1"/>
          <p:nvPr/>
        </p:nvSpPr>
        <p:spPr>
          <a:xfrm>
            <a:off x="2481873" y="4758088"/>
            <a:ext cx="3264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3. Check </a:t>
            </a:r>
            <a:r>
              <a:rPr lang="es-ES" dirty="0" err="1"/>
              <a:t>satisfiability</a:t>
            </a:r>
            <a:r>
              <a:rPr lang="en-US" dirty="0"/>
              <a:t> (DPLL)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E93B04-9B5B-4096-8223-E65D24202C05}"/>
              </a:ext>
            </a:extLst>
          </p:cNvPr>
          <p:cNvCxnSpPr>
            <a:cxnSpLocks/>
            <a:stCxn id="12" idx="4"/>
            <a:endCxn id="40" idx="0"/>
          </p:cNvCxnSpPr>
          <p:nvPr/>
        </p:nvCxnSpPr>
        <p:spPr>
          <a:xfrm>
            <a:off x="6060067" y="2346719"/>
            <a:ext cx="451727" cy="3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F8CA367-0B69-474B-B70C-54223F5A02FC}"/>
              </a:ext>
            </a:extLst>
          </p:cNvPr>
          <p:cNvSpPr/>
          <p:nvPr/>
        </p:nvSpPr>
        <p:spPr>
          <a:xfrm>
            <a:off x="6383799" y="2694610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293B23-0BC9-43A5-9804-3A7B693697B4}"/>
              </a:ext>
            </a:extLst>
          </p:cNvPr>
          <p:cNvSpPr txBox="1"/>
          <p:nvPr/>
        </p:nvSpPr>
        <p:spPr>
          <a:xfrm>
            <a:off x="3248999" y="5164840"/>
            <a:ext cx="2149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Make True the first clause. </a:t>
            </a:r>
          </a:p>
          <a:p>
            <a:r>
              <a:rPr lang="en-US" sz="1200" dirty="0"/>
              <a:t>    - Set y=False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05D02B-2400-424D-A882-DB8002FDC003}"/>
              </a:ext>
            </a:extLst>
          </p:cNvPr>
          <p:cNvSpPr txBox="1"/>
          <p:nvPr/>
        </p:nvSpPr>
        <p:spPr>
          <a:xfrm>
            <a:off x="5658364" y="4660821"/>
            <a:ext cx="27000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2. Make True the second clause. </a:t>
            </a:r>
          </a:p>
          <a:p>
            <a:r>
              <a:rPr lang="en-US" sz="1200" dirty="0"/>
              <a:t>    - Set x=True</a:t>
            </a:r>
          </a:p>
          <a:p>
            <a:r>
              <a:rPr lang="en-US" sz="1200" dirty="0"/>
              <a:t>If not possible, go to step 1 and choose another variable.</a:t>
            </a:r>
          </a:p>
          <a:p>
            <a:r>
              <a:rPr lang="en-US" sz="1200" dirty="0"/>
              <a:t>If not possible, formula unsatisfiable.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038062-9D5D-431B-B1EB-AE4F99D1F511}"/>
              </a:ext>
            </a:extLst>
          </p:cNvPr>
          <p:cNvSpPr txBox="1"/>
          <p:nvPr/>
        </p:nvSpPr>
        <p:spPr>
          <a:xfrm>
            <a:off x="8759608" y="5164840"/>
            <a:ext cx="2352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/>
              <a:t>3. All clauses are True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2B4E22-7965-44A6-A5B6-18638A0C1486}"/>
              </a:ext>
            </a:extLst>
          </p:cNvPr>
          <p:cNvSpPr txBox="1"/>
          <p:nvPr/>
        </p:nvSpPr>
        <p:spPr>
          <a:xfrm>
            <a:off x="6701688" y="3301176"/>
            <a:ext cx="18065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Conjunctive Normal Form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EF7AF62-96F2-4257-BB4E-7B0A71839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691" y="1260198"/>
            <a:ext cx="1443042" cy="43663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5110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6" grpId="0"/>
      <p:bldP spid="17" grpId="0"/>
      <p:bldP spid="18" grpId="0"/>
      <p:bldP spid="19" grpId="0"/>
      <p:bldP spid="20" grpId="0"/>
      <p:bldP spid="21" grpId="0" animBg="1"/>
      <p:bldP spid="23" grpId="0" animBg="1"/>
      <p:bldP spid="23" grpId="1" animBg="1"/>
      <p:bldP spid="24" grpId="0"/>
      <p:bldP spid="24" grpId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40" grpId="0" animBg="1"/>
      <p:bldP spid="41" grpId="0"/>
      <p:bldP spid="42" grpId="0"/>
      <p:bldP spid="4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Model checking – Example (SMT-based)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2AF4FA52-4399-49A7-BD27-0F3E6134A1CF}"/>
              </a:ext>
            </a:extLst>
          </p:cNvPr>
          <p:cNvSpPr txBox="1">
            <a:spLocks/>
          </p:cNvSpPr>
          <p:nvPr/>
        </p:nvSpPr>
        <p:spPr>
          <a:xfrm>
            <a:off x="3161214" y="3486594"/>
            <a:ext cx="3324889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(x&gt;10 AND ¬y AND ¬(¬(x&lt;0) OR y)) OR (x≤10 AND y AND ¬(¬(x&lt;0) OR y))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67D4DA-BEF2-4C85-B6A4-CD5DA917274F}"/>
              </a:ext>
            </a:extLst>
          </p:cNvPr>
          <p:cNvSpPr txBox="1"/>
          <p:nvPr/>
        </p:nvSpPr>
        <p:spPr>
          <a:xfrm>
            <a:off x="7736279" y="3409650"/>
            <a:ext cx="2753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(p AND ¬y AND ¬(¬q OR y)) OR (¬p AND y AND ¬(¬q OR y))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5DB3A15-15C3-489A-8E6F-E0158A0BE01B}"/>
              </a:ext>
            </a:extLst>
          </p:cNvPr>
          <p:cNvSpPr/>
          <p:nvPr/>
        </p:nvSpPr>
        <p:spPr>
          <a:xfrm>
            <a:off x="5907274" y="5297968"/>
            <a:ext cx="260059" cy="182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44CC43-E77B-4684-A322-F418C98FAB1A}"/>
              </a:ext>
            </a:extLst>
          </p:cNvPr>
          <p:cNvSpPr/>
          <p:nvPr/>
        </p:nvSpPr>
        <p:spPr>
          <a:xfrm>
            <a:off x="6231982" y="5190608"/>
            <a:ext cx="1261142" cy="397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Theory-solver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7B646E-7EAA-43DE-99B3-BEE1D784E0D1}"/>
              </a:ext>
            </a:extLst>
          </p:cNvPr>
          <p:cNvSpPr txBox="1"/>
          <p:nvPr/>
        </p:nvSpPr>
        <p:spPr>
          <a:xfrm>
            <a:off x="7488414" y="5127712"/>
            <a:ext cx="26818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2F2F"/>
                </a:solidFill>
              </a:rPr>
              <a:t>Find a value for x that makes p=True and q=True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A5E16EB5-EB41-43BD-981C-31FE4AE9A1DC}"/>
              </a:ext>
            </a:extLst>
          </p:cNvPr>
          <p:cNvSpPr/>
          <p:nvPr/>
        </p:nvSpPr>
        <p:spPr>
          <a:xfrm>
            <a:off x="9878741" y="5327587"/>
            <a:ext cx="452751" cy="230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49F345-902A-4C9D-8A15-9BF03E12DFCD}"/>
              </a:ext>
            </a:extLst>
          </p:cNvPr>
          <p:cNvSpPr txBox="1"/>
          <p:nvPr/>
        </p:nvSpPr>
        <p:spPr>
          <a:xfrm>
            <a:off x="3829610" y="5870964"/>
            <a:ext cx="4491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F2F"/>
                </a:solidFill>
              </a:rPr>
              <a:t>Find another candidate solution adding the constraint: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DF1158-273F-48A4-8D1B-A6B045C0E1A1}"/>
              </a:ext>
            </a:extLst>
          </p:cNvPr>
          <p:cNvSpPr txBox="1"/>
          <p:nvPr/>
        </p:nvSpPr>
        <p:spPr>
          <a:xfrm>
            <a:off x="10386569" y="5210101"/>
            <a:ext cx="14950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F2F"/>
                </a:solidFill>
              </a:rPr>
              <a:t>Invalid counterexample</a:t>
            </a:r>
            <a:endParaRPr lang="en-US" sz="1400" dirty="0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DEB111F4-D9FD-472C-B188-6594B80BA420}"/>
              </a:ext>
            </a:extLst>
          </p:cNvPr>
          <p:cNvSpPr/>
          <p:nvPr/>
        </p:nvSpPr>
        <p:spPr>
          <a:xfrm>
            <a:off x="2487106" y="1454867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74B4DA-6E46-4C0E-A6B2-6B540860B13F}"/>
              </a:ext>
            </a:extLst>
          </p:cNvPr>
          <p:cNvSpPr/>
          <p:nvPr/>
        </p:nvSpPr>
        <p:spPr>
          <a:xfrm>
            <a:off x="2408423" y="1206593"/>
            <a:ext cx="87064" cy="4445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4D787D59-205D-47B0-89BB-0367374222FF}"/>
              </a:ext>
            </a:extLst>
          </p:cNvPr>
          <p:cNvSpPr/>
          <p:nvPr/>
        </p:nvSpPr>
        <p:spPr>
          <a:xfrm>
            <a:off x="2496161" y="3428043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F2CAF6C5-12FC-45AD-BE6D-D365352AA471}"/>
              </a:ext>
            </a:extLst>
          </p:cNvPr>
          <p:cNvSpPr/>
          <p:nvPr/>
        </p:nvSpPr>
        <p:spPr>
          <a:xfrm>
            <a:off x="2496530" y="5145871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24FD94-16CD-4F65-A790-A2269D14A396}"/>
              </a:ext>
            </a:extLst>
          </p:cNvPr>
          <p:cNvSpPr txBox="1"/>
          <p:nvPr/>
        </p:nvSpPr>
        <p:spPr>
          <a:xfrm>
            <a:off x="2507724" y="1085535"/>
            <a:ext cx="2056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1. Program graph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B0F618-DDC5-4F92-8236-F51709CC5EA3}"/>
              </a:ext>
            </a:extLst>
          </p:cNvPr>
          <p:cNvSpPr txBox="1"/>
          <p:nvPr/>
        </p:nvSpPr>
        <p:spPr>
          <a:xfrm>
            <a:off x="2197909" y="3026401"/>
            <a:ext cx="577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2. SMT </a:t>
            </a:r>
            <a:r>
              <a:rPr lang="es-ES" dirty="0"/>
              <a:t>(</a:t>
            </a:r>
            <a:r>
              <a:rPr lang="es-ES" dirty="0" err="1"/>
              <a:t>Satisfiability</a:t>
            </a:r>
            <a:r>
              <a:rPr lang="es-ES" dirty="0"/>
              <a:t> Modulo </a:t>
            </a:r>
            <a:r>
              <a:rPr lang="es-ES" dirty="0" err="1"/>
              <a:t>Theories</a:t>
            </a:r>
            <a:r>
              <a:rPr lang="es-ES" dirty="0"/>
              <a:t>) </a:t>
            </a:r>
            <a:r>
              <a:rPr lang="en-US" dirty="0"/>
              <a:t>formula</a:t>
            </a: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829FF02A-2A0C-49B1-B218-8CBBF1DCD7F5}"/>
              </a:ext>
            </a:extLst>
          </p:cNvPr>
          <p:cNvSpPr/>
          <p:nvPr/>
        </p:nvSpPr>
        <p:spPr>
          <a:xfrm>
            <a:off x="6422583" y="3579906"/>
            <a:ext cx="260059" cy="182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Left-Right 60">
            <a:extLst>
              <a:ext uri="{FF2B5EF4-FFF2-40B4-BE49-F238E27FC236}">
                <a16:creationId xmlns:a16="http://schemas.microsoft.com/office/drawing/2014/main" id="{8609EB09-7793-47A0-B819-5E851A153966}"/>
              </a:ext>
            </a:extLst>
          </p:cNvPr>
          <p:cNvSpPr/>
          <p:nvPr/>
        </p:nvSpPr>
        <p:spPr>
          <a:xfrm>
            <a:off x="10347915" y="3585837"/>
            <a:ext cx="486834" cy="17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700" dirty="0"/>
              <a:t>CNF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008D80-A3F5-46DF-924D-9B92345054C4}"/>
              </a:ext>
            </a:extLst>
          </p:cNvPr>
          <p:cNvSpPr txBox="1"/>
          <p:nvPr/>
        </p:nvSpPr>
        <p:spPr>
          <a:xfrm>
            <a:off x="2269872" y="4758088"/>
            <a:ext cx="296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3. Check </a:t>
            </a:r>
            <a:r>
              <a:rPr lang="es-ES" dirty="0" err="1"/>
              <a:t>satisfiability</a:t>
            </a:r>
            <a:r>
              <a:rPr lang="en-US" dirty="0"/>
              <a:t> 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75797A-10A0-4A72-8B61-4B863D3B7CFE}"/>
              </a:ext>
            </a:extLst>
          </p:cNvPr>
          <p:cNvSpPr/>
          <p:nvPr/>
        </p:nvSpPr>
        <p:spPr>
          <a:xfrm>
            <a:off x="5936421" y="1051047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B6042E1-EE89-43A3-8207-6DC1D69F12DC}"/>
              </a:ext>
            </a:extLst>
          </p:cNvPr>
          <p:cNvSpPr/>
          <p:nvPr/>
        </p:nvSpPr>
        <p:spPr>
          <a:xfrm>
            <a:off x="5369778" y="1573481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9C768CD-1B88-4286-9E0F-46F9B9F9FC93}"/>
              </a:ext>
            </a:extLst>
          </p:cNvPr>
          <p:cNvSpPr/>
          <p:nvPr/>
        </p:nvSpPr>
        <p:spPr>
          <a:xfrm>
            <a:off x="6503064" y="1568778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D55D59D-0504-41DE-95DF-30D07451CE07}"/>
              </a:ext>
            </a:extLst>
          </p:cNvPr>
          <p:cNvSpPr/>
          <p:nvPr/>
        </p:nvSpPr>
        <p:spPr>
          <a:xfrm>
            <a:off x="5932072" y="2106177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385B50-8219-4A1F-BF29-66F85B321038}"/>
              </a:ext>
            </a:extLst>
          </p:cNvPr>
          <p:cNvCxnSpPr>
            <a:cxnSpLocks/>
            <a:stCxn id="63" idx="4"/>
            <a:endCxn id="64" idx="7"/>
          </p:cNvCxnSpPr>
          <p:nvPr/>
        </p:nvCxnSpPr>
        <p:spPr>
          <a:xfrm flipH="1">
            <a:off x="5588279" y="1291589"/>
            <a:ext cx="476137" cy="317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89638A1-FDC8-44FE-AF9D-FB4885E8621E}"/>
              </a:ext>
            </a:extLst>
          </p:cNvPr>
          <p:cNvCxnSpPr>
            <a:cxnSpLocks/>
            <a:stCxn id="63" idx="4"/>
            <a:endCxn id="65" idx="1"/>
          </p:cNvCxnSpPr>
          <p:nvPr/>
        </p:nvCxnSpPr>
        <p:spPr>
          <a:xfrm>
            <a:off x="6064416" y="1291589"/>
            <a:ext cx="476137" cy="312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36FD9F-4D18-40A3-8B8D-ADD080A4BAFE}"/>
              </a:ext>
            </a:extLst>
          </p:cNvPr>
          <p:cNvCxnSpPr>
            <a:cxnSpLocks/>
            <a:stCxn id="64" idx="5"/>
            <a:endCxn id="66" idx="1"/>
          </p:cNvCxnSpPr>
          <p:nvPr/>
        </p:nvCxnSpPr>
        <p:spPr>
          <a:xfrm>
            <a:off x="5588279" y="1778796"/>
            <a:ext cx="381282" cy="36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1140017-AC22-4CAB-89FF-D5443CD8739F}"/>
              </a:ext>
            </a:extLst>
          </p:cNvPr>
          <p:cNvSpPr txBox="1"/>
          <p:nvPr/>
        </p:nvSpPr>
        <p:spPr>
          <a:xfrm>
            <a:off x="5183681" y="1214597"/>
            <a:ext cx="629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x&gt;10</a:t>
            </a:r>
            <a:endParaRPr 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FD5383-FC6C-4E0A-B115-CD08D82145EA}"/>
              </a:ext>
            </a:extLst>
          </p:cNvPr>
          <p:cNvSpPr txBox="1"/>
          <p:nvPr/>
        </p:nvSpPr>
        <p:spPr>
          <a:xfrm>
            <a:off x="4855581" y="1830693"/>
            <a:ext cx="1212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sym typeface="Wingdings" panose="05000000000000000000" pitchFamily="2" charset="2"/>
              </a:rPr>
              <a:t>y  </a:t>
            </a:r>
            <a:r>
              <a:rPr lang="en-US" sz="1400" dirty="0">
                <a:solidFill>
                  <a:schemeClr val="tx2"/>
                </a:solidFill>
              </a:rPr>
              <a:t>False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B5F955-A384-4431-ABEA-01309AD343BA}"/>
              </a:ext>
            </a:extLst>
          </p:cNvPr>
          <p:cNvSpPr txBox="1"/>
          <p:nvPr/>
        </p:nvSpPr>
        <p:spPr>
          <a:xfrm>
            <a:off x="6229885" y="1181516"/>
            <a:ext cx="692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x≤10</a:t>
            </a:r>
            <a:endParaRPr lang="en-US" sz="14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5887875-EB21-4BB2-9EDF-F2683CA85A11}"/>
              </a:ext>
            </a:extLst>
          </p:cNvPr>
          <p:cNvCxnSpPr>
            <a:cxnSpLocks/>
            <a:stCxn id="66" idx="4"/>
            <a:endCxn id="74" idx="0"/>
          </p:cNvCxnSpPr>
          <p:nvPr/>
        </p:nvCxnSpPr>
        <p:spPr>
          <a:xfrm flipH="1">
            <a:off x="5618760" y="2346719"/>
            <a:ext cx="441307" cy="34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F0FD049-5D10-4BC4-9362-FB058D9030A3}"/>
              </a:ext>
            </a:extLst>
          </p:cNvPr>
          <p:cNvSpPr/>
          <p:nvPr/>
        </p:nvSpPr>
        <p:spPr>
          <a:xfrm>
            <a:off x="5490765" y="2691481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E253AE-B1EB-429E-9D78-C6A442729399}"/>
              </a:ext>
            </a:extLst>
          </p:cNvPr>
          <p:cNvSpPr txBox="1"/>
          <p:nvPr/>
        </p:nvSpPr>
        <p:spPr>
          <a:xfrm>
            <a:off x="4707635" y="2226448"/>
            <a:ext cx="1212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¬(x&lt;0) OR y 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FF3F4C7-EAFC-4EF3-B7B4-9BAACC3E27B3}"/>
              </a:ext>
            </a:extLst>
          </p:cNvPr>
          <p:cNvCxnSpPr>
            <a:cxnSpLocks/>
            <a:stCxn id="65" idx="4"/>
            <a:endCxn id="66" idx="7"/>
          </p:cNvCxnSpPr>
          <p:nvPr/>
        </p:nvCxnSpPr>
        <p:spPr>
          <a:xfrm flipH="1">
            <a:off x="6150573" y="1809320"/>
            <a:ext cx="480486" cy="33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444DF3A-C3B8-4A48-841C-06F43FAA420C}"/>
              </a:ext>
            </a:extLst>
          </p:cNvPr>
          <p:cNvSpPr txBox="1"/>
          <p:nvPr/>
        </p:nvSpPr>
        <p:spPr>
          <a:xfrm>
            <a:off x="6159610" y="2269770"/>
            <a:ext cx="1590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¬(¬(x&lt;0) OR y)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F1D1537-27E5-42B6-BFF3-7955283BF28E}"/>
              </a:ext>
            </a:extLst>
          </p:cNvPr>
          <p:cNvCxnSpPr>
            <a:cxnSpLocks/>
            <a:stCxn id="66" idx="4"/>
            <a:endCxn id="79" idx="0"/>
          </p:cNvCxnSpPr>
          <p:nvPr/>
        </p:nvCxnSpPr>
        <p:spPr>
          <a:xfrm>
            <a:off x="6060067" y="2346719"/>
            <a:ext cx="451727" cy="347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0C68C5E-62E1-4EB2-BF24-28651640F9BB}"/>
              </a:ext>
            </a:extLst>
          </p:cNvPr>
          <p:cNvSpPr/>
          <p:nvPr/>
        </p:nvSpPr>
        <p:spPr>
          <a:xfrm>
            <a:off x="6383799" y="2694610"/>
            <a:ext cx="255990" cy="2405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0DD74D-76B7-403E-AF02-B725CA5EB98E}"/>
              </a:ext>
            </a:extLst>
          </p:cNvPr>
          <p:cNvSpPr txBox="1"/>
          <p:nvPr/>
        </p:nvSpPr>
        <p:spPr>
          <a:xfrm>
            <a:off x="6670174" y="3438991"/>
            <a:ext cx="897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p:= x&gt;10 </a:t>
            </a:r>
            <a:endParaRPr lang="en-US" sz="1400" dirty="0"/>
          </a:p>
          <a:p>
            <a:r>
              <a:rPr lang="en-US" sz="1400" dirty="0">
                <a:solidFill>
                  <a:schemeClr val="tx2"/>
                </a:solidFill>
              </a:rPr>
              <a:t>q:= x&lt;0 </a:t>
            </a:r>
            <a:endParaRPr lang="en-US" sz="1400" dirty="0"/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FD1309EC-3D04-413F-9EE2-FAFB8BB5ED5E}"/>
              </a:ext>
            </a:extLst>
          </p:cNvPr>
          <p:cNvSpPr/>
          <p:nvPr/>
        </p:nvSpPr>
        <p:spPr>
          <a:xfrm>
            <a:off x="7543924" y="3579906"/>
            <a:ext cx="260059" cy="182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3DD65E4A-E712-452F-ACB6-B3F7C2C92A8C}"/>
              </a:ext>
            </a:extLst>
          </p:cNvPr>
          <p:cNvSpPr/>
          <p:nvPr/>
        </p:nvSpPr>
        <p:spPr>
          <a:xfrm>
            <a:off x="2708593" y="5625737"/>
            <a:ext cx="8657678" cy="532416"/>
          </a:xfrm>
          <a:custGeom>
            <a:avLst/>
            <a:gdLst>
              <a:gd name="connsiteX0" fmla="*/ 8142287 w 8657678"/>
              <a:gd name="connsiteY0" fmla="*/ 261257 h 532416"/>
              <a:gd name="connsiteX1" fmla="*/ 7881030 w 8657678"/>
              <a:gd name="connsiteY1" fmla="*/ 496389 h 532416"/>
              <a:gd name="connsiteX2" fmla="*/ 757418 w 8657678"/>
              <a:gd name="connsiteY2" fmla="*/ 478972 h 532416"/>
              <a:gd name="connsiteX3" fmla="*/ 548413 w 8657678"/>
              <a:gd name="connsiteY3" fmla="*/ 0 h 532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7678" h="532416">
                <a:moveTo>
                  <a:pt x="8142287" y="261257"/>
                </a:moveTo>
                <a:cubicBezTo>
                  <a:pt x="8627064" y="360680"/>
                  <a:pt x="9111842" y="460103"/>
                  <a:pt x="7881030" y="496389"/>
                </a:cubicBezTo>
                <a:cubicBezTo>
                  <a:pt x="6650218" y="532675"/>
                  <a:pt x="1979521" y="561704"/>
                  <a:pt x="757418" y="478972"/>
                </a:cubicBezTo>
                <a:cubicBezTo>
                  <a:pt x="-464685" y="396241"/>
                  <a:pt x="41864" y="198120"/>
                  <a:pt x="548413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F43A738-1A5C-49E2-AA9F-BD71D4335978}"/>
              </a:ext>
            </a:extLst>
          </p:cNvPr>
          <p:cNvSpPr txBox="1"/>
          <p:nvPr/>
        </p:nvSpPr>
        <p:spPr>
          <a:xfrm>
            <a:off x="6348255" y="1837737"/>
            <a:ext cx="1084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y </a:t>
            </a:r>
            <a:r>
              <a:rPr lang="en-US" sz="1400" dirty="0">
                <a:solidFill>
                  <a:schemeClr val="tx2"/>
                </a:solidFill>
                <a:sym typeface="Wingdings" panose="05000000000000000000" pitchFamily="2" charset="2"/>
              </a:rPr>
              <a:t></a:t>
            </a:r>
            <a:r>
              <a:rPr lang="en-US" sz="1400" dirty="0">
                <a:solidFill>
                  <a:schemeClr val="tx2"/>
                </a:solidFill>
              </a:rPr>
              <a:t> True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F8F67AB4-6E60-4777-B19C-19860E3EF2BC}"/>
              </a:ext>
            </a:extLst>
          </p:cNvPr>
          <p:cNvSpPr txBox="1">
            <a:spLocks/>
          </p:cNvSpPr>
          <p:nvPr/>
        </p:nvSpPr>
        <p:spPr>
          <a:xfrm>
            <a:off x="85808" y="2476521"/>
            <a:ext cx="2419854" cy="19113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21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2385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8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7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72000" indent="-324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2"/>
                </a:solidFill>
              </a:rPr>
              <a:t>x = </a:t>
            </a:r>
            <a:r>
              <a:rPr lang="en-US" sz="1400"/>
              <a:t>Int</a:t>
            </a:r>
            <a:r>
              <a:rPr lang="en-US" sz="1400">
                <a:solidFill>
                  <a:schemeClr val="tx2"/>
                </a:solidFill>
              </a:rPr>
              <a:t>NonDeterministic()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tx2"/>
                </a:solidFill>
              </a:rPr>
              <a:t>if x&gt;10 then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chemeClr val="tx2"/>
                </a:solidFill>
              </a:rPr>
              <a:t>   </a:t>
            </a:r>
            <a:r>
              <a:rPr lang="en-US" sz="1400"/>
              <a:t>y := False</a:t>
            </a:r>
          </a:p>
          <a:p>
            <a:pPr>
              <a:spcBef>
                <a:spcPts val="600"/>
              </a:spcBef>
            </a:pPr>
            <a:r>
              <a:rPr lang="en-US" sz="1400"/>
              <a:t>else</a:t>
            </a:r>
          </a:p>
          <a:p>
            <a:pPr>
              <a:spcBef>
                <a:spcPts val="600"/>
              </a:spcBef>
            </a:pPr>
            <a:r>
              <a:rPr lang="en-US" sz="1400"/>
              <a:t>   y := True</a:t>
            </a:r>
          </a:p>
          <a:p>
            <a:pPr>
              <a:spcBef>
                <a:spcPts val="600"/>
              </a:spcBef>
            </a:pPr>
            <a:r>
              <a:rPr lang="en-US" sz="1400"/>
              <a:t>Assert: x&lt;0 </a:t>
            </a:r>
            <a:r>
              <a:rPr lang="en-US" sz="1400">
                <a:sym typeface="Wingdings" panose="05000000000000000000" pitchFamily="2" charset="2"/>
              </a:rPr>
              <a:t> </a:t>
            </a:r>
            <a:r>
              <a:rPr lang="en-US" sz="1400"/>
              <a:t>y=True</a:t>
            </a:r>
            <a:endParaRPr lang="en-US" sz="1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638A28B-B928-419F-9BF1-6B9FB73D4968}"/>
              </a:ext>
            </a:extLst>
          </p:cNvPr>
          <p:cNvSpPr/>
          <p:nvPr/>
        </p:nvSpPr>
        <p:spPr>
          <a:xfrm>
            <a:off x="3258653" y="5195207"/>
            <a:ext cx="728720" cy="397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DPLL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3BCD939-D92F-4FC5-874D-63BF6D896247}"/>
              </a:ext>
            </a:extLst>
          </p:cNvPr>
          <p:cNvSpPr txBox="1"/>
          <p:nvPr/>
        </p:nvSpPr>
        <p:spPr>
          <a:xfrm>
            <a:off x="6075564" y="3860426"/>
            <a:ext cx="10965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Bool encoding of clauses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B04367F-47DE-4D56-8CBD-91A6AE49516F}"/>
              </a:ext>
            </a:extLst>
          </p:cNvPr>
          <p:cNvGrpSpPr/>
          <p:nvPr/>
        </p:nvGrpSpPr>
        <p:grpSpPr>
          <a:xfrm>
            <a:off x="9341197" y="1130705"/>
            <a:ext cx="1538950" cy="662983"/>
            <a:chOff x="7000918" y="4719130"/>
            <a:chExt cx="1538950" cy="662983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0CFFFBD-FD7A-4827-8E87-2A12328A16CD}"/>
                </a:ext>
              </a:extLst>
            </p:cNvPr>
            <p:cNvSpPr txBox="1"/>
            <p:nvPr/>
          </p:nvSpPr>
          <p:spPr>
            <a:xfrm>
              <a:off x="7552713" y="4819790"/>
              <a:ext cx="987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/>
                <a:t>Theta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1D346EB9-DB6F-4285-98C8-BC00F10A3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0918" y="4719130"/>
              <a:ext cx="649453" cy="662983"/>
            </a:xfrm>
            <a:prstGeom prst="rect">
              <a:avLst/>
            </a:prstGeom>
          </p:spPr>
        </p:pic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9A5F369E-CF60-4743-85AB-B1D234AD8BA8}"/>
              </a:ext>
            </a:extLst>
          </p:cNvPr>
          <p:cNvSpPr txBox="1"/>
          <p:nvPr/>
        </p:nvSpPr>
        <p:spPr>
          <a:xfrm>
            <a:off x="7328367" y="3856107"/>
            <a:ext cx="10965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SAT formula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89B1DB19-8787-4F6E-B162-33CB81C435CF}"/>
              </a:ext>
            </a:extLst>
          </p:cNvPr>
          <p:cNvSpPr txBox="1">
            <a:spLocks/>
          </p:cNvSpPr>
          <p:nvPr/>
        </p:nvSpPr>
        <p:spPr>
          <a:xfrm>
            <a:off x="4502694" y="5126580"/>
            <a:ext cx="1577255" cy="619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(¬y) </a:t>
            </a:r>
            <a:r>
              <a:rPr lang="en-US" sz="1400" dirty="0">
                <a:solidFill>
                  <a:schemeClr val="tx2"/>
                </a:solidFill>
              </a:rPr>
              <a:t>AND </a:t>
            </a:r>
            <a:r>
              <a:rPr lang="en-US" sz="1400" dirty="0">
                <a:solidFill>
                  <a:srgbClr val="00B050"/>
                </a:solidFill>
              </a:rPr>
              <a:t>(q) </a:t>
            </a:r>
            <a:r>
              <a:rPr lang="en-US" sz="1400" dirty="0">
                <a:solidFill>
                  <a:schemeClr val="tx2"/>
                </a:solidFill>
              </a:rPr>
              <a:t>AND (</a:t>
            </a:r>
            <a:r>
              <a:rPr lang="en-US" sz="1400" dirty="0">
                <a:solidFill>
                  <a:srgbClr val="00B050"/>
                </a:solidFill>
              </a:rPr>
              <a:t>p</a:t>
            </a:r>
            <a:r>
              <a:rPr lang="en-US" sz="1400" dirty="0">
                <a:solidFill>
                  <a:schemeClr val="tx2"/>
                </a:solidFill>
              </a:rPr>
              <a:t> OR </a:t>
            </a:r>
            <a:r>
              <a:rPr lang="en-US" sz="1400" dirty="0">
                <a:solidFill>
                  <a:srgbClr val="FF0000"/>
                </a:solidFill>
              </a:rPr>
              <a:t>y</a:t>
            </a:r>
            <a:r>
              <a:rPr lang="en-US" sz="1400" dirty="0">
                <a:solidFill>
                  <a:schemeClr val="tx2"/>
                </a:solidFill>
              </a:rPr>
              <a:t>) AND </a:t>
            </a:r>
            <a:r>
              <a:rPr lang="en-US" sz="1400" dirty="0">
                <a:solidFill>
                  <a:srgbClr val="00B050"/>
                </a:solidFill>
              </a:rPr>
              <a:t>(¬p OR ¬y)</a:t>
            </a:r>
            <a:endParaRPr lang="en-US" sz="1400" i="1" dirty="0">
              <a:solidFill>
                <a:srgbClr val="00B05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D0E46A7-1CF8-42C4-A7F1-466422BAAC25}"/>
              </a:ext>
            </a:extLst>
          </p:cNvPr>
          <p:cNvSpPr txBox="1"/>
          <p:nvPr/>
        </p:nvSpPr>
        <p:spPr>
          <a:xfrm>
            <a:off x="710164" y="4427905"/>
            <a:ext cx="1346496" cy="2862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Font typeface="Arial"/>
              <a:buNone/>
              <a:tabLst/>
              <a:defRPr sz="1400" b="1">
                <a:solidFill>
                  <a:schemeClr val="tx2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648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  <a:tabLst/>
              <a:defRPr sz="1700">
                <a:solidFill>
                  <a:schemeClr val="tx2"/>
                </a:solidFill>
              </a:defRPr>
            </a:lvl3pPr>
            <a:lvl4pPr marL="972000" indent="-324000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SzPct val="100000"/>
              <a:buFont typeface="Arial" charset="0"/>
              <a:buChar char="•"/>
              <a:tabLst/>
              <a:defRPr sz="1600">
                <a:solidFill>
                  <a:schemeClr val="tx2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 charset="0"/>
              <a:buChar char="•"/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en-US" dirty="0"/>
              <a:t>(¬(x&lt;0) OR y)</a:t>
            </a:r>
            <a:endParaRPr lang="es-E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35EADFC-B795-4D73-A78A-04BA520C8157}"/>
              </a:ext>
            </a:extLst>
          </p:cNvPr>
          <p:cNvSpPr txBox="1"/>
          <p:nvPr/>
        </p:nvSpPr>
        <p:spPr>
          <a:xfrm>
            <a:off x="10950913" y="4130472"/>
            <a:ext cx="1185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3 variables</a:t>
            </a:r>
          </a:p>
          <a:p>
            <a:r>
              <a:rPr lang="en-US" sz="1400" dirty="0">
                <a:solidFill>
                  <a:schemeClr val="tx2"/>
                </a:solidFill>
              </a:rPr>
              <a:t>4 clauses</a:t>
            </a:r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A69C716A-4638-4C35-8A87-07061157FDA9}"/>
              </a:ext>
            </a:extLst>
          </p:cNvPr>
          <p:cNvSpPr/>
          <p:nvPr/>
        </p:nvSpPr>
        <p:spPr>
          <a:xfrm>
            <a:off x="4159558" y="5297968"/>
            <a:ext cx="260059" cy="182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33669C-5DD9-4319-AC95-1651BEDDBA80}"/>
              </a:ext>
            </a:extLst>
          </p:cNvPr>
          <p:cNvSpPr txBox="1"/>
          <p:nvPr/>
        </p:nvSpPr>
        <p:spPr>
          <a:xfrm>
            <a:off x="8900323" y="5242190"/>
            <a:ext cx="1764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F2F"/>
                </a:solidFill>
              </a:rPr>
              <a:t>Property satisfied</a:t>
            </a:r>
            <a:endParaRPr lang="en-US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6364CD2-DDB5-483D-970F-BF95A2BD33DA}"/>
              </a:ext>
            </a:extLst>
          </p:cNvPr>
          <p:cNvSpPr txBox="1"/>
          <p:nvPr/>
        </p:nvSpPr>
        <p:spPr>
          <a:xfrm>
            <a:off x="8112017" y="5855967"/>
            <a:ext cx="1878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¬(p AND q AND ¬y)</a:t>
            </a:r>
            <a:endParaRPr lang="es-ES" sz="1400" dirty="0"/>
          </a:p>
        </p:txBody>
      </p:sp>
      <p:sp>
        <p:nvSpPr>
          <p:cNvPr id="97" name="Content Placeholder 2">
            <a:extLst>
              <a:ext uri="{FF2B5EF4-FFF2-40B4-BE49-F238E27FC236}">
                <a16:creationId xmlns:a16="http://schemas.microsoft.com/office/drawing/2014/main" id="{11AC5FF6-FF99-4E2D-8BF9-F6BF7820A302}"/>
              </a:ext>
            </a:extLst>
          </p:cNvPr>
          <p:cNvSpPr txBox="1">
            <a:spLocks/>
          </p:cNvSpPr>
          <p:nvPr/>
        </p:nvSpPr>
        <p:spPr>
          <a:xfrm>
            <a:off x="4483381" y="5023055"/>
            <a:ext cx="1764443" cy="839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(¬y) </a:t>
            </a:r>
            <a:r>
              <a:rPr lang="en-US" sz="1400" dirty="0">
                <a:solidFill>
                  <a:schemeClr val="tx2"/>
                </a:solidFill>
              </a:rPr>
              <a:t>AND </a:t>
            </a:r>
            <a:r>
              <a:rPr lang="en-US" sz="1400" dirty="0">
                <a:solidFill>
                  <a:srgbClr val="00B050"/>
                </a:solidFill>
              </a:rPr>
              <a:t>(q) </a:t>
            </a:r>
            <a:r>
              <a:rPr lang="en-US" sz="1400" dirty="0">
                <a:solidFill>
                  <a:schemeClr val="tx2"/>
                </a:solidFill>
              </a:rPr>
              <a:t>AND (</a:t>
            </a:r>
            <a:r>
              <a:rPr lang="en-US" sz="1400" dirty="0">
                <a:solidFill>
                  <a:srgbClr val="00B050"/>
                </a:solidFill>
              </a:rPr>
              <a:t>p</a:t>
            </a:r>
            <a:r>
              <a:rPr lang="en-US" sz="1400" dirty="0">
                <a:solidFill>
                  <a:schemeClr val="tx2"/>
                </a:solidFill>
              </a:rPr>
              <a:t> OR </a:t>
            </a:r>
            <a:r>
              <a:rPr lang="en-US" sz="1400" dirty="0">
                <a:solidFill>
                  <a:srgbClr val="FF0000"/>
                </a:solidFill>
              </a:rPr>
              <a:t>y</a:t>
            </a:r>
            <a:r>
              <a:rPr lang="en-US" sz="1400" dirty="0">
                <a:solidFill>
                  <a:schemeClr val="tx2"/>
                </a:solidFill>
              </a:rPr>
              <a:t>) AND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B050"/>
                </a:solidFill>
              </a:rPr>
              <a:t>(¬p OR ¬y) </a:t>
            </a:r>
            <a:r>
              <a:rPr lang="en-US" sz="1400" dirty="0">
                <a:solidFill>
                  <a:srgbClr val="303030"/>
                </a:solidFill>
              </a:rPr>
              <a:t>AND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FF0000"/>
                </a:solidFill>
              </a:rPr>
              <a:t>¬</a:t>
            </a:r>
            <a:r>
              <a:rPr lang="en-US" sz="1400" dirty="0">
                <a:solidFill>
                  <a:srgbClr val="303030"/>
                </a:solidFill>
              </a:rPr>
              <a:t>(</a:t>
            </a:r>
            <a:r>
              <a:rPr lang="en-US" sz="1400" dirty="0">
                <a:solidFill>
                  <a:srgbClr val="00B050"/>
                </a:solidFill>
              </a:rPr>
              <a:t>p</a:t>
            </a:r>
            <a:r>
              <a:rPr lang="en-US" sz="1400" dirty="0">
                <a:solidFill>
                  <a:srgbClr val="303030"/>
                </a:solidFill>
              </a:rPr>
              <a:t> AND </a:t>
            </a:r>
            <a:r>
              <a:rPr lang="en-US" sz="1400" dirty="0">
                <a:solidFill>
                  <a:srgbClr val="00B050"/>
                </a:solidFill>
              </a:rPr>
              <a:t>q</a:t>
            </a:r>
            <a:r>
              <a:rPr lang="en-US" sz="1400" dirty="0">
                <a:solidFill>
                  <a:srgbClr val="303030"/>
                </a:solidFill>
              </a:rPr>
              <a:t> AND </a:t>
            </a:r>
            <a:r>
              <a:rPr lang="en-US" sz="1400" dirty="0">
                <a:solidFill>
                  <a:srgbClr val="00B050"/>
                </a:solidFill>
              </a:rPr>
              <a:t>¬y</a:t>
            </a:r>
            <a:r>
              <a:rPr lang="en-US" sz="1400" dirty="0">
                <a:solidFill>
                  <a:srgbClr val="303030"/>
                </a:solidFill>
              </a:rPr>
              <a:t>) </a:t>
            </a:r>
            <a:endParaRPr lang="en-US" sz="1400" i="1" dirty="0">
              <a:solidFill>
                <a:srgbClr val="00B05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D81F314-837B-4957-9AD5-49C2EA6EE4E6}"/>
              </a:ext>
            </a:extLst>
          </p:cNvPr>
          <p:cNvSpPr txBox="1"/>
          <p:nvPr/>
        </p:nvSpPr>
        <p:spPr>
          <a:xfrm>
            <a:off x="6326576" y="5223304"/>
            <a:ext cx="1909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F2F"/>
                </a:solidFill>
              </a:rPr>
              <a:t>No solution found</a:t>
            </a:r>
            <a:endParaRPr lang="en-US" sz="1400" dirty="0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244118FD-B775-4E2A-8D30-A64FAD323657}"/>
              </a:ext>
            </a:extLst>
          </p:cNvPr>
          <p:cNvSpPr/>
          <p:nvPr/>
        </p:nvSpPr>
        <p:spPr>
          <a:xfrm>
            <a:off x="8321517" y="5314351"/>
            <a:ext cx="260059" cy="182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6FA9F1-6E33-48D3-B7F2-A80958917A09}"/>
              </a:ext>
            </a:extLst>
          </p:cNvPr>
          <p:cNvSpPr txBox="1"/>
          <p:nvPr/>
        </p:nvSpPr>
        <p:spPr>
          <a:xfrm>
            <a:off x="9576593" y="5506213"/>
            <a:ext cx="10965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Not possible</a:t>
            </a:r>
          </a:p>
        </p:txBody>
      </p:sp>
    </p:spTree>
    <p:extLst>
      <p:ext uri="{BB962C8B-B14F-4D97-AF65-F5344CB8AC3E}">
        <p14:creationId xmlns:p14="http://schemas.microsoft.com/office/powerpoint/2010/main" val="100200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 animBg="1"/>
      <p:bldP spid="49" grpId="0" animBg="1"/>
      <p:bldP spid="49" grpId="1" animBg="1"/>
      <p:bldP spid="50" grpId="0"/>
      <p:bldP spid="50" grpId="1"/>
      <p:bldP spid="51" grpId="0" animBg="1"/>
      <p:bldP spid="51" grpId="1" animBg="1"/>
      <p:bldP spid="52" grpId="0"/>
      <p:bldP spid="53" grpId="0"/>
      <p:bldP spid="53" grpId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/>
      <p:bldP spid="63" grpId="0" animBg="1"/>
      <p:bldP spid="64" grpId="0" animBg="1"/>
      <p:bldP spid="65" grpId="0" animBg="1"/>
      <p:bldP spid="66" grpId="0" animBg="1"/>
      <p:bldP spid="70" grpId="0"/>
      <p:bldP spid="71" grpId="0"/>
      <p:bldP spid="72" grpId="0"/>
      <p:bldP spid="74" grpId="0" animBg="1"/>
      <p:bldP spid="74" grpId="1" animBg="1"/>
      <p:bldP spid="75" grpId="0"/>
      <p:bldP spid="75" grpId="1"/>
      <p:bldP spid="77" grpId="0"/>
      <p:bldP spid="79" grpId="0" animBg="1"/>
      <p:bldP spid="80" grpId="0"/>
      <p:bldP spid="81" grpId="0" animBg="1"/>
      <p:bldP spid="82" grpId="0" animBg="1"/>
      <p:bldP spid="83" grpId="0"/>
      <p:bldP spid="85" grpId="0" animBg="1"/>
      <p:bldP spid="86" grpId="0"/>
      <p:bldP spid="90" grpId="0"/>
      <p:bldP spid="91" grpId="0"/>
      <p:bldP spid="91" grpId="1"/>
      <p:bldP spid="93" grpId="0"/>
      <p:bldP spid="94" grpId="0" animBg="1"/>
      <p:bldP spid="95" grpId="0"/>
      <p:bldP spid="96" grpId="0"/>
      <p:bldP spid="97" grpId="0"/>
      <p:bldP spid="98" grpId="0"/>
      <p:bldP spid="99" grpId="0" animBg="1"/>
      <p:bldP spid="100" grpId="0"/>
      <p:bldP spid="10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933E33-BD42-4725-B80F-6C9DFA4F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73593"/>
            <a:ext cx="11376024" cy="1065742"/>
          </a:xfrm>
        </p:spPr>
        <p:txBody>
          <a:bodyPr anchor="t">
            <a:normAutofit/>
          </a:bodyPr>
          <a:lstStyle/>
          <a:p>
            <a:r>
              <a:rPr lang="en-US" dirty="0"/>
              <a:t>Model checking – Example (BDD-based)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ED84-4B43-4FF1-B6B4-43568F757F9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85228" y="6378349"/>
            <a:ext cx="6311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20/11/2021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BBD-3221-46BC-886E-B72081432D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59262" y="6383848"/>
            <a:ext cx="657222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Ignacio D. Lopez-Miguel | </a:t>
            </a:r>
            <a:r>
              <a:rPr lang="en-GB" dirty="0"/>
              <a:t>Simplification of numeric variables for PLC model checking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3815-AC31-4572-B756-FD27AAFFE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7546" y="6383848"/>
            <a:ext cx="68125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6B5EA5A-BC32-A742-B11B-8E7414D5B535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50B63F-E6BF-40DB-B75B-9D016C69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626" y="1088328"/>
            <a:ext cx="1966877" cy="1601312"/>
          </a:xfrm>
        </p:spPr>
        <p:txBody>
          <a:bodyPr vert="horz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100" dirty="0"/>
              <a:t>x = </a:t>
            </a:r>
            <a:r>
              <a:rPr lang="en-US" sz="1100" dirty="0" err="1"/>
              <a:t>BoolNonDeterministic</a:t>
            </a:r>
            <a:r>
              <a:rPr lang="en-US" sz="1100" dirty="0"/>
              <a:t>()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if x=True then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   y := False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else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   y := True</a:t>
            </a:r>
          </a:p>
          <a:p>
            <a:pPr>
              <a:spcBef>
                <a:spcPts val="600"/>
              </a:spcBef>
            </a:pPr>
            <a:r>
              <a:rPr lang="en-US" sz="1100" dirty="0"/>
              <a:t>Assert: y=True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A9692B-C69A-4B94-B3E8-F8349028367B}"/>
              </a:ext>
            </a:extLst>
          </p:cNvPr>
          <p:cNvSpPr/>
          <p:nvPr/>
        </p:nvSpPr>
        <p:spPr>
          <a:xfrm>
            <a:off x="1397230" y="4189477"/>
            <a:ext cx="958308" cy="48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end=False</a:t>
            </a:r>
          </a:p>
          <a:p>
            <a:pPr algn="ctr"/>
            <a:r>
              <a:rPr lang="en-US" sz="800"/>
              <a:t>x=False</a:t>
            </a:r>
          </a:p>
          <a:p>
            <a:pPr algn="ctr"/>
            <a:r>
              <a:rPr lang="en-US" sz="800"/>
              <a:t>y=False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248155-7614-478D-BED2-CF8D981B3042}"/>
              </a:ext>
            </a:extLst>
          </p:cNvPr>
          <p:cNvSpPr/>
          <p:nvPr/>
        </p:nvSpPr>
        <p:spPr>
          <a:xfrm>
            <a:off x="767631" y="4996635"/>
            <a:ext cx="958308" cy="48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end=True</a:t>
            </a:r>
          </a:p>
          <a:p>
            <a:pPr algn="ctr"/>
            <a:r>
              <a:rPr lang="en-US" sz="800"/>
              <a:t>x=True</a:t>
            </a:r>
          </a:p>
          <a:p>
            <a:pPr algn="ctr"/>
            <a:r>
              <a:rPr lang="en-US" sz="800"/>
              <a:t>y=False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958032-E02E-4604-B3F6-705A35543072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flipH="1">
            <a:off x="1246785" y="4672414"/>
            <a:ext cx="629599" cy="324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70F67FC-F046-41F5-83B9-365ED41EEFD6}"/>
              </a:ext>
            </a:extLst>
          </p:cNvPr>
          <p:cNvSpPr/>
          <p:nvPr/>
        </p:nvSpPr>
        <p:spPr>
          <a:xfrm>
            <a:off x="2010117" y="4963793"/>
            <a:ext cx="958308" cy="48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end=True</a:t>
            </a:r>
          </a:p>
          <a:p>
            <a:pPr algn="ctr"/>
            <a:r>
              <a:rPr lang="en-US" sz="800"/>
              <a:t>x=False</a:t>
            </a:r>
          </a:p>
          <a:p>
            <a:pPr algn="ctr"/>
            <a:r>
              <a:rPr lang="en-US" sz="800"/>
              <a:t>y=True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28B1F1-A034-40DD-ABDF-F679886577E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532130" y="3892867"/>
            <a:ext cx="344254" cy="29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46D7E8-1F8D-4FE0-84E7-6C02E02CC34B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1876384" y="4672414"/>
            <a:ext cx="612887" cy="291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828BACE-2289-4E4F-8049-8C4E2BD7205B}"/>
              </a:ext>
            </a:extLst>
          </p:cNvPr>
          <p:cNvSpPr txBox="1">
            <a:spLocks/>
          </p:cNvSpPr>
          <p:nvPr/>
        </p:nvSpPr>
        <p:spPr>
          <a:xfrm>
            <a:off x="3974433" y="4220917"/>
            <a:ext cx="4767510" cy="10736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(((¬end AND ¬x AND ¬y) AND (end’ AND x’ AND ¬y’)) 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OR ((¬end AND ¬x AND ¬y) AND (end’ AND ¬x’ AND y’)))</a:t>
            </a:r>
          </a:p>
          <a:p>
            <a:pPr marL="0" indent="0">
              <a:buNone/>
            </a:pPr>
            <a:endParaRPr lang="en-US" sz="1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AND (end’ </a:t>
            </a:r>
            <a:r>
              <a:rPr lang="en-US" sz="1400" dirty="0">
                <a:solidFill>
                  <a:schemeClr val="tx2"/>
                </a:solidFill>
                <a:sym typeface="Wingdings" panose="05000000000000000000" pitchFamily="2" charset="2"/>
              </a:rPr>
              <a:t>AND</a:t>
            </a:r>
            <a:r>
              <a:rPr lang="en-US" sz="1400" dirty="0">
                <a:solidFill>
                  <a:schemeClr val="tx2"/>
                </a:solidFill>
              </a:rPr>
              <a:t> ¬y’)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3E9D7C-1726-40A7-A050-DE134F52294B}"/>
              </a:ext>
            </a:extLst>
          </p:cNvPr>
          <p:cNvSpPr txBox="1"/>
          <p:nvPr/>
        </p:nvSpPr>
        <p:spPr>
          <a:xfrm>
            <a:off x="10424271" y="5551059"/>
            <a:ext cx="681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False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3E038F-0A2D-4A7F-9DEF-A63BFB48546C}"/>
              </a:ext>
            </a:extLst>
          </p:cNvPr>
          <p:cNvSpPr txBox="1"/>
          <p:nvPr/>
        </p:nvSpPr>
        <p:spPr>
          <a:xfrm>
            <a:off x="9395397" y="5558914"/>
            <a:ext cx="5953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A291C5-DA23-4E39-8059-F626A550CAF8}"/>
              </a:ext>
            </a:extLst>
          </p:cNvPr>
          <p:cNvSpPr/>
          <p:nvPr/>
        </p:nvSpPr>
        <p:spPr>
          <a:xfrm>
            <a:off x="10764898" y="3652266"/>
            <a:ext cx="486434" cy="166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/>
              <a:t>end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4BC23D5-3C91-4D16-892D-7903FED5B035}"/>
              </a:ext>
            </a:extLst>
          </p:cNvPr>
          <p:cNvSpPr/>
          <p:nvPr/>
        </p:nvSpPr>
        <p:spPr>
          <a:xfrm>
            <a:off x="10528695" y="3884280"/>
            <a:ext cx="398349" cy="1785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x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B55E49-E6EC-4182-BC8B-44AFBD7D72C8}"/>
              </a:ext>
            </a:extLst>
          </p:cNvPr>
          <p:cNvSpPr/>
          <p:nvPr/>
        </p:nvSpPr>
        <p:spPr>
          <a:xfrm>
            <a:off x="10292490" y="4197962"/>
            <a:ext cx="398349" cy="1785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3B5E10-826F-4FAF-A6AC-41C070F091C6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 flipH="1">
            <a:off x="10727870" y="3818836"/>
            <a:ext cx="280245" cy="6544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E3F3A9-0EE9-457B-80AD-78DE0A5C1C8A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10491665" y="4062846"/>
            <a:ext cx="236205" cy="13511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305630F-F157-44A5-987C-9D4914191113}"/>
              </a:ext>
            </a:extLst>
          </p:cNvPr>
          <p:cNvSpPr/>
          <p:nvPr/>
        </p:nvSpPr>
        <p:spPr>
          <a:xfrm>
            <a:off x="9960339" y="4511644"/>
            <a:ext cx="494295" cy="1713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/>
              <a:t>end'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6A4C5E-9D1A-4DF7-AEBB-B49A828F4AD1}"/>
              </a:ext>
            </a:extLst>
          </p:cNvPr>
          <p:cNvSpPr/>
          <p:nvPr/>
        </p:nvSpPr>
        <p:spPr>
          <a:xfrm>
            <a:off x="9487929" y="5131750"/>
            <a:ext cx="398349" cy="1785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x'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A78537-604C-4B42-A924-117DA853ADA1}"/>
              </a:ext>
            </a:extLst>
          </p:cNvPr>
          <p:cNvCxnSpPr>
            <a:cxnSpLocks/>
            <a:stCxn id="25" idx="4"/>
            <a:endCxn id="18" idx="0"/>
          </p:cNvCxnSpPr>
          <p:nvPr/>
        </p:nvCxnSpPr>
        <p:spPr>
          <a:xfrm>
            <a:off x="9687104" y="5310316"/>
            <a:ext cx="5986" cy="248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F44692-5D65-4624-A9C0-8595E94BC06B}"/>
              </a:ext>
            </a:extLst>
          </p:cNvPr>
          <p:cNvCxnSpPr>
            <a:cxnSpLocks/>
            <a:stCxn id="32" idx="4"/>
            <a:endCxn id="25" idx="0"/>
          </p:cNvCxnSpPr>
          <p:nvPr/>
        </p:nvCxnSpPr>
        <p:spPr>
          <a:xfrm flipH="1">
            <a:off x="9687104" y="4996635"/>
            <a:ext cx="236205" cy="135115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99C16E-637A-40CE-A543-7AC51B74E391}"/>
              </a:ext>
            </a:extLst>
          </p:cNvPr>
          <p:cNvCxnSpPr>
            <a:cxnSpLocks/>
            <a:stCxn id="21" idx="4"/>
            <a:endCxn id="24" idx="0"/>
          </p:cNvCxnSpPr>
          <p:nvPr/>
        </p:nvCxnSpPr>
        <p:spPr>
          <a:xfrm flipH="1">
            <a:off x="10207487" y="4376528"/>
            <a:ext cx="284178" cy="13511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8998D6-8EF8-458A-A84C-FAE5BF3718AD}"/>
              </a:ext>
            </a:extLst>
          </p:cNvPr>
          <p:cNvCxnSpPr>
            <a:cxnSpLocks/>
            <a:stCxn id="25" idx="4"/>
            <a:endCxn id="17" idx="0"/>
          </p:cNvCxnSpPr>
          <p:nvPr/>
        </p:nvCxnSpPr>
        <p:spPr>
          <a:xfrm>
            <a:off x="9687104" y="5310316"/>
            <a:ext cx="1077794" cy="240743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B50FAC-06A3-47C4-A65E-3B474EFCC776}"/>
              </a:ext>
            </a:extLst>
          </p:cNvPr>
          <p:cNvCxnSpPr>
            <a:cxnSpLocks/>
            <a:stCxn id="32" idx="4"/>
            <a:endCxn id="17" idx="0"/>
          </p:cNvCxnSpPr>
          <p:nvPr/>
        </p:nvCxnSpPr>
        <p:spPr>
          <a:xfrm>
            <a:off x="9923309" y="4996635"/>
            <a:ext cx="841589" cy="55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8E3ACC3-46ED-45A0-B762-6AD34320CD7D}"/>
              </a:ext>
            </a:extLst>
          </p:cNvPr>
          <p:cNvCxnSpPr>
            <a:cxnSpLocks/>
            <a:stCxn id="24" idx="4"/>
            <a:endCxn id="32" idx="0"/>
          </p:cNvCxnSpPr>
          <p:nvPr/>
        </p:nvCxnSpPr>
        <p:spPr>
          <a:xfrm flipH="1">
            <a:off x="9923309" y="4682953"/>
            <a:ext cx="284178" cy="135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5CAED90-ACFE-4388-9788-7FB4AAB62F9F}"/>
              </a:ext>
            </a:extLst>
          </p:cNvPr>
          <p:cNvSpPr/>
          <p:nvPr/>
        </p:nvSpPr>
        <p:spPr>
          <a:xfrm>
            <a:off x="9724134" y="4818069"/>
            <a:ext cx="398349" cy="1785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y’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2605F4-9869-47AC-859A-0F45EE36EC0B}"/>
              </a:ext>
            </a:extLst>
          </p:cNvPr>
          <p:cNvCxnSpPr>
            <a:cxnSpLocks/>
            <a:stCxn id="19" idx="4"/>
            <a:endCxn id="17" idx="0"/>
          </p:cNvCxnSpPr>
          <p:nvPr/>
        </p:nvCxnSpPr>
        <p:spPr>
          <a:xfrm flipH="1">
            <a:off x="10764898" y="3818836"/>
            <a:ext cx="243217" cy="173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065AD3-8B5E-416D-B1D2-13DED2A3CD39}"/>
              </a:ext>
            </a:extLst>
          </p:cNvPr>
          <p:cNvCxnSpPr>
            <a:cxnSpLocks/>
            <a:stCxn id="20" idx="4"/>
            <a:endCxn id="17" idx="0"/>
          </p:cNvCxnSpPr>
          <p:nvPr/>
        </p:nvCxnSpPr>
        <p:spPr>
          <a:xfrm>
            <a:off x="10727870" y="4062846"/>
            <a:ext cx="37028" cy="1488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2E2A1E-B9A7-4542-853E-A576FB272BBA}"/>
              </a:ext>
            </a:extLst>
          </p:cNvPr>
          <p:cNvCxnSpPr>
            <a:cxnSpLocks/>
            <a:stCxn id="21" idx="4"/>
            <a:endCxn id="17" idx="0"/>
          </p:cNvCxnSpPr>
          <p:nvPr/>
        </p:nvCxnSpPr>
        <p:spPr>
          <a:xfrm>
            <a:off x="10491665" y="4376528"/>
            <a:ext cx="273233" cy="1174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F8AC1B6-F342-426F-BCF9-223E2AAAB8DB}"/>
              </a:ext>
            </a:extLst>
          </p:cNvPr>
          <p:cNvCxnSpPr>
            <a:cxnSpLocks/>
            <a:stCxn id="24" idx="4"/>
            <a:endCxn id="17" idx="0"/>
          </p:cNvCxnSpPr>
          <p:nvPr/>
        </p:nvCxnSpPr>
        <p:spPr>
          <a:xfrm>
            <a:off x="10207487" y="4682953"/>
            <a:ext cx="557411" cy="868106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276865E9-3C42-4D70-BE88-AB6D0A4E4E6F}"/>
              </a:ext>
            </a:extLst>
          </p:cNvPr>
          <p:cNvSpPr/>
          <p:nvPr/>
        </p:nvSpPr>
        <p:spPr>
          <a:xfrm rot="5400000">
            <a:off x="9641210" y="3002518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F6F9FF-D76A-4583-8FEA-2189089B851C}"/>
              </a:ext>
            </a:extLst>
          </p:cNvPr>
          <p:cNvSpPr/>
          <p:nvPr/>
        </p:nvSpPr>
        <p:spPr>
          <a:xfrm rot="5400000">
            <a:off x="5948644" y="-2362516"/>
            <a:ext cx="76871" cy="10395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D3DEFE79-5D60-4BF9-BAB3-4B21B5A6B612}"/>
              </a:ext>
            </a:extLst>
          </p:cNvPr>
          <p:cNvSpPr/>
          <p:nvPr/>
        </p:nvSpPr>
        <p:spPr>
          <a:xfrm rot="5400000">
            <a:off x="5241405" y="3002047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085F157-A385-4491-BA35-9366F304B5ED}"/>
              </a:ext>
            </a:extLst>
          </p:cNvPr>
          <p:cNvSpPr/>
          <p:nvPr/>
        </p:nvSpPr>
        <p:spPr>
          <a:xfrm rot="5400000">
            <a:off x="1761370" y="3003646"/>
            <a:ext cx="743321" cy="48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0FD486-9D4D-49AD-B61E-FB8181E16F80}"/>
              </a:ext>
            </a:extLst>
          </p:cNvPr>
          <p:cNvSpPr txBox="1"/>
          <p:nvPr/>
        </p:nvSpPr>
        <p:spPr>
          <a:xfrm>
            <a:off x="123294" y="2923967"/>
            <a:ext cx="205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1. Transition 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A34181-1B2B-481F-9824-F50A5B62E94D}"/>
              </a:ext>
            </a:extLst>
          </p:cNvPr>
          <p:cNvSpPr txBox="1"/>
          <p:nvPr/>
        </p:nvSpPr>
        <p:spPr>
          <a:xfrm>
            <a:off x="3661819" y="2934469"/>
            <a:ext cx="2056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2. Formula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1D8E2-13CA-4EC0-879A-FB4E4C60F9F4}"/>
              </a:ext>
            </a:extLst>
          </p:cNvPr>
          <p:cNvSpPr txBox="1"/>
          <p:nvPr/>
        </p:nvSpPr>
        <p:spPr>
          <a:xfrm>
            <a:off x="7440246" y="2902312"/>
            <a:ext cx="2056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3. BDD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67C555-FFEC-4B54-A1FE-E9FC02231C66}"/>
              </a:ext>
            </a:extLst>
          </p:cNvPr>
          <p:cNvSpPr txBox="1"/>
          <p:nvPr/>
        </p:nvSpPr>
        <p:spPr>
          <a:xfrm>
            <a:off x="7093167" y="3206881"/>
            <a:ext cx="2750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Binary Decision Diagram</a:t>
            </a:r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0BB110D0-AC07-46B6-AC3B-4898502D7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702" y="1038383"/>
            <a:ext cx="1219196" cy="75561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7811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6" grpId="0"/>
      <p:bldP spid="17" grpId="0"/>
      <p:bldP spid="18" grpId="0"/>
      <p:bldP spid="19" grpId="0" animBg="1"/>
      <p:bldP spid="20" grpId="0" animBg="1"/>
      <p:bldP spid="21" grpId="0" animBg="1"/>
      <p:bldP spid="24" grpId="0" animBg="1"/>
      <p:bldP spid="25" grpId="0" animBg="1"/>
      <p:bldP spid="32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CERN">
      <a:dk1>
        <a:srgbClr val="0033A0"/>
      </a:dk1>
      <a:lt1>
        <a:srgbClr val="FFFFFF"/>
      </a:lt1>
      <a:dk2>
        <a:srgbClr val="2F2F2F"/>
      </a:dk2>
      <a:lt2>
        <a:srgbClr val="F8F8F8"/>
      </a:lt2>
      <a:accent1>
        <a:srgbClr val="0033A0"/>
      </a:accent1>
      <a:accent2>
        <a:srgbClr val="61C4D3"/>
      </a:accent2>
      <a:accent3>
        <a:srgbClr val="E15E32"/>
      </a:accent3>
      <a:accent4>
        <a:srgbClr val="BEBECB"/>
      </a:accent4>
      <a:accent5>
        <a:srgbClr val="6E2466"/>
      </a:accent5>
      <a:accent6>
        <a:srgbClr val="1C446A"/>
      </a:accent6>
      <a:hlink>
        <a:srgbClr val="6D2466"/>
      </a:hlink>
      <a:folHlink>
        <a:srgbClr val="61C4D3"/>
      </a:folHlink>
    </a:clrScheme>
    <a:fontScheme name="CER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ERN Cobranding 16x9_PPT_Arial" id="{69E3F326-202C-5348-BF51-285B308BAEA0}" vid="{0C1FF187-A39B-EC4E-BD0A-5FA14DA688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CERN Cobranding 16x9_PPT_Arial</Template>
  <TotalTime>0</TotalTime>
  <Words>2073</Words>
  <Application>Microsoft Office PowerPoint</Application>
  <PresentationFormat>Widescreen</PresentationFormat>
  <Paragraphs>539</Paragraphs>
  <Slides>19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Consolas</vt:lpstr>
      <vt:lpstr>Wingdings</vt:lpstr>
      <vt:lpstr>Office Theme</vt:lpstr>
      <vt:lpstr>Simplification of numeric variables for PLC model checking</vt:lpstr>
      <vt:lpstr>Context – European Organization for Nuclear Research (CERN)  </vt:lpstr>
      <vt:lpstr>Context – Safety-critical industrial applications </vt:lpstr>
      <vt:lpstr>Context – Model Checking for PLCs</vt:lpstr>
      <vt:lpstr>Model Checking for PLCs – Standard workflow</vt:lpstr>
      <vt:lpstr>Model checking challenges – Variable simplification</vt:lpstr>
      <vt:lpstr>Variable simplification – State of the art</vt:lpstr>
      <vt:lpstr>Variable simplification – Contribution</vt:lpstr>
      <vt:lpstr>Variable simplification – Conditional pattern example</vt:lpstr>
      <vt:lpstr>Variable simplification – Assignment pattern example</vt:lpstr>
      <vt:lpstr>Variable simplification – Experiments</vt:lpstr>
      <vt:lpstr>Conclusions – Results</vt:lpstr>
      <vt:lpstr>Conclusions – Future work</vt:lpstr>
      <vt:lpstr>PowerPoint Presentation</vt:lpstr>
      <vt:lpstr>Index</vt:lpstr>
      <vt:lpstr>Model Checking for PLCs - PLCverif</vt:lpstr>
      <vt:lpstr>Model checking – Example (SAT-based)</vt:lpstr>
      <vt:lpstr>Model checking – Example (SMT-based)</vt:lpstr>
      <vt:lpstr>Model checking – Example (BDD-based)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Simplification of numeric variables for PLC model checking</dc:title>
  <dc:creator>Ignacio David Lopez Miguel</dc:creator>
  <cp:lastModifiedBy>Ignacio D. Lopez</cp:lastModifiedBy>
  <cp:revision>70</cp:revision>
  <cp:lastPrinted>2020-01-30T13:49:18Z</cp:lastPrinted>
  <dcterms:created xsi:type="dcterms:W3CDTF">2021-09-16T08:36:21Z</dcterms:created>
  <dcterms:modified xsi:type="dcterms:W3CDTF">2021-11-20T14:36:07Z</dcterms:modified>
</cp:coreProperties>
</file>